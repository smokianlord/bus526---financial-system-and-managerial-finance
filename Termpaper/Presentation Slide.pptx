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Margin %</c:v>
                </c:pt>
              </c:strCache>
            </c:strRef>
          </c:tx>
          <c:spPr>
            <a:solidFill>
              <a:srgbClr val="0D7377"/>
            </a:solidFill>
            <a:ln w="25400" cap="flat">
              <a:solidFill>
                <a:srgbClr val="0D73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15.15</c:v>
                </c:pt>
                <c:pt idx="1">
                  <c:v>10.95</c:v>
                </c:pt>
                <c:pt idx="2">
                  <c:v>-7.11</c:v>
                </c:pt>
                <c:pt idx="3">
                  <c:v>16.36</c:v>
                </c:pt>
                <c:pt idx="4">
                  <c:v>12.81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Margin %</c:v>
                </c:pt>
              </c:strCache>
            </c:strRef>
          </c:tx>
          <c:spPr>
            <a:solidFill>
              <a:srgbClr val="1A2E4A"/>
            </a:solidFill>
            <a:ln w="25400" cap="flat">
              <a:solidFill>
                <a:srgbClr val="1A2E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2E4A"/>
              </a:solidFill>
              <a:ln w="9525" cap="flat">
                <a:solidFill>
                  <a:srgbClr val="1A2E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8.41</c:v>
                </c:pt>
                <c:pt idx="1">
                  <c:v>5.98</c:v>
                </c:pt>
                <c:pt idx="2">
                  <c:v>-12.99</c:v>
                </c:pt>
                <c:pt idx="3">
                  <c:v>5.7</c:v>
                </c:pt>
                <c:pt idx="4">
                  <c:v>5.03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ROE %</c:v>
                </c:pt>
              </c:strCache>
            </c:strRef>
          </c:tx>
          <c:spPr>
            <a:solidFill>
              <a:srgbClr val="D4A017"/>
            </a:solidFill>
            <a:ln w="25400" cap="flat">
              <a:solidFill>
                <a:srgbClr val="D4A01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4.89</c:v>
                </c:pt>
                <c:pt idx="1">
                  <c:v>4.72</c:v>
                </c:pt>
                <c:pt idx="2">
                  <c:v>-10.4</c:v>
                </c:pt>
                <c:pt idx="3">
                  <c:v>4.71</c:v>
                </c:pt>
                <c:pt idx="4">
                  <c:v>5.02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Collection Period (days)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153.2</c:v>
                </c:pt>
                <c:pt idx="1">
                  <c:v>119.3</c:v>
                </c:pt>
                <c:pt idx="2">
                  <c:v>110.2</c:v>
                </c:pt>
                <c:pt idx="3">
                  <c:v>106</c:v>
                </c:pt>
                <c:pt idx="4">
                  <c:v>80.9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Payment Period (days)</c:v>
                </c:pt>
              </c:strCache>
            </c:strRef>
          </c:tx>
          <c:spPr>
            <a:solidFill>
              <a:srgbClr val="1A2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241.9</c:v>
                </c:pt>
                <c:pt idx="1">
                  <c:v>171.5</c:v>
                </c:pt>
                <c:pt idx="2">
                  <c:v>113.8</c:v>
                </c:pt>
                <c:pt idx="3">
                  <c:v>251.6</c:v>
                </c:pt>
                <c:pt idx="4">
                  <c:v>167.8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Debt-to-Asset Ratio %</c:v>
                </c:pt>
              </c:strCache>
            </c:strRef>
          </c:tx>
          <c:spPr>
            <a:solidFill>
              <a:srgbClr val="C0392B"/>
            </a:solidFill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34.57</c:v>
                </c:pt>
                <c:pt idx="1">
                  <c:v>35.11</c:v>
                </c:pt>
                <c:pt idx="2">
                  <c:v>43.71</c:v>
                </c:pt>
                <c:pt idx="3">
                  <c:v>52.57</c:v>
                </c:pt>
                <c:pt idx="4">
                  <c:v>48.47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 (x) ×10</c:v>
                </c:pt>
              </c:strCache>
            </c:strRef>
          </c:tx>
          <c:spPr>
            <a:solidFill>
              <a:srgbClr val="0D7377"/>
            </a:solidFill>
            <a:ln w="25400" cap="flat">
              <a:solidFill>
                <a:srgbClr val="0D73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72.8</c:v>
                </c:pt>
                <c:pt idx="1">
                  <c:v>18.1</c:v>
                </c:pt>
                <c:pt idx="2">
                  <c:v>0.4</c:v>
                </c:pt>
                <c:pt idx="3">
                  <c:v>20.8</c:v>
                </c:pt>
                <c:pt idx="4">
                  <c:v>21.6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Profit Margin %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8.41</c:v>
                </c:pt>
                <c:pt idx="1">
                  <c:v>5.98</c:v>
                </c:pt>
                <c:pt idx="2">
                  <c:v>-12.99</c:v>
                </c:pt>
                <c:pt idx="3">
                  <c:v>5.7</c:v>
                </c:pt>
                <c:pt idx="4">
                  <c:v>5.03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Asset Turnover ×10</c:v>
                </c:pt>
              </c:strCache>
            </c:strRef>
          </c:tx>
          <c:spPr>
            <a:solidFill>
              <a:srgbClr val="14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3.8</c:v>
                </c:pt>
                <c:pt idx="1">
                  <c:v>5.1</c:v>
                </c:pt>
                <c:pt idx="2">
                  <c:v>4.9</c:v>
                </c:pt>
                <c:pt idx="3">
                  <c:v>3.9</c:v>
                </c:pt>
                <c:pt idx="4">
                  <c:v>5.1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Equity Multiplier</c:v>
                </c:pt>
              </c:strCache>
            </c:strRef>
          </c:tx>
          <c:spPr>
            <a:solidFill>
              <a:srgbClr val="1A2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1.53</c:v>
                </c:pt>
                <c:pt idx="1">
                  <c:v>1.54</c:v>
                </c:pt>
                <c:pt idx="2">
                  <c:v>1.78</c:v>
                </c:pt>
                <c:pt idx="3">
                  <c:v>2.11</c:v>
                </c:pt>
                <c:pt idx="4">
                  <c:v>1.94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Malek Spinning (MSM)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GPM %</c:v>
                  </c:pt>
                  <c:pt idx="1">
                    <c:v>NPM %</c:v>
                  </c:pt>
                  <c:pt idx="2">
                    <c:v>ROA %</c:v>
                  </c:pt>
                  <c:pt idx="3">
                    <c:v>ROE %</c:v>
                  </c:pt>
                  <c:pt idx="4">
                    <c:v>Inv TO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12.81</c:v>
                </c:pt>
                <c:pt idx="1">
                  <c:v>5.03</c:v>
                </c:pt>
                <c:pt idx="2">
                  <c:v>2.55</c:v>
                </c:pt>
                <c:pt idx="3">
                  <c:v>4.95</c:v>
                </c:pt>
                <c:pt idx="4">
                  <c:v>1.29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Matin Spinning</c:v>
                </c:pt>
              </c:strCache>
            </c:strRef>
          </c:tx>
          <c:spPr>
            <a:solidFill>
              <a:srgbClr val="1A2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GPM %</c:v>
                  </c:pt>
                  <c:pt idx="1">
                    <c:v>NPM %</c:v>
                  </c:pt>
                  <c:pt idx="2">
                    <c:v>ROA %</c:v>
                  </c:pt>
                  <c:pt idx="3">
                    <c:v>ROE %</c:v>
                  </c:pt>
                  <c:pt idx="4">
                    <c:v>Inv TO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14.99</c:v>
                </c:pt>
                <c:pt idx="1">
                  <c:v>5.23</c:v>
                </c:pt>
                <c:pt idx="2">
                  <c:v>3.3</c:v>
                </c:pt>
                <c:pt idx="3">
                  <c:v>6.72</c:v>
                </c:pt>
                <c:pt idx="4">
                  <c:v>2.87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FCF (BDT mn)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236</c:v>
                </c:pt>
                <c:pt idx="1">
                  <c:v>252.5</c:v>
                </c:pt>
                <c:pt idx="2">
                  <c:v>267.7</c:v>
                </c:pt>
                <c:pt idx="3">
                  <c:v>281</c:v>
                </c:pt>
                <c:pt idx="4">
                  <c:v>295.1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PV of FCF (BDT mn)</c:v>
                </c:pt>
              </c:strCache>
            </c:strRef>
          </c:tx>
          <c:spPr>
            <a:solidFill>
              <a:srgbClr val="14A0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E4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210.7</c:v>
                </c:pt>
                <c:pt idx="1">
                  <c:v>201.3</c:v>
                </c:pt>
                <c:pt idx="2">
                  <c:v>190.5</c:v>
                </c:pt>
                <c:pt idx="3">
                  <c:v>178.6</c:v>
                </c:pt>
                <c:pt idx="4">
                  <c:v>167.4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E4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1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MALEK SPINNING MILLS PLC.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Comparative Analysis against Matin Spinning Mills PLC.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5486400" cy="36576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7860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526: Financial Systems &amp; Managerial Finance  ·  BRAC University MBA  ·  Spring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298448" cy="502920"/>
          </a:xfrm>
          <a:prstGeom prst="rect">
            <a:avLst/>
          </a:prstGeom>
          <a:solidFill>
            <a:srgbClr val="1E3D5A"/>
          </a:solidFill>
          <a:ln w="9525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Member 1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75688" y="3063240"/>
            <a:ext cx="1298448" cy="502920"/>
          </a:xfrm>
          <a:prstGeom prst="rect">
            <a:avLst/>
          </a:prstGeom>
          <a:solidFill>
            <a:srgbClr val="1E3D5A"/>
          </a:solidFill>
          <a:ln w="9525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3063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Member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11296" y="3063240"/>
            <a:ext cx="1298448" cy="502920"/>
          </a:xfrm>
          <a:prstGeom prst="rect">
            <a:avLst/>
          </a:prstGeom>
          <a:solidFill>
            <a:srgbClr val="1E3D5A"/>
          </a:solidFill>
          <a:ln w="9525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11296" y="3063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Member 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46904" y="3063240"/>
            <a:ext cx="1298448" cy="502920"/>
          </a:xfrm>
          <a:prstGeom prst="rect">
            <a:avLst/>
          </a:prstGeom>
          <a:solidFill>
            <a:srgbClr val="1E3D5A"/>
          </a:solidFill>
          <a:ln w="9525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46904" y="3063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Member 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82512" y="3063240"/>
            <a:ext cx="1298448" cy="502920"/>
          </a:xfrm>
          <a:prstGeom prst="rect">
            <a:avLst/>
          </a:prstGeom>
          <a:solidFill>
            <a:srgbClr val="1E3D5A"/>
          </a:solidFill>
          <a:ln w="9525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3063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Member 5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818120" y="3063240"/>
            <a:ext cx="1298448" cy="502920"/>
          </a:xfrm>
          <a:prstGeom prst="rect">
            <a:avLst/>
          </a:prstGeom>
          <a:solidFill>
            <a:srgbClr val="1E3D5A"/>
          </a:solidFill>
          <a:ln w="9525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306324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Member 6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6758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Sec 1–2  ·  Sec 3–4  ·  Sec 5–6  ·  Sec 7–8  ·  Sec 9–10  ·  Sec 11–12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FY2020-21 to FY2024-25  |  DSE: MALEKSPIN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53312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21208" y="1554480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4264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Company Background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7373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Malek Spinning Mills &amp; Benchmark: Matin Spinning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05840" y="199339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D7377"/>
                </a:solidFill>
              </a:rPr>
              <a:t>Member 1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353312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73168" y="1554480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57800" y="14264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Ratio Analysis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57800" y="17373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Profitability · Liquidity · Asset Management · Debt · Market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57800" y="199339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D7377"/>
                </a:solidFill>
              </a:rPr>
              <a:t>Member 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46888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" y="267004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25420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DuPont Analysis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28529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Decomposing ROE into its three key drivers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05840" y="31089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D7377"/>
                </a:solidFill>
              </a:rPr>
              <a:t>Member 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246888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73168" y="2670048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73168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254203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Cross-Sectional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85292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MSM vs. Matin Spinning Mills – FY2024-25 comparison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57800" y="31089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D7377"/>
                </a:solidFill>
              </a:rPr>
              <a:t>Member 4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11480" y="3584448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" y="3785616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5840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DCF Valuation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39684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Intrinsic value estimation &amp; investment decision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05840" y="422452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D7377"/>
                </a:solidFill>
              </a:rPr>
              <a:t>Member 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584448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73168" y="3785616"/>
            <a:ext cx="384048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3657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Findings &amp; Conclusion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57800" y="39684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Key takeaways, risks, and investment outlook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257800" y="4224528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D7377"/>
                </a:solidFill>
              </a:rPr>
              <a:t>Member 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 at a Glance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98448"/>
            <a:ext cx="199339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71600"/>
            <a:ext cx="199339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4.64B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871228"/>
            <a:ext cx="1993392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Revenue FY2024-25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51176" y="1298448"/>
            <a:ext cx="199339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51176" y="1371600"/>
            <a:ext cx="199339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51176" y="1871228"/>
            <a:ext cx="1993392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Revenue YoY Growth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1298448"/>
            <a:ext cx="199339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1371600"/>
            <a:ext cx="199339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233M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90872" y="1871228"/>
            <a:ext cx="1993392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Net Profit FY2024-25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30568" y="1298448"/>
            <a:ext cx="1993392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30568" y="1371600"/>
            <a:ext cx="199339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5.03%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30568" y="1871228"/>
            <a:ext cx="1993392" cy="375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Net Profit Margin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2450592"/>
            <a:ext cx="19933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25420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295351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FY2022-23 Crisis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273552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Net loss of BDT 499.6M driven by surging cotton &amp; energy costs post Russia-Ukraine conflict. GPM turned to -7.11%.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51176" y="2450592"/>
            <a:ext cx="19933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51176" y="25420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642616" y="295351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Strong Recovery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42616" y="3273552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Returned to profitability in FY2023-24 (BDT 213M) and grew further to BDT 233M in FY2024-25. Revenue up 24.2% YoY.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90872" y="2450592"/>
            <a:ext cx="19933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90872" y="25420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782312" y="295351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Valuation Signal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82312" y="3273552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DCF intrinsic value vs BDT 26.90 market price. Consolidated P/E of 3.63x vs DSE average 17.7x — potentially undervalued.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30568" y="2450592"/>
            <a:ext cx="199339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830568" y="2542032"/>
            <a:ext cx="199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922008" y="2953512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Key Risks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22008" y="3273552"/>
            <a:ext cx="181051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20% US tariff on Bangladeshi goods, high input cost dependence on imported cotton, elevated leverage near 50% debt-to-asset.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Malek Spinning Mills PLC. — Company Background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406908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4069080" cy="34747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MALEKSPIN — Malek Spinning Mills PLC.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3794760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Incorporated 1989 · Listed on DSE &amp; CSE in 2010 (IPO)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Located at Shafipur, Kaliakoir, Gazipur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59,964 spindles | Ring-spun, Carded &amp; Combed yarn (18–50Ne)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Annual capacity: ~12.425 million kg | 100% export-oriented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Uses 100% imported US cotton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3 subsidiaries: Salek Textile, J.M. Fabrics, Newasia Synthetics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Paid-up capital: BDT 1,936M | 193.6M shares @ BDT 10 par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1,162+ employees (group level) as of June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6908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25880"/>
            <a:ext cx="406908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25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MATINSPINN — Matin Spinning Mills PLC. (Benchmark)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755648"/>
            <a:ext cx="3794760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Incorporated 2002 · concern of DBL Group (major conglomerate)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Same industrial zone: Kashimpur, Gazipur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Diverse yarn portfolio: cotton, viscose, polyester, melange, blends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Revenue BDT 8.75B | Total assets BDT 13.90B (FY2024-25)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Selected benchmark: same sub-sector, same exchanges, same export focus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</a:rPr>
              <a:t>Stronger financials provide meaningful comparison for MSM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2 — RATIO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Ratios (FY2020-21 to FY2024-25)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298448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298448"/>
            <a:ext cx="28346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89320" y="13716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Key Observations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89320" y="1719072"/>
            <a:ext cx="2606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GPM crashed to -7.11% in FY23 from cotton price surge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Strong recovery: GPM 16.36% in FY24, 12.81% in FY25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NPM recovering: 5.03% in FY25 vs pre-crisis 8.41%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ROE: 5.02% in FY25, still below benchmark Matin's 6.72%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ROA modestly at 2.48% — capital-intensive asset base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34155"/>
                </a:solidFill>
              </a:rPr>
              <a:t>US tariff headwinds constrain margin expansion in FY25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2 — RATIO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 &amp; Liquidity Ratios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298448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298448"/>
            <a:ext cx="3108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Current Ratio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15000" y="160934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7A4A"/>
                </a:solidFill>
              </a:rPr>
              <a:t>FY25: 1.46x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0" y="160934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Peak: 1.72x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15000" y="18470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Adequate – above 1.0 throughout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23560" y="2505456"/>
            <a:ext cx="3108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15000" y="2560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Quick Ratio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0" y="28163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</a:rPr>
              <a:t>FY25: 0.44x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132320" y="2816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Peak: 0.74x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715000" y="30540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Below 1.0 — inventory-heavy model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623560" y="3712464"/>
            <a:ext cx="3108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715000" y="3767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Inventory Turnover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1500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</a:rPr>
              <a:t>1.29x FY25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15000" y="42793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vs Matin: 2.87x — slow due to strategic cotton buffer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11480" y="3712464"/>
            <a:ext cx="5029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8640" y="3749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ACP improved dramatically from 153 days (FY21) → 81 days (FY25) — fastest cash realization in 5 years, signalling tighter receivables management.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2 — RATIO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Management &amp; Market Ratios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298448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298448"/>
            <a:ext cx="3108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3350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EPS (Standalone)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0" y="15544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BDT 1.21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15000" y="18288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FY25 (vs loss of -2.58 in FY23)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623560" y="2212848"/>
            <a:ext cx="3108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715000" y="22494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P/E (Standalone)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15000" y="24688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22.23x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715000" y="27432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BDT 26.90 market / BDT 1.21 EPS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23560" y="3127248"/>
            <a:ext cx="3108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715000" y="31638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P/E (Consolidated)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715000" y="3383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3.63x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715000" y="36576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vs DSE market avg 17.7x — very low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623560" y="4041648"/>
            <a:ext cx="310896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715000" y="407822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NAV per Share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715000" y="4297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4A"/>
                </a:solidFill>
              </a:rPr>
              <a:t>BDT 24.38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715000" y="45720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Market BDT 26.90 → P/B ≈ 1.10x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11480" y="4005072"/>
            <a:ext cx="50292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48640" y="405993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</a:rPr>
              <a:t>Debt-to-asset nearing 50% threshold — expansion phase driven. TIE recovered to 2.16x (FY25) from -0.36x (FY23). Creditors prefer TIE &gt; 3x; further improvement needed.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3 — DUPONT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DuPont Decomposition of ROE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298448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298448"/>
            <a:ext cx="31089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335024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E4A"/>
                </a:solidFill>
              </a:rPr>
              <a:t>ROE = NPM × Asset Turnover × Equity Multiplier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623560" y="2331720"/>
            <a:ext cx="3108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71500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7377"/>
                </a:solidFill>
              </a:rPr>
              <a:t>FY2024-25 Breakdown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0" y="2651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5.03%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 × </a:t>
            </a:r>
            <a:pPr indent="0" marL="0">
              <a:buNone/>
            </a:pPr>
            <a:r>
              <a:rPr lang="en-US" sz="1200" b="1" dirty="0">
                <a:solidFill>
                  <a:srgbClr val="14A085"/>
                </a:solidFill>
              </a:rPr>
              <a:t>0.51x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 × </a:t>
            </a:r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1.94x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 = ROE 4.95%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715000" y="2944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NPM · Asset TO · Equity Multiplier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23560" y="3520440"/>
            <a:ext cx="310896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15000" y="3584448"/>
            <a:ext cx="28803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Equity Multiplier steadily ↑ from 1.53x → 1.94x (leverage is rising)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Margin most volatile driver — FY23 collapse dragged ROE negative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</a:rPr>
              <a:t>To reach target ROE: margin expansion + better asset utilization are key levers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4 — CROSS-SECTIONAL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 vs. Matin Spinning — FY2024-25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298448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298448"/>
            <a:ext cx="2651760" cy="365760"/>
          </a:xfrm>
          <a:prstGeom prst="rect">
            <a:avLst/>
          </a:prstGeom>
          <a:solidFill>
            <a:srgbClr val="1A2E4A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129844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922008" y="129844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MSM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818120" y="12984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017"/>
                </a:solidFill>
              </a:rPr>
              <a:t>Matin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80760" y="1682496"/>
            <a:ext cx="2651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44768" y="168249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Revenue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922008" y="168249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BDT 4.64B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818120" y="16824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A"/>
                </a:solidFill>
              </a:rPr>
              <a:t>BDT 8.75B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2139696"/>
            <a:ext cx="2651760" cy="438912"/>
          </a:xfrm>
          <a:prstGeom prst="rect">
            <a:avLst/>
          </a:prstGeom>
          <a:solidFill>
            <a:srgbClr val="EBF4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44768" y="213969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Current Ratio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922008" y="213969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1.46x ✅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7818120" y="21396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A"/>
                </a:solidFill>
              </a:rPr>
              <a:t>1.12x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80760" y="2596896"/>
            <a:ext cx="2651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44768" y="259689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Debt/Asset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922008" y="259689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48.5%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818120" y="25968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A"/>
                </a:solidFill>
              </a:rPr>
              <a:t>51.0%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80760" y="3054096"/>
            <a:ext cx="2651760" cy="438912"/>
          </a:xfrm>
          <a:prstGeom prst="rect">
            <a:avLst/>
          </a:prstGeom>
          <a:solidFill>
            <a:srgbClr val="EBF4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144768" y="305409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EPS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922008" y="305409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BDT 1.21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7818120" y="30540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A"/>
                </a:solidFill>
              </a:rPr>
              <a:t>BDT 4.70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080760" y="3511296"/>
            <a:ext cx="26517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144768" y="351129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Market Price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922008" y="351129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BDT 26.90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818120" y="35112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A"/>
                </a:solidFill>
              </a:rPr>
              <a:t>BDT 45.30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80760" y="3968496"/>
            <a:ext cx="2651760" cy="438912"/>
          </a:xfrm>
          <a:prstGeom prst="rect">
            <a:avLst/>
          </a:prstGeom>
          <a:solidFill>
            <a:srgbClr val="EBF4F4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144768" y="3968496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P/E Ratio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922008" y="3968496"/>
            <a:ext cx="896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22.23x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818120" y="396849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E4A"/>
                </a:solidFill>
              </a:rPr>
              <a:t>9.64x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6080760" y="4480560"/>
            <a:ext cx="2651760" cy="320040"/>
          </a:xfrm>
          <a:prstGeom prst="rect">
            <a:avLst/>
          </a:prstGeom>
          <a:solidFill>
            <a:srgbClr val="FFF3CD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144768" y="448056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E4A"/>
                </a:solidFill>
              </a:rPr>
              <a:t>MSM has better liquidity; Matin leads on profitability &amp; scale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5 — DCF VALUATION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Cash Flow Valuation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11480" y="1298448"/>
          <a:ext cx="4846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3931920"/>
            <a:ext cx="48463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3986784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</a:rPr>
              <a:t>Assumptions: WACC 12% · Terminal Growth 4% · Base FCF BDT 218.5M · 5-year horizon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40680" y="1298448"/>
            <a:ext cx="1783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04688" y="13350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Sum PV of FCFs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504688" y="1609344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</a:rPr>
              <a:t>BDT 948.5M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60920" y="1298448"/>
            <a:ext cx="1783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24928" y="133502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PV of Terminal Value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7424928" y="1609344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A085"/>
                </a:solidFill>
              </a:rPr>
              <a:t>BDT 2,176.7M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40680" y="2258568"/>
            <a:ext cx="1783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04688" y="229514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Enterprise Value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504688" y="2569464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BDT 3,125.3M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360920" y="2258568"/>
            <a:ext cx="1783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424928" y="229514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Less: Net Debt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7424928" y="2569464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</a:rPr>
              <a:t>BDT 2,251.9M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40680" y="3218688"/>
            <a:ext cx="1783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504688" y="325526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Equity Value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504688" y="3529584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A4A"/>
                </a:solidFill>
              </a:rPr>
              <a:t>BDT 873.3M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60920" y="3218688"/>
            <a:ext cx="1783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424928" y="3255264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Intrinsic Value/Share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7424928" y="3529584"/>
            <a:ext cx="166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4A"/>
                </a:solidFill>
              </a:rPr>
              <a:t>BDT 4.51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40680" y="4206240"/>
            <a:ext cx="3291840" cy="640080"/>
          </a:xfrm>
          <a:prstGeom prst="rect">
            <a:avLst/>
          </a:prstGeom>
          <a:solidFill>
            <a:srgbClr val="FFF3CD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532120" y="4251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4A"/>
                </a:solidFill>
              </a:rPr>
              <a:t>Market Price: BDT 26.90  |  Intrinsic Value: BDT 4.51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532120" y="45079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</a:rPr>
              <a:t>Standalone DCF implies downside — but Consolidated P/E of 3.63x vs market 17.7x suggests potential BUY for long-term investors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56032"/>
          </a:xfrm>
          <a:prstGeom prst="roundRect">
            <a:avLst>
              <a:gd name="adj" fmla="val 17857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920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SECTION 6 — FINDINGS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Discussion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832104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35024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2646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140817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Liquidity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1832" y="1700784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Current ratio 1.46x (MSM) &gt; Matin's 1.12x. Quick ratio 0.44x — inventory-heavy model; adequate for L/C-secured export business.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1335024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42646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76672" y="140817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Asset Efficiency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76672" y="1700784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ACP improved 153→81 days. FATO rose to 1.65x with 85.31% capacity utilization. Inventory TO (1.29x) lags Matin (2.87x) due to cotton buffer strategy.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60320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26517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832" y="26334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Debt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41832" y="2926080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Debt/Asset at 48.5%, approaching 50% threshold. TIE at 2.16x — positive but below 3x lender comfort. Loan from Director (BDT 100M) provides short-term liquidity support.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2560320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265176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376672" y="26334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Returns Earned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76672" y="2926080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All return metrics positive in FY25 after FY23 crisis. ROE 4.95% vs Matin 6.72% — gap reflects scale and product mix advantage of Matin.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785616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387705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" y="38587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Market Performance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1832" y="4151376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MSM market cap ~BDT 5.2B. Consolidated P/B of 0.44x (vs Matin ~0.65x). First dividend in years (10% cash) signals management confidence in cash flows.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785616"/>
            <a:ext cx="4251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387705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76672" y="38587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4A"/>
                </a:solidFill>
              </a:rPr>
              <a:t>Outlook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76672" y="4151376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New machinery at 85% utilization, BDT 2.67B CWIP expansion, improving EPS trajectory. US tariff (20%) and FX risk remain headwinds to watch.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Investment Outlook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8229600" cy="274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60120"/>
            <a:ext cx="2743200" cy="2377440"/>
          </a:xfrm>
          <a:prstGeom prst="rect">
            <a:avLst/>
          </a:prstGeom>
          <a:solidFill>
            <a:srgbClr val="1E3D5A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0241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</a:rPr>
              <a:t>Recovery 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2648" y="1417320"/>
            <a:ext cx="252374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Net profit BDT 233M in FY25 (+9.6% YoY)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GPM: -7.11% (FY23) → 12.81% (FY25)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Capacity utilization: 75% → 85%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960120"/>
            <a:ext cx="2743200" cy="2377440"/>
          </a:xfrm>
          <a:prstGeom prst="rect">
            <a:avLst/>
          </a:prstGeom>
          <a:solidFill>
            <a:srgbClr val="1E3D5A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0241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</a:rPr>
              <a:t>Position ⚖️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1417320"/>
            <a:ext cx="252374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Adequate liquidity (CR 1.46x)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Debt/Asset 48.5% — manageable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TIE 2.16x — needs improvement to &gt;3x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18504" y="960120"/>
            <a:ext cx="2743200" cy="2377440"/>
          </a:xfrm>
          <a:prstGeom prst="rect">
            <a:avLst/>
          </a:prstGeom>
          <a:solidFill>
            <a:srgbClr val="1E3D5A"/>
          </a:solidFill>
          <a:ln w="635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024128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</a:rPr>
              <a:t>Valuation 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28232" y="1417320"/>
            <a:ext cx="2523744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Consolidated P/E 3.63x vs market 17.7x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P/B 0.44x consolidated — deep discount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10% dividend reinstated — confidence signal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456432"/>
            <a:ext cx="822960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930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Investment Decision: BUY (Long-Term Value Investors)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38221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1FAE5"/>
                </a:solidFill>
              </a:rPr>
              <a:t>Improving fundamentals + deep market discount. Key risks: US tariff (20%), FX volatility, cotton price dependence.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434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Thank You — Questions Welcome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BUS 526 · BRAC University · Spring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Performance Analysis – Malek Spinning Mills PLC.</dc:title>
  <dc:subject>PptxGenJS Presentation</dc:subject>
  <dc:creator>PptxGenJS</dc:creator>
  <cp:lastModifiedBy>PptxGenJS</cp:lastModifiedBy>
  <cp:revision>1</cp:revision>
  <dcterms:created xsi:type="dcterms:W3CDTF">2026-05-10T14:58:34Z</dcterms:created>
  <dcterms:modified xsi:type="dcterms:W3CDTF">2026-05-10T14:58:34Z</dcterms:modified>
</cp:coreProperties>
</file>