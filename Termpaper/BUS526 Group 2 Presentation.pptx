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 Italics" charset="1" panose="020F07020304040A0204"/>
      <p:regular r:id="rId24"/>
    </p:embeddedFon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482603" cy="10312403"/>
            <a:chOff x="0" y="0"/>
            <a:chExt cx="6434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35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643509">
                  <a:moveTo>
                    <a:pt x="0" y="0"/>
                  </a:moveTo>
                  <a:lnTo>
                    <a:pt x="643509" y="0"/>
                  </a:lnTo>
                  <a:lnTo>
                    <a:pt x="6435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22840"/>
            </a:solidFill>
            <a:ln w="25400" cap="sq">
              <a:solidFill>
                <a:srgbClr val="1228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731520"/>
            <a:ext cx="14630400" cy="907647"/>
            <a:chOff x="0" y="0"/>
            <a:chExt cx="19507200" cy="1210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210196"/>
            </a:xfrm>
            <a:custGeom>
              <a:avLst/>
              <a:gdLst/>
              <a:ahLst/>
              <a:cxnLst/>
              <a:rect r="r" b="b" t="t" l="l"/>
              <a:pathLst>
                <a:path h="121019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0196"/>
                  </a:lnTo>
                  <a:lnTo>
                    <a:pt x="0" y="1210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9" r="0" b="-2493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19507200" cy="1305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i="true">
                  <a:solidFill>
                    <a:srgbClr val="00000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BUS526: Financial Systems &amp; Managerial Finance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767758" cy="1366221"/>
            <a:chOff x="0" y="0"/>
            <a:chExt cx="19690344" cy="18216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90344" cy="1821629"/>
            </a:xfrm>
            <a:custGeom>
              <a:avLst/>
              <a:gdLst/>
              <a:ahLst/>
              <a:cxnLst/>
              <a:rect r="r" b="b" t="t" l="l"/>
              <a:pathLst>
                <a:path h="1821629" w="19690344">
                  <a:moveTo>
                    <a:pt x="0" y="0"/>
                  </a:moveTo>
                  <a:lnTo>
                    <a:pt x="19690344" y="0"/>
                  </a:lnTo>
                  <a:lnTo>
                    <a:pt x="19690344" y="1821629"/>
                  </a:lnTo>
                  <a:lnTo>
                    <a:pt x="0" y="1821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72" r="930" b="-2157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57175"/>
              <a:ext cx="19690344" cy="2078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6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Performance Analysis &amp; Valuation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010682"/>
            <a:ext cx="15158130" cy="116466"/>
            <a:chOff x="0" y="0"/>
            <a:chExt cx="17102671" cy="1314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02710" cy="131445"/>
            </a:xfrm>
            <a:custGeom>
              <a:avLst/>
              <a:gdLst/>
              <a:ahLst/>
              <a:cxnLst/>
              <a:rect r="r" b="b" t="t" l="l"/>
              <a:pathLst>
                <a:path h="131445" w="17102710">
                  <a:moveTo>
                    <a:pt x="0" y="0"/>
                  </a:moveTo>
                  <a:lnTo>
                    <a:pt x="17102710" y="0"/>
                  </a:lnTo>
                  <a:lnTo>
                    <a:pt x="171027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122840"/>
            </a:solidFill>
            <a:ln w="25400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3487426"/>
            <a:ext cx="14264640" cy="914400"/>
            <a:chOff x="0" y="0"/>
            <a:chExt cx="190195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19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966" r="0" b="-25396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0195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 Mills PLC  vs.  Matin Spinning Mills PLC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597334"/>
            <a:ext cx="6575322" cy="3041167"/>
            <a:chOff x="0" y="0"/>
            <a:chExt cx="17085742" cy="79023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85742" cy="7902365"/>
            </a:xfrm>
            <a:custGeom>
              <a:avLst/>
              <a:gdLst/>
              <a:ahLst/>
              <a:cxnLst/>
              <a:rect r="r" b="b" t="t" l="l"/>
              <a:pathLst>
                <a:path h="7902365" w="17085742">
                  <a:moveTo>
                    <a:pt x="0" y="0"/>
                  </a:moveTo>
                  <a:lnTo>
                    <a:pt x="17085742" y="0"/>
                  </a:lnTo>
                  <a:lnTo>
                    <a:pt x="17085742" y="7902365"/>
                  </a:lnTo>
                  <a:lnTo>
                    <a:pt x="0" y="7902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96" r="-11318" b="477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7085742" cy="7978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Submitted to: </a:t>
              </a: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Mr. Khaled Bin Kamal  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4200"/>
                </a:lnSpc>
              </a:pPr>
              <a:r>
                <a:rPr lang="en-US" b="true" sz="3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Submitted by: </a:t>
              </a:r>
              <a:r>
                <a:rPr lang="en-US" sz="3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83978" y="6018702"/>
            <a:ext cx="6575322" cy="3239598"/>
            <a:chOff x="0" y="0"/>
            <a:chExt cx="17085742" cy="8417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85742" cy="8417980"/>
            </a:xfrm>
            <a:custGeom>
              <a:avLst/>
              <a:gdLst/>
              <a:ahLst/>
              <a:cxnLst/>
              <a:rect r="r" b="b" t="t" l="l"/>
              <a:pathLst>
                <a:path h="8417980" w="17085742">
                  <a:moveTo>
                    <a:pt x="0" y="0"/>
                  </a:moveTo>
                  <a:lnTo>
                    <a:pt x="17085742" y="0"/>
                  </a:lnTo>
                  <a:lnTo>
                    <a:pt x="17085742" y="8417980"/>
                  </a:lnTo>
                  <a:lnTo>
                    <a:pt x="0" y="8417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55" r="-11318" b="509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71450"/>
              <a:ext cx="17085742" cy="8589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50"/>
                </a:lnSpc>
              </a:pPr>
              <a:r>
                <a:rPr lang="en-US" b="true" sz="3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</a:t>
              </a:r>
              <a:r>
                <a:rPr lang="en-US" b="true" sz="3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 Member Details</a:t>
              </a:r>
            </a:p>
            <a:p>
              <a:pPr algn="l" marL="474989" indent="-237495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Md Rifat Rahman (ID: 1000054675)</a:t>
              </a:r>
            </a:p>
            <a:p>
              <a:pPr algn="l" marL="474989" indent="-237495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Md Showrav Zaman (ID: 1000055235)</a:t>
              </a:r>
            </a:p>
            <a:p>
              <a:pPr algn="l" marL="474989" indent="-237495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Mehbub Shifat Ur Rasul (ID: 1000055399)</a:t>
              </a:r>
            </a:p>
            <a:p>
              <a:pPr algn="l" marL="474989" indent="-237495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Jannatul Ferdous (ID: 1000055450)</a:t>
              </a:r>
            </a:p>
            <a:p>
              <a:pPr algn="l" marL="474989" indent="-237495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Sheikh Jannatul Ferdous (ID: 21104024)</a:t>
              </a:r>
            </a:p>
            <a:p>
              <a:pPr algn="l" marL="474989" indent="-237495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Mst Asrat Jahan (ID: 1000056513)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05840" y="7197435"/>
            <a:ext cx="8659697" cy="1990020"/>
          </a:xfrm>
          <a:custGeom>
            <a:avLst/>
            <a:gdLst/>
            <a:ahLst/>
            <a:cxnLst/>
            <a:rect r="r" b="b" t="t" l="l"/>
            <a:pathLst>
              <a:path h="1990020" w="8659697">
                <a:moveTo>
                  <a:pt x="0" y="0"/>
                </a:moveTo>
                <a:lnTo>
                  <a:pt x="8659697" y="0"/>
                </a:lnTo>
                <a:lnTo>
                  <a:pt x="8659697" y="1990021"/>
                </a:lnTo>
                <a:lnTo>
                  <a:pt x="0" y="1990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COMPANY BACKGROUNDS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2287" y="1639567"/>
            <a:ext cx="8242297" cy="8150857"/>
            <a:chOff x="0" y="0"/>
            <a:chExt cx="10989729" cy="10867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9691" cy="10867771"/>
            </a:xfrm>
            <a:custGeom>
              <a:avLst/>
              <a:gdLst/>
              <a:ahLst/>
              <a:cxnLst/>
              <a:rect r="r" b="b" t="t" l="l"/>
              <a:pathLst>
                <a:path h="108677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0867771"/>
                  </a:lnTo>
                  <a:lnTo>
                    <a:pt x="0" y="108677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35943" y="1633223"/>
            <a:ext cx="8255003" cy="793499"/>
            <a:chOff x="0" y="0"/>
            <a:chExt cx="11006671" cy="1057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1645920"/>
            <a:ext cx="8229600" cy="768096"/>
            <a:chOff x="0" y="0"/>
            <a:chExt cx="1097280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 MILLS PLC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2468880"/>
            <a:ext cx="8229600" cy="548640"/>
            <a:chOff x="0" y="0"/>
            <a:chExt cx="10972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MALEKSPIN  |  DSE &amp; CSE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8096" y="3145536"/>
            <a:ext cx="2286000" cy="512064"/>
            <a:chOff x="0" y="0"/>
            <a:chExt cx="30480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Founded: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72384" y="3145536"/>
            <a:ext cx="5486400" cy="512064"/>
            <a:chOff x="0" y="0"/>
            <a:chExt cx="73152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Incorporated Nov 1989; Commercial ops April 2009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" y="3712464"/>
            <a:ext cx="2286000" cy="512064"/>
            <a:chOff x="0" y="0"/>
            <a:chExt cx="304800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72384" y="3712464"/>
            <a:ext cx="5486400" cy="512064"/>
            <a:chOff x="0" y="0"/>
            <a:chExt cx="73152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Asia Group — vertically integrated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8096" y="4279392"/>
            <a:ext cx="2286000" cy="512064"/>
            <a:chOff x="0" y="0"/>
            <a:chExt cx="30480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Spindles: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072384" y="4279392"/>
            <a:ext cx="5486400" cy="512064"/>
            <a:chOff x="0" y="0"/>
            <a:chExt cx="73152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63,624 ring spindles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8096" y="4846320"/>
            <a:ext cx="2286000" cy="512064"/>
            <a:chOff x="0" y="0"/>
            <a:chExt cx="30480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Capacity: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72384" y="4846320"/>
            <a:ext cx="5486400" cy="512064"/>
            <a:chOff x="0" y="0"/>
            <a:chExt cx="731520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~12.6 mn kg/year of ring-spun yarn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8096" y="5413248"/>
            <a:ext cx="2286000" cy="512064"/>
            <a:chOff x="0" y="0"/>
            <a:chExt cx="30480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Products: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072384" y="5413248"/>
            <a:ext cx="5486400" cy="512064"/>
            <a:chOff x="0" y="0"/>
            <a:chExt cx="73152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US cotton combed (20–40Ne) &amp; carded (18–50Ne)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8096" y="5980176"/>
            <a:ext cx="2286000" cy="512064"/>
            <a:chOff x="0" y="0"/>
            <a:chExt cx="30480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(FY25):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072384" y="5980176"/>
            <a:ext cx="5486400" cy="512064"/>
            <a:chOff x="0" y="0"/>
            <a:chExt cx="73152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4,638 million (standalone)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68096" y="6547104"/>
            <a:ext cx="2286000" cy="512064"/>
            <a:chOff x="0" y="0"/>
            <a:chExt cx="30480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Cap: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072384" y="6547104"/>
            <a:ext cx="5486400" cy="512064"/>
            <a:chOff x="0" y="0"/>
            <a:chExt cx="73152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~BDT 5.36–5.90 billion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68096" y="7114032"/>
            <a:ext cx="2286000" cy="512064"/>
            <a:chOff x="0" y="0"/>
            <a:chExt cx="30480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Shares: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072384" y="7114032"/>
            <a:ext cx="5486400" cy="512064"/>
            <a:chOff x="0" y="0"/>
            <a:chExt cx="73152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193.6 million shares outstanding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8096" y="7680960"/>
            <a:ext cx="2286000" cy="512064"/>
            <a:chOff x="0" y="0"/>
            <a:chExt cx="30480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Dividend: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072384" y="7680960"/>
            <a:ext cx="5486400" cy="512064"/>
            <a:chOff x="0" y="0"/>
            <a:chExt cx="731520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Tk. 1.00/share (10%) for FY 2024-25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68096" y="8247888"/>
            <a:ext cx="2286000" cy="512064"/>
            <a:chOff x="0" y="0"/>
            <a:chExt cx="30480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Certificate: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072384" y="8247888"/>
            <a:ext cx="5486400" cy="512064"/>
            <a:chOff x="0" y="0"/>
            <a:chExt cx="731520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Bangladesh spinning mill with Uster certification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03407" y="1639567"/>
            <a:ext cx="8242297" cy="8150857"/>
            <a:chOff x="0" y="0"/>
            <a:chExt cx="10989729" cy="1086780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89691" cy="10867771"/>
            </a:xfrm>
            <a:custGeom>
              <a:avLst/>
              <a:gdLst/>
              <a:ahLst/>
              <a:cxnLst/>
              <a:rect r="r" b="b" t="t" l="l"/>
              <a:pathLst>
                <a:path h="1086777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0867771"/>
                  </a:lnTo>
                  <a:lnTo>
                    <a:pt x="0" y="108677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497063" y="1633223"/>
            <a:ext cx="8255003" cy="793499"/>
            <a:chOff x="0" y="0"/>
            <a:chExt cx="11006671" cy="10579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00670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09760" y="1645920"/>
            <a:ext cx="8229600" cy="768096"/>
            <a:chOff x="0" y="0"/>
            <a:chExt cx="10972800" cy="102412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09728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 MILLS PLC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09760" y="2468880"/>
            <a:ext cx="8229600" cy="548640"/>
            <a:chOff x="0" y="0"/>
            <a:chExt cx="1097280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MATINSPINN  |  DSE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29216" y="3145536"/>
            <a:ext cx="2468880" cy="512064"/>
            <a:chOff x="0" y="0"/>
            <a:chExt cx="329184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Sector: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216384" y="3145536"/>
            <a:ext cx="5303520" cy="512064"/>
            <a:chOff x="0" y="0"/>
            <a:chExt cx="707136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Export-oriented RMG backward linkage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729216" y="3712464"/>
            <a:ext cx="2468880" cy="512064"/>
            <a:chOff x="0" y="0"/>
            <a:chExt cx="329184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Speciality: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216384" y="3712464"/>
            <a:ext cx="5303520" cy="512064"/>
            <a:chOff x="0" y="0"/>
            <a:chExt cx="7071360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Superior quality cotton yarn (knit &amp; woven)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729216" y="4279392"/>
            <a:ext cx="2468880" cy="512064"/>
            <a:chOff x="0" y="0"/>
            <a:chExt cx="329184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Market: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216384" y="4279392"/>
            <a:ext cx="5303520" cy="512064"/>
            <a:chOff x="0" y="0"/>
            <a:chExt cx="707136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Domestic RMG manufacturers &amp; exports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729216" y="4846320"/>
            <a:ext cx="2468880" cy="512064"/>
            <a:chOff x="0" y="0"/>
            <a:chExt cx="329184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(FY25):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216384" y="4846320"/>
            <a:ext cx="5303520" cy="512064"/>
            <a:chOff x="0" y="0"/>
            <a:chExt cx="707136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8,752 million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729216" y="5413248"/>
            <a:ext cx="2468880" cy="512064"/>
            <a:chOff x="0" y="0"/>
            <a:chExt cx="329184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Assets: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216384" y="5413248"/>
            <a:ext cx="5303520" cy="512064"/>
            <a:chOff x="0" y="0"/>
            <a:chExt cx="7071360" cy="6827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13,898 million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729216" y="5980176"/>
            <a:ext cx="2468880" cy="512064"/>
            <a:chOff x="0" y="0"/>
            <a:chExt cx="3291840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Shares: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216384" y="5980176"/>
            <a:ext cx="5303520" cy="512064"/>
            <a:chOff x="0" y="0"/>
            <a:chExt cx="707136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97.49 million shares outstanding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729216" y="6547104"/>
            <a:ext cx="2468880" cy="512064"/>
            <a:chOff x="0" y="0"/>
            <a:chExt cx="3291840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EPS (FY25):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216384" y="6547104"/>
            <a:ext cx="5303520" cy="512064"/>
            <a:chOff x="0" y="0"/>
            <a:chExt cx="7071360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Tk. 4.70 per share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729216" y="7114032"/>
            <a:ext cx="2468880" cy="512064"/>
            <a:chOff x="0" y="0"/>
            <a:chExt cx="3291840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Price: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216384" y="7114032"/>
            <a:ext cx="5303520" cy="512064"/>
            <a:chOff x="0" y="0"/>
            <a:chExt cx="7071360" cy="68275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BDT 45.30 (DSE, FY25 close)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729216" y="7680960"/>
            <a:ext cx="2468880" cy="512064"/>
            <a:chOff x="0" y="0"/>
            <a:chExt cx="3291840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Focus: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216384" y="7680960"/>
            <a:ext cx="5303520" cy="512064"/>
            <a:chOff x="0" y="0"/>
            <a:chExt cx="7071360" cy="68275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Quality control &amp; long-term partnerships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9729216" y="8247888"/>
            <a:ext cx="2468880" cy="512064"/>
            <a:chOff x="0" y="0"/>
            <a:chExt cx="3291840" cy="68275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Listing: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216384" y="8247888"/>
            <a:ext cx="5303520" cy="512064"/>
            <a:chOff x="0" y="0"/>
            <a:chExt cx="7071360" cy="68275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071360" cy="682752"/>
            </a:xfrm>
            <a:custGeom>
              <a:avLst/>
              <a:gdLst/>
              <a:ahLst/>
              <a:cxnLst/>
              <a:rect r="r" b="b" t="t" l="l"/>
              <a:pathLst>
                <a:path h="6827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70713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Dhaka Stock Exchange (DSE)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PROFITABILITY RATIOS (FY 2024-25)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13783" y="1304039"/>
            <a:ext cx="5146043" cy="665483"/>
            <a:chOff x="0" y="0"/>
            <a:chExt cx="6861391" cy="887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26480" y="1316736"/>
            <a:ext cx="5120640" cy="640080"/>
            <a:chOff x="0" y="0"/>
            <a:chExt cx="68275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74503" y="1304039"/>
            <a:ext cx="5146043" cy="665483"/>
            <a:chOff x="0" y="0"/>
            <a:chExt cx="6861391" cy="887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1316736"/>
            <a:ext cx="5120640" cy="640080"/>
            <a:chOff x="0" y="0"/>
            <a:chExt cx="68275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8254" y="2081022"/>
            <a:ext cx="17271492" cy="812292"/>
            <a:chOff x="0" y="0"/>
            <a:chExt cx="23028656" cy="1083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" y="2084832"/>
            <a:ext cx="5120640" cy="694944"/>
            <a:chOff x="0" y="0"/>
            <a:chExt cx="682752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Gross Profit Margin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0127" y="2151631"/>
            <a:ext cx="5133337" cy="561337"/>
            <a:chOff x="0" y="0"/>
            <a:chExt cx="6844449" cy="74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126480" y="2157984"/>
            <a:ext cx="5120640" cy="548640"/>
            <a:chOff x="0" y="0"/>
            <a:chExt cx="682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12.81%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0847" y="2151631"/>
            <a:ext cx="5133337" cy="561337"/>
            <a:chOff x="0" y="0"/>
            <a:chExt cx="6844449" cy="7484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57984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15.00%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8254" y="2995422"/>
            <a:ext cx="17271492" cy="812292"/>
            <a:chOff x="0" y="0"/>
            <a:chExt cx="23028656" cy="1083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5216" y="2999232"/>
            <a:ext cx="5120640" cy="694944"/>
            <a:chOff x="0" y="0"/>
            <a:chExt cx="68275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Operating Profit Margin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20127" y="3066031"/>
            <a:ext cx="5133337" cy="561337"/>
            <a:chOff x="0" y="0"/>
            <a:chExt cx="6844449" cy="7484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126480" y="3072384"/>
            <a:ext cx="5120640" cy="548640"/>
            <a:chOff x="0" y="0"/>
            <a:chExt cx="6827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4.47%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0847" y="3066031"/>
            <a:ext cx="5133337" cy="561337"/>
            <a:chOff x="0" y="0"/>
            <a:chExt cx="6844449" cy="748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3072384"/>
            <a:ext cx="5120640" cy="548640"/>
            <a:chOff x="0" y="0"/>
            <a:chExt cx="6827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11.39%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254" y="3909822"/>
            <a:ext cx="17271492" cy="812292"/>
            <a:chOff x="0" y="0"/>
            <a:chExt cx="23028656" cy="1083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85216" y="3913632"/>
            <a:ext cx="5120640" cy="694944"/>
            <a:chOff x="0" y="0"/>
            <a:chExt cx="682752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 Profit Margin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120127" y="3980431"/>
            <a:ext cx="5133337" cy="561337"/>
            <a:chOff x="0" y="0"/>
            <a:chExt cx="6844449" cy="74844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126480" y="3986784"/>
            <a:ext cx="5120640" cy="548640"/>
            <a:chOff x="0" y="0"/>
            <a:chExt cx="682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5.03%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0847" y="3980431"/>
            <a:ext cx="5133337" cy="561337"/>
            <a:chOff x="0" y="0"/>
            <a:chExt cx="6844449" cy="74844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0" y="3986784"/>
            <a:ext cx="5120640" cy="548640"/>
            <a:chOff x="0" y="0"/>
            <a:chExt cx="6827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5.23%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254" y="4824222"/>
            <a:ext cx="17271492" cy="812292"/>
            <a:chOff x="0" y="0"/>
            <a:chExt cx="23028656" cy="1083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585216" y="4828032"/>
            <a:ext cx="5120640" cy="694944"/>
            <a:chOff x="0" y="0"/>
            <a:chExt cx="682752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 on Assets (ROA)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120127" y="4894831"/>
            <a:ext cx="5133337" cy="561337"/>
            <a:chOff x="0" y="0"/>
            <a:chExt cx="6844449" cy="7484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126480" y="4901184"/>
            <a:ext cx="5120640" cy="548640"/>
            <a:chOff x="0" y="0"/>
            <a:chExt cx="68275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2.50%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0847" y="4894831"/>
            <a:ext cx="5133337" cy="561337"/>
            <a:chOff x="0" y="0"/>
            <a:chExt cx="6844449" cy="74844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1887200" y="4901184"/>
            <a:ext cx="5120640" cy="548640"/>
            <a:chOff x="0" y="0"/>
            <a:chExt cx="6827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3.30%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08254" y="5738622"/>
            <a:ext cx="17271492" cy="812292"/>
            <a:chOff x="0" y="0"/>
            <a:chExt cx="23028656" cy="1083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585216" y="5742432"/>
            <a:ext cx="5120640" cy="694944"/>
            <a:chOff x="0" y="0"/>
            <a:chExt cx="682752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 on Equity (ROE)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0127" y="5809231"/>
            <a:ext cx="5133337" cy="561337"/>
            <a:chOff x="0" y="0"/>
            <a:chExt cx="6844449" cy="74844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126480" y="5815584"/>
            <a:ext cx="5120640" cy="548640"/>
            <a:chOff x="0" y="0"/>
            <a:chExt cx="682752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4.95%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880847" y="5809231"/>
            <a:ext cx="5133337" cy="561337"/>
            <a:chOff x="0" y="0"/>
            <a:chExt cx="6844449" cy="74844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887200" y="5815584"/>
            <a:ext cx="5120640" cy="548640"/>
            <a:chOff x="0" y="0"/>
            <a:chExt cx="6827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6.72%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08254" y="6653022"/>
            <a:ext cx="17271492" cy="812292"/>
            <a:chOff x="0" y="0"/>
            <a:chExt cx="23028656" cy="10830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585216" y="6656832"/>
            <a:ext cx="5120640" cy="694944"/>
            <a:chOff x="0" y="0"/>
            <a:chExt cx="6827520" cy="9265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 on Investment (ROI)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120127" y="6723631"/>
            <a:ext cx="5133337" cy="561337"/>
            <a:chOff x="0" y="0"/>
            <a:chExt cx="6844449" cy="74844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6126480" y="6729984"/>
            <a:ext cx="5120640" cy="548640"/>
            <a:chOff x="0" y="0"/>
            <a:chExt cx="682752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2.50%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1880847" y="6723631"/>
            <a:ext cx="5133337" cy="561337"/>
            <a:chOff x="0" y="0"/>
            <a:chExt cx="6844449" cy="74844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887200" y="6729984"/>
            <a:ext cx="5120640" cy="548640"/>
            <a:chOff x="0" y="0"/>
            <a:chExt cx="682752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3.30%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99367" y="7924295"/>
            <a:ext cx="17276569" cy="1329433"/>
            <a:chOff x="0" y="0"/>
            <a:chExt cx="23035425" cy="177257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035388" cy="1772539"/>
            </a:xfrm>
            <a:custGeom>
              <a:avLst/>
              <a:gdLst/>
              <a:ahLst/>
              <a:cxnLst/>
              <a:rect r="r" b="b" t="t" l="l"/>
              <a:pathLst>
                <a:path h="1772539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508254" y="7924295"/>
            <a:ext cx="171707" cy="1342139"/>
            <a:chOff x="0" y="0"/>
            <a:chExt cx="228943" cy="178951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8981" cy="1789557"/>
            </a:xfrm>
            <a:custGeom>
              <a:avLst/>
              <a:gdLst/>
              <a:ahLst/>
              <a:cxnLst/>
              <a:rect r="r" b="b" t="t" l="l"/>
              <a:pathLst>
                <a:path h="1789557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822960" y="8741664"/>
            <a:ext cx="2377440" cy="512064"/>
            <a:chOff x="0" y="0"/>
            <a:chExt cx="316992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16612" y="8145085"/>
            <a:ext cx="16642080" cy="888839"/>
            <a:chOff x="0" y="0"/>
            <a:chExt cx="22189440" cy="118511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189439" cy="1185118"/>
            </a:xfrm>
            <a:custGeom>
              <a:avLst/>
              <a:gdLst/>
              <a:ahLst/>
              <a:cxnLst/>
              <a:rect r="r" b="b" t="t" l="l"/>
              <a:pathLst>
                <a:path h="118511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618" r="0" b="-308033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218944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Matin Spinning outperforms Malek across all profitability indicators in FY25. While Malek's gross margin declined from 16.36% to 12.81%, Matin held 15.00%. Malek's operating margin (4.47%) vs Matin's (11.39%) reflects higher operating cost burden from post-crisis recovery. Malek is improving but Matin is more profitable overall.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ASSET MANAGEMENT RATIOS (FY 2024-25)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13783" y="1304039"/>
            <a:ext cx="5146043" cy="665483"/>
            <a:chOff x="0" y="0"/>
            <a:chExt cx="6861391" cy="887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26480" y="1316736"/>
            <a:ext cx="5120640" cy="640080"/>
            <a:chOff x="0" y="0"/>
            <a:chExt cx="68275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74503" y="1304039"/>
            <a:ext cx="5146043" cy="665483"/>
            <a:chOff x="0" y="0"/>
            <a:chExt cx="6861391" cy="887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1316736"/>
            <a:ext cx="5120640" cy="640080"/>
            <a:chOff x="0" y="0"/>
            <a:chExt cx="68275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8254" y="2081022"/>
            <a:ext cx="17271492" cy="812292"/>
            <a:chOff x="0" y="0"/>
            <a:chExt cx="23028656" cy="1083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" y="2084832"/>
            <a:ext cx="5120640" cy="694944"/>
            <a:chOff x="0" y="0"/>
            <a:chExt cx="682752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Collection Period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0127" y="2151631"/>
            <a:ext cx="5133337" cy="561337"/>
            <a:chOff x="0" y="0"/>
            <a:chExt cx="6844449" cy="74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126480" y="2157984"/>
            <a:ext cx="5120640" cy="548640"/>
            <a:chOff x="0" y="0"/>
            <a:chExt cx="682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83.07 days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0847" y="2151631"/>
            <a:ext cx="5133337" cy="561337"/>
            <a:chOff x="0" y="0"/>
            <a:chExt cx="6844449" cy="7484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57984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455.30 days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8254" y="2995422"/>
            <a:ext cx="17271492" cy="812292"/>
            <a:chOff x="0" y="0"/>
            <a:chExt cx="23028656" cy="1083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5216" y="2999232"/>
            <a:ext cx="5120640" cy="694944"/>
            <a:chOff x="0" y="0"/>
            <a:chExt cx="68275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Payment Period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20127" y="3066031"/>
            <a:ext cx="5133337" cy="561337"/>
            <a:chOff x="0" y="0"/>
            <a:chExt cx="6844449" cy="7484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126480" y="3072384"/>
            <a:ext cx="5120640" cy="548640"/>
            <a:chOff x="0" y="0"/>
            <a:chExt cx="6827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44.30 days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0847" y="3066031"/>
            <a:ext cx="5133337" cy="561337"/>
            <a:chOff x="0" y="0"/>
            <a:chExt cx="6844449" cy="748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3072384"/>
            <a:ext cx="5120640" cy="548640"/>
            <a:chOff x="0" y="0"/>
            <a:chExt cx="6827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17.65 days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254" y="3909822"/>
            <a:ext cx="17271492" cy="812292"/>
            <a:chOff x="0" y="0"/>
            <a:chExt cx="23028656" cy="1083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85216" y="3913632"/>
            <a:ext cx="5120640" cy="694944"/>
            <a:chOff x="0" y="0"/>
            <a:chExt cx="682752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Turnover Ratio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120127" y="3980431"/>
            <a:ext cx="5133337" cy="561337"/>
            <a:chOff x="0" y="0"/>
            <a:chExt cx="6844449" cy="74844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126480" y="3986784"/>
            <a:ext cx="5120640" cy="548640"/>
            <a:chOff x="0" y="0"/>
            <a:chExt cx="682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1.23 times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0847" y="3980431"/>
            <a:ext cx="5133337" cy="561337"/>
            <a:chOff x="0" y="0"/>
            <a:chExt cx="6844449" cy="74844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0" y="3986784"/>
            <a:ext cx="5120640" cy="548640"/>
            <a:chOff x="0" y="0"/>
            <a:chExt cx="6827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3.62 times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254" y="4824222"/>
            <a:ext cx="17271492" cy="812292"/>
            <a:chOff x="0" y="0"/>
            <a:chExt cx="23028656" cy="1083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585216" y="4828032"/>
            <a:ext cx="5120640" cy="694944"/>
            <a:chOff x="0" y="0"/>
            <a:chExt cx="682752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 Asset Turnover Ratio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120127" y="4894831"/>
            <a:ext cx="5133337" cy="561337"/>
            <a:chOff x="0" y="0"/>
            <a:chExt cx="6844449" cy="7484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126480" y="4901184"/>
            <a:ext cx="5120640" cy="548640"/>
            <a:chOff x="0" y="0"/>
            <a:chExt cx="68275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1.62 times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0847" y="4894831"/>
            <a:ext cx="5133337" cy="561337"/>
            <a:chOff x="0" y="0"/>
            <a:chExt cx="6844449" cy="74844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1887200" y="4901184"/>
            <a:ext cx="5120640" cy="548640"/>
            <a:chOff x="0" y="0"/>
            <a:chExt cx="6827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1.37 times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08254" y="5738622"/>
            <a:ext cx="17271492" cy="812292"/>
            <a:chOff x="0" y="0"/>
            <a:chExt cx="23028656" cy="1083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585216" y="5742432"/>
            <a:ext cx="5120640" cy="694944"/>
            <a:chOff x="0" y="0"/>
            <a:chExt cx="682752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Asset Turnover Ratio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0127" y="5809231"/>
            <a:ext cx="5133337" cy="561337"/>
            <a:chOff x="0" y="0"/>
            <a:chExt cx="6844449" cy="74844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126480" y="5815584"/>
            <a:ext cx="5120640" cy="548640"/>
            <a:chOff x="0" y="0"/>
            <a:chExt cx="682752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0.49 times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880847" y="5809231"/>
            <a:ext cx="5133337" cy="561337"/>
            <a:chOff x="0" y="0"/>
            <a:chExt cx="6844449" cy="74844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887200" y="5815584"/>
            <a:ext cx="5120640" cy="548640"/>
            <a:chOff x="0" y="0"/>
            <a:chExt cx="6827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0.66 times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05711" y="6668767"/>
            <a:ext cx="8425177" cy="3213097"/>
            <a:chOff x="0" y="0"/>
            <a:chExt cx="11233569" cy="428412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233531" cy="4284091"/>
            </a:xfrm>
            <a:custGeom>
              <a:avLst/>
              <a:gdLst/>
              <a:ahLst/>
              <a:cxnLst/>
              <a:rect r="r" b="b" t="t" l="l"/>
              <a:pathLst>
                <a:path h="428409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4284091"/>
                  </a:lnTo>
                  <a:lnTo>
                    <a:pt x="0" y="4284091"/>
                  </a:lnTo>
                  <a:close/>
                </a:path>
              </a:pathLst>
            </a:custGeom>
            <a:solidFill>
              <a:srgbClr val="EEF7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499367" y="6662423"/>
            <a:ext cx="171707" cy="3225803"/>
            <a:chOff x="0" y="0"/>
            <a:chExt cx="228943" cy="430107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8981" cy="4301109"/>
            </a:xfrm>
            <a:custGeom>
              <a:avLst/>
              <a:gdLst/>
              <a:ahLst/>
              <a:cxnLst/>
              <a:rect r="r" b="b" t="t" l="l"/>
              <a:pathLst>
                <a:path h="4301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804672" y="6803136"/>
            <a:ext cx="7863840" cy="548640"/>
            <a:chOff x="0" y="0"/>
            <a:chExt cx="1048512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Strengths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04672" y="7406640"/>
            <a:ext cx="7717536" cy="2194560"/>
            <a:chOff x="0" y="0"/>
            <a:chExt cx="10290048" cy="2926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29004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22" r="0" b="-1852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290048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3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Far superior receivables collection (83 vs 455 days)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3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Higher fixed asset utilization (1.62× vs 1.37×)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3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Efficient credit management improvement over 5 years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357103" y="6668767"/>
            <a:ext cx="8425177" cy="3213097"/>
            <a:chOff x="0" y="0"/>
            <a:chExt cx="11233569" cy="428412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233531" cy="4284091"/>
            </a:xfrm>
            <a:custGeom>
              <a:avLst/>
              <a:gdLst/>
              <a:ahLst/>
              <a:cxnLst/>
              <a:rect r="r" b="b" t="t" l="l"/>
              <a:pathLst>
                <a:path h="428409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4284091"/>
                  </a:lnTo>
                  <a:lnTo>
                    <a:pt x="0" y="4284091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50759" y="6662423"/>
            <a:ext cx="171707" cy="3225803"/>
            <a:chOff x="0" y="0"/>
            <a:chExt cx="228943" cy="430107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8981" cy="4301109"/>
            </a:xfrm>
            <a:custGeom>
              <a:avLst/>
              <a:gdLst/>
              <a:ahLst/>
              <a:cxnLst/>
              <a:rect r="r" b="b" t="t" l="l"/>
              <a:pathLst>
                <a:path h="4301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9656064" y="6803136"/>
            <a:ext cx="7863840" cy="548640"/>
            <a:chOff x="0" y="0"/>
            <a:chExt cx="1048512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Strengths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656064" y="7406640"/>
            <a:ext cx="7717536" cy="2194560"/>
            <a:chOff x="0" y="0"/>
            <a:chExt cx="10290048" cy="29260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29004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22" r="0" b="-1852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10290048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3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Higher inventory turnover (3.62× vs 1.23×)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3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Faster supplier payment (17.65 vs 44.30 days)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3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Better overall asset utilization (0.66× vs 0.49×)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LIQUIDITY RATIOS (FY 2024-25)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13783" y="1304039"/>
            <a:ext cx="5146043" cy="665483"/>
            <a:chOff x="0" y="0"/>
            <a:chExt cx="6861391" cy="887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26480" y="1316736"/>
            <a:ext cx="5120640" cy="640080"/>
            <a:chOff x="0" y="0"/>
            <a:chExt cx="68275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74503" y="1304039"/>
            <a:ext cx="5146043" cy="665483"/>
            <a:chOff x="0" y="0"/>
            <a:chExt cx="6861391" cy="887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1316736"/>
            <a:ext cx="5120640" cy="640080"/>
            <a:chOff x="0" y="0"/>
            <a:chExt cx="68275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8254" y="2081022"/>
            <a:ext cx="17271492" cy="812292"/>
            <a:chOff x="0" y="0"/>
            <a:chExt cx="23028656" cy="1083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" y="2084832"/>
            <a:ext cx="5120640" cy="694944"/>
            <a:chOff x="0" y="0"/>
            <a:chExt cx="682752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Ratio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0127" y="2151631"/>
            <a:ext cx="5133337" cy="561337"/>
            <a:chOff x="0" y="0"/>
            <a:chExt cx="6844449" cy="74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126480" y="2157984"/>
            <a:ext cx="5120640" cy="548640"/>
            <a:chOff x="0" y="0"/>
            <a:chExt cx="682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1.46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0847" y="2151631"/>
            <a:ext cx="5133337" cy="561337"/>
            <a:chOff x="0" y="0"/>
            <a:chExt cx="6844449" cy="7484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57984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8254" y="2995422"/>
            <a:ext cx="17271492" cy="812292"/>
            <a:chOff x="0" y="0"/>
            <a:chExt cx="23028656" cy="1083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5216" y="2999232"/>
            <a:ext cx="5120640" cy="694944"/>
            <a:chOff x="0" y="0"/>
            <a:chExt cx="68275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Quick Ratio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20127" y="3066031"/>
            <a:ext cx="5133337" cy="561337"/>
            <a:chOff x="0" y="0"/>
            <a:chExt cx="6844449" cy="7484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126480" y="3072384"/>
            <a:ext cx="5120640" cy="548640"/>
            <a:chOff x="0" y="0"/>
            <a:chExt cx="6827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0847" y="3066031"/>
            <a:ext cx="5133337" cy="561337"/>
            <a:chOff x="0" y="0"/>
            <a:chExt cx="6844449" cy="748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3072384"/>
            <a:ext cx="5120640" cy="548640"/>
            <a:chOff x="0" y="0"/>
            <a:chExt cx="6827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0.69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12064" y="4059936"/>
            <a:ext cx="17263872" cy="640080"/>
            <a:chOff x="0" y="0"/>
            <a:chExt cx="23018496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18496" cy="853440"/>
            </a:xfrm>
            <a:custGeom>
              <a:avLst/>
              <a:gdLst/>
              <a:ahLst/>
              <a:cxnLst/>
              <a:rect r="r" b="b" t="t" l="l"/>
              <a:pathLst>
                <a:path h="85344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539" r="0" b="-47553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3018496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Industry Benchmark: Current Ratio ≥ 1.0  |  Quick Ratio ≥ 1.0  (Both companies fall below quick ratio benchmark — typical for Bangladesh spinning sector)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5711" y="4931407"/>
            <a:ext cx="8425177" cy="4859017"/>
            <a:chOff x="0" y="0"/>
            <a:chExt cx="11233569" cy="64786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233531" cy="6478651"/>
            </a:xfrm>
            <a:custGeom>
              <a:avLst/>
              <a:gdLst/>
              <a:ahLst/>
              <a:cxnLst/>
              <a:rect r="r" b="b" t="t" l="l"/>
              <a:pathLst>
                <a:path h="647865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478651"/>
                  </a:lnTo>
                  <a:lnTo>
                    <a:pt x="0" y="64786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499367" y="4925063"/>
            <a:ext cx="8437883" cy="720347"/>
            <a:chOff x="0" y="0"/>
            <a:chExt cx="11250511" cy="9604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250549" cy="960501"/>
            </a:xfrm>
            <a:custGeom>
              <a:avLst/>
              <a:gdLst/>
              <a:ahLst/>
              <a:cxnLst/>
              <a:rect r="r" b="b" t="t" l="l"/>
              <a:pathLst>
                <a:path h="96050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12064" y="4937760"/>
            <a:ext cx="8412480" cy="694944"/>
            <a:chOff x="0" y="0"/>
            <a:chExt cx="11216640" cy="926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— 5-Year Liquidity Trend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08254" y="5628894"/>
            <a:ext cx="8420100" cy="702564"/>
            <a:chOff x="0" y="0"/>
            <a:chExt cx="11226800" cy="9367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40080" y="5632704"/>
            <a:ext cx="2560320" cy="694944"/>
            <a:chOff x="0" y="0"/>
            <a:chExt cx="341376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200400" y="5632704"/>
            <a:ext cx="2743200" cy="694944"/>
            <a:chOff x="0" y="0"/>
            <a:chExt cx="365760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Ratio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943600" y="5632704"/>
            <a:ext cx="2743200" cy="694944"/>
            <a:chOff x="0" y="0"/>
            <a:chExt cx="365760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Ratio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8254" y="6323838"/>
            <a:ext cx="8420100" cy="702564"/>
            <a:chOff x="0" y="0"/>
            <a:chExt cx="11226800" cy="936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40080" y="6327648"/>
            <a:ext cx="2560320" cy="694944"/>
            <a:chOff x="0" y="0"/>
            <a:chExt cx="341376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2020-21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200400" y="6327648"/>
            <a:ext cx="2743200" cy="694944"/>
            <a:chOff x="0" y="0"/>
            <a:chExt cx="365760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1.72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943600" y="6327648"/>
            <a:ext cx="2743200" cy="694944"/>
            <a:chOff x="0" y="0"/>
            <a:chExt cx="365760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08254" y="7018782"/>
            <a:ext cx="8420100" cy="702564"/>
            <a:chOff x="0" y="0"/>
            <a:chExt cx="11226800" cy="936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640080" y="7022592"/>
            <a:ext cx="2560320" cy="694944"/>
            <a:chOff x="0" y="0"/>
            <a:chExt cx="341376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2021-22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200400" y="7022592"/>
            <a:ext cx="2743200" cy="694944"/>
            <a:chOff x="0" y="0"/>
            <a:chExt cx="3657600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1.67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943600" y="7022592"/>
            <a:ext cx="2743200" cy="694944"/>
            <a:chOff x="0" y="0"/>
            <a:chExt cx="3657600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0.90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08254" y="7713726"/>
            <a:ext cx="8420100" cy="702564"/>
            <a:chOff x="0" y="0"/>
            <a:chExt cx="11226800" cy="936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640080" y="7717536"/>
            <a:ext cx="2560320" cy="694944"/>
            <a:chOff x="0" y="0"/>
            <a:chExt cx="341376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2022-23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3200400" y="7717536"/>
            <a:ext cx="2743200" cy="694944"/>
            <a:chOff x="0" y="0"/>
            <a:chExt cx="365760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1.65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943600" y="7717536"/>
            <a:ext cx="2743200" cy="694944"/>
            <a:chOff x="0" y="0"/>
            <a:chExt cx="3657600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0.71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08254" y="8408670"/>
            <a:ext cx="8420100" cy="702564"/>
            <a:chOff x="0" y="0"/>
            <a:chExt cx="11226800" cy="936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640080" y="8412480"/>
            <a:ext cx="2560320" cy="694944"/>
            <a:chOff x="0" y="0"/>
            <a:chExt cx="3413760" cy="926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2023-24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3200400" y="8412480"/>
            <a:ext cx="2743200" cy="694944"/>
            <a:chOff x="0" y="0"/>
            <a:chExt cx="3657600" cy="92659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1.47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943600" y="8412480"/>
            <a:ext cx="2743200" cy="694944"/>
            <a:chOff x="0" y="0"/>
            <a:chExt cx="3657600" cy="9265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0.45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508254" y="9103614"/>
            <a:ext cx="8420100" cy="702564"/>
            <a:chOff x="0" y="0"/>
            <a:chExt cx="11226800" cy="936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640080" y="9107424"/>
            <a:ext cx="2560320" cy="694944"/>
            <a:chOff x="0" y="0"/>
            <a:chExt cx="3413760" cy="9265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2024-25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3200400" y="9107424"/>
            <a:ext cx="2743200" cy="694944"/>
            <a:chOff x="0" y="0"/>
            <a:chExt cx="3657600" cy="9265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1.46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5943600" y="9107424"/>
            <a:ext cx="2743200" cy="694944"/>
            <a:chOff x="0" y="0"/>
            <a:chExt cx="3657600" cy="9265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657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0.44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357103" y="4931407"/>
            <a:ext cx="8425177" cy="4859017"/>
            <a:chOff x="0" y="0"/>
            <a:chExt cx="11233569" cy="64786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233531" cy="6478651"/>
            </a:xfrm>
            <a:custGeom>
              <a:avLst/>
              <a:gdLst/>
              <a:ahLst/>
              <a:cxnLst/>
              <a:rect r="r" b="b" t="t" l="l"/>
              <a:pathLst>
                <a:path h="647865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478651"/>
                  </a:lnTo>
                  <a:lnTo>
                    <a:pt x="0" y="6478651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9350759" y="4925063"/>
            <a:ext cx="8437883" cy="720347"/>
            <a:chOff x="0" y="0"/>
            <a:chExt cx="11250511" cy="96046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250549" cy="960501"/>
            </a:xfrm>
            <a:custGeom>
              <a:avLst/>
              <a:gdLst/>
              <a:ahLst/>
              <a:cxnLst/>
              <a:rect r="r" b="b" t="t" l="l"/>
              <a:pathLst>
                <a:path h="96050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9363456" y="4937760"/>
            <a:ext cx="8412480" cy="694944"/>
            <a:chOff x="0" y="0"/>
            <a:chExt cx="11216640" cy="92659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509760" y="5815584"/>
            <a:ext cx="8083296" cy="731520"/>
            <a:chOff x="0" y="0"/>
            <a:chExt cx="10777728" cy="97536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777728" cy="975360"/>
            </a:xfrm>
            <a:custGeom>
              <a:avLst/>
              <a:gdLst/>
              <a:ahLst/>
              <a:cxnLst/>
              <a:rect r="r" b="b" t="t" l="l"/>
              <a:pathLst>
                <a:path h="97536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107777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Malek's Current Ratio (1.46) is stronger than Matin (1.12), indicating better near-term solvency.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509760" y="6601968"/>
            <a:ext cx="8083296" cy="731520"/>
            <a:chOff x="0" y="0"/>
            <a:chExt cx="10777728" cy="97536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777728" cy="975360"/>
            </a:xfrm>
            <a:custGeom>
              <a:avLst/>
              <a:gdLst/>
              <a:ahLst/>
              <a:cxnLst/>
              <a:rect r="r" b="b" t="t" l="l"/>
              <a:pathLst>
                <a:path h="97536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107777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Matin's Quick Ratio (0.69) edges Malek (0.44) due to higher cash/receivable relative to inventory.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509760" y="7388352"/>
            <a:ext cx="8083296" cy="731520"/>
            <a:chOff x="0" y="0"/>
            <a:chExt cx="10777728" cy="97536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777728" cy="975360"/>
            </a:xfrm>
            <a:custGeom>
              <a:avLst/>
              <a:gdLst/>
              <a:ahLst/>
              <a:cxnLst/>
              <a:rect r="r" b="b" t="t" l="l"/>
              <a:pathLst>
                <a:path h="97536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07777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Malek's inventory surged from BDT 1.81B (FY22) to BDT 3.13B (FY25), weighing on quick ratio.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509760" y="8174736"/>
            <a:ext cx="8083296" cy="731520"/>
            <a:chOff x="0" y="0"/>
            <a:chExt cx="10777728" cy="9753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777728" cy="975360"/>
            </a:xfrm>
            <a:custGeom>
              <a:avLst/>
              <a:gdLst/>
              <a:ahLst/>
              <a:cxnLst/>
              <a:rect r="r" b="b" t="t" l="l"/>
              <a:pathLst>
                <a:path h="97536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107777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Both companies rely heavily on short-term debt — a structural feature of Bangladesh spinning sector.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509760" y="8961120"/>
            <a:ext cx="8083296" cy="731520"/>
            <a:chOff x="0" y="0"/>
            <a:chExt cx="10777728" cy="97536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0777728" cy="975360"/>
            </a:xfrm>
            <a:custGeom>
              <a:avLst/>
              <a:gdLst/>
              <a:ahLst/>
              <a:cxnLst/>
              <a:rect r="r" b="b" t="t" l="l"/>
              <a:pathLst>
                <a:path h="97536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09" r="0" b="-165309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107777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Recommendation: Optimize inventory levels and reduce short-term borrowings for both companies.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DEBT MANAGEMENT RATIOS (FY 2024-25)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13783" y="1304039"/>
            <a:ext cx="5146043" cy="665483"/>
            <a:chOff x="0" y="0"/>
            <a:chExt cx="6861391" cy="887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26480" y="1316736"/>
            <a:ext cx="5120640" cy="640080"/>
            <a:chOff x="0" y="0"/>
            <a:chExt cx="68275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74503" y="1304039"/>
            <a:ext cx="5146043" cy="665483"/>
            <a:chOff x="0" y="0"/>
            <a:chExt cx="6861391" cy="887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1316736"/>
            <a:ext cx="5120640" cy="640080"/>
            <a:chOff x="0" y="0"/>
            <a:chExt cx="68275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8254" y="2081022"/>
            <a:ext cx="17271492" cy="812292"/>
            <a:chOff x="0" y="0"/>
            <a:chExt cx="23028656" cy="1083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" y="2084832"/>
            <a:ext cx="5120640" cy="694944"/>
            <a:chOff x="0" y="0"/>
            <a:chExt cx="682752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Debt-to-Asset Ratio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0127" y="2151631"/>
            <a:ext cx="5133337" cy="561337"/>
            <a:chOff x="0" y="0"/>
            <a:chExt cx="6844449" cy="74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126480" y="2157984"/>
            <a:ext cx="5120640" cy="548640"/>
            <a:chOff x="0" y="0"/>
            <a:chExt cx="682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0.4847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0847" y="2151631"/>
            <a:ext cx="5133337" cy="561337"/>
            <a:chOff x="0" y="0"/>
            <a:chExt cx="6844449" cy="7484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57984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8254" y="2995422"/>
            <a:ext cx="17271492" cy="812292"/>
            <a:chOff x="0" y="0"/>
            <a:chExt cx="23028656" cy="1083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5216" y="2999232"/>
            <a:ext cx="5120640" cy="694944"/>
            <a:chOff x="0" y="0"/>
            <a:chExt cx="68275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Times Interest Earned (TIE)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20127" y="3066031"/>
            <a:ext cx="5133337" cy="561337"/>
            <a:chOff x="0" y="0"/>
            <a:chExt cx="6844449" cy="7484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126480" y="3072384"/>
            <a:ext cx="5120640" cy="548640"/>
            <a:chOff x="0" y="0"/>
            <a:chExt cx="6827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2.16×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0847" y="3066031"/>
            <a:ext cx="5133337" cy="561337"/>
            <a:chOff x="0" y="0"/>
            <a:chExt cx="6844449" cy="748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3072384"/>
            <a:ext cx="5120640" cy="548640"/>
            <a:chOff x="0" y="0"/>
            <a:chExt cx="6827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2.56×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5711" y="4053583"/>
            <a:ext cx="8425177" cy="5224777"/>
            <a:chOff x="0" y="0"/>
            <a:chExt cx="11233569" cy="69663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33531" cy="6966331"/>
            </a:xfrm>
            <a:custGeom>
              <a:avLst/>
              <a:gdLst/>
              <a:ahLst/>
              <a:cxnLst/>
              <a:rect r="r" b="b" t="t" l="l"/>
              <a:pathLst>
                <a:path h="696633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966331"/>
                  </a:lnTo>
                  <a:lnTo>
                    <a:pt x="0" y="69663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99367" y="4047239"/>
            <a:ext cx="8437883" cy="720347"/>
            <a:chOff x="0" y="0"/>
            <a:chExt cx="11250511" cy="9604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50549" cy="960501"/>
            </a:xfrm>
            <a:custGeom>
              <a:avLst/>
              <a:gdLst/>
              <a:ahLst/>
              <a:cxnLst/>
              <a:rect r="r" b="b" t="t" l="l"/>
              <a:pathLst>
                <a:path h="96050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12064" y="4059936"/>
            <a:ext cx="8412480" cy="694944"/>
            <a:chOff x="0" y="0"/>
            <a:chExt cx="1121664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— Debt Trend (5 Years)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08254" y="4751070"/>
            <a:ext cx="8420100" cy="702564"/>
            <a:chOff x="0" y="0"/>
            <a:chExt cx="11226800" cy="936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40080" y="4754880"/>
            <a:ext cx="2651760" cy="694944"/>
            <a:chOff x="0" y="0"/>
            <a:chExt cx="353568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291840" y="4754880"/>
            <a:ext cx="2560320" cy="694944"/>
            <a:chOff x="0" y="0"/>
            <a:chExt cx="341376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D/A Ratio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852160" y="4754880"/>
            <a:ext cx="2834640" cy="694944"/>
            <a:chOff x="0" y="0"/>
            <a:chExt cx="377952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8254" y="5446014"/>
            <a:ext cx="8420100" cy="702564"/>
            <a:chOff x="0" y="0"/>
            <a:chExt cx="11226800" cy="936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640080" y="5449824"/>
            <a:ext cx="2651760" cy="694944"/>
            <a:chOff x="0" y="0"/>
            <a:chExt cx="353568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2020-21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291840" y="5449824"/>
            <a:ext cx="2560320" cy="694944"/>
            <a:chOff x="0" y="0"/>
            <a:chExt cx="341376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0.3457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852160" y="5449824"/>
            <a:ext cx="2834640" cy="694944"/>
            <a:chOff x="0" y="0"/>
            <a:chExt cx="377952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6.93×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08254" y="6140958"/>
            <a:ext cx="8420100" cy="702564"/>
            <a:chOff x="0" y="0"/>
            <a:chExt cx="11226800" cy="936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40080" y="6144768"/>
            <a:ext cx="2651760" cy="694944"/>
            <a:chOff x="0" y="0"/>
            <a:chExt cx="3535680" cy="9265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2021-22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291840" y="6144768"/>
            <a:ext cx="2560320" cy="694944"/>
            <a:chOff x="0" y="0"/>
            <a:chExt cx="341376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0.3511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852160" y="6144768"/>
            <a:ext cx="2834640" cy="694944"/>
            <a:chOff x="0" y="0"/>
            <a:chExt cx="3779520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7.47×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08254" y="6835902"/>
            <a:ext cx="8420100" cy="702564"/>
            <a:chOff x="0" y="0"/>
            <a:chExt cx="11226800" cy="936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640080" y="6839712"/>
            <a:ext cx="2651760" cy="694944"/>
            <a:chOff x="0" y="0"/>
            <a:chExt cx="353568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2022-23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291840" y="6839712"/>
            <a:ext cx="2560320" cy="694944"/>
            <a:chOff x="0" y="0"/>
            <a:chExt cx="341376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0.4371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852160" y="6839712"/>
            <a:ext cx="2834640" cy="694944"/>
            <a:chOff x="0" y="0"/>
            <a:chExt cx="377952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(6.45×)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8254" y="7530846"/>
            <a:ext cx="8420100" cy="702564"/>
            <a:chOff x="0" y="0"/>
            <a:chExt cx="11226800" cy="936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640080" y="7534656"/>
            <a:ext cx="2651760" cy="694944"/>
            <a:chOff x="0" y="0"/>
            <a:chExt cx="3535680" cy="9265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2023-24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3291840" y="7534656"/>
            <a:ext cx="2560320" cy="694944"/>
            <a:chOff x="0" y="0"/>
            <a:chExt cx="3413760" cy="926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0.5257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852160" y="7534656"/>
            <a:ext cx="2834640" cy="694944"/>
            <a:chOff x="0" y="0"/>
            <a:chExt cx="3779520" cy="92659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2.08×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08254" y="8225790"/>
            <a:ext cx="8420100" cy="702564"/>
            <a:chOff x="0" y="0"/>
            <a:chExt cx="11226800" cy="936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226800" cy="936752"/>
            </a:xfrm>
            <a:custGeom>
              <a:avLst/>
              <a:gdLst/>
              <a:ahLst/>
              <a:cxnLst/>
              <a:rect r="r" b="b" t="t" l="l"/>
              <a:pathLst>
                <a:path h="936752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936752"/>
                  </a:lnTo>
                  <a:lnTo>
                    <a:pt x="0" y="93675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640080" y="8229600"/>
            <a:ext cx="2651760" cy="694944"/>
            <a:chOff x="0" y="0"/>
            <a:chExt cx="3535680" cy="92659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5356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 2024-25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291840" y="8229600"/>
            <a:ext cx="2560320" cy="694944"/>
            <a:chOff x="0" y="0"/>
            <a:chExt cx="3413760" cy="92659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0.4847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852160" y="8229600"/>
            <a:ext cx="2834640" cy="694944"/>
            <a:chOff x="0" y="0"/>
            <a:chExt cx="3779520" cy="9265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77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8" r="0" b="-2947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3779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2.16×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357103" y="4053583"/>
            <a:ext cx="8425177" cy="5224777"/>
            <a:chOff x="0" y="0"/>
            <a:chExt cx="11233569" cy="696636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233531" cy="6966331"/>
            </a:xfrm>
            <a:custGeom>
              <a:avLst/>
              <a:gdLst/>
              <a:ahLst/>
              <a:cxnLst/>
              <a:rect r="r" b="b" t="t" l="l"/>
              <a:pathLst>
                <a:path h="696633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966331"/>
                  </a:lnTo>
                  <a:lnTo>
                    <a:pt x="0" y="6966331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9350759" y="4047239"/>
            <a:ext cx="8437883" cy="720347"/>
            <a:chOff x="0" y="0"/>
            <a:chExt cx="11250511" cy="96046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250549" cy="960501"/>
            </a:xfrm>
            <a:custGeom>
              <a:avLst/>
              <a:gdLst/>
              <a:ahLst/>
              <a:cxnLst/>
              <a:rect r="r" b="b" t="t" l="l"/>
              <a:pathLst>
                <a:path h="96050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9363456" y="4059936"/>
            <a:ext cx="8412480" cy="694944"/>
            <a:chOff x="0" y="0"/>
            <a:chExt cx="11216640" cy="92659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112166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509760" y="4937760"/>
            <a:ext cx="8083296" cy="804672"/>
            <a:chOff x="0" y="0"/>
            <a:chExt cx="10777728" cy="107289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77772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736" r="0" b="-145736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1077772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Malek's D/A ratio peaked at 0.5257 (FY24) during debt-driven expansion — now declining to 0.4847.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509760" y="5815584"/>
            <a:ext cx="8083296" cy="804672"/>
            <a:chOff x="0" y="0"/>
            <a:chExt cx="10777728" cy="107289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77772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736" r="0" b="-14573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1077772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Matin's slightly higher D/A (0.51) backed by larger asset base of BDT 13.9 billion.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509760" y="6693408"/>
            <a:ext cx="8083296" cy="804672"/>
            <a:chOff x="0" y="0"/>
            <a:chExt cx="10777728" cy="107289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77772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736" r="0" b="-14573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1077772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Matin's TIE (2.56×) is stronger than Malek's (2.16×) — reflecting better operating margins.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509760" y="7571232"/>
            <a:ext cx="8083296" cy="804672"/>
            <a:chOff x="0" y="0"/>
            <a:chExt cx="10777728" cy="107289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77772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736" r="0" b="-14573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077772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Both companies carry thin interest coverage margins — vulnerability to operating downturns.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509760" y="8449056"/>
            <a:ext cx="8083296" cy="804672"/>
            <a:chOff x="0" y="0"/>
            <a:chExt cx="10777728" cy="107289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77772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736" r="0" b="-14573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10777728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Malek's pre-crisis TIE of 7×+ has not been restored — continued operating improvements needed.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505711" y="9466831"/>
            <a:ext cx="17276569" cy="524761"/>
            <a:chOff x="0" y="0"/>
            <a:chExt cx="23035425" cy="69968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3035388" cy="699643"/>
            </a:xfrm>
            <a:custGeom>
              <a:avLst/>
              <a:gdLst/>
              <a:ahLst/>
              <a:cxnLst/>
              <a:rect r="r" b="b" t="t" l="l"/>
              <a:pathLst>
                <a:path h="699643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694944" y="9546336"/>
            <a:ext cx="16824960" cy="438912"/>
            <a:chOff x="0" y="0"/>
            <a:chExt cx="22433280" cy="58521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2433280" cy="585216"/>
            </a:xfrm>
            <a:custGeom>
              <a:avLst/>
              <a:gdLst/>
              <a:ahLst/>
              <a:cxnLst/>
              <a:rect r="r" b="b" t="t" l="l"/>
              <a:pathLst>
                <a:path h="5852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22433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Malek FY25 Debt Mix: Long-Term BDT 1,101M  |  Current Portion LT BDT 298M  |  Short-Term BDT 917M  |  Director Loan BDT 100M  |  Total Debt BDT 2,416M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RATIOS (FY 2024-25)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13783" y="1304039"/>
            <a:ext cx="5146043" cy="665483"/>
            <a:chOff x="0" y="0"/>
            <a:chExt cx="6861391" cy="887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126480" y="1316736"/>
            <a:ext cx="5120640" cy="640080"/>
            <a:chOff x="0" y="0"/>
            <a:chExt cx="68275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74503" y="1304039"/>
            <a:ext cx="5146043" cy="665483"/>
            <a:chOff x="0" y="0"/>
            <a:chExt cx="6861391" cy="887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1316736"/>
            <a:ext cx="5120640" cy="640080"/>
            <a:chOff x="0" y="0"/>
            <a:chExt cx="68275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8254" y="2081022"/>
            <a:ext cx="17271492" cy="812292"/>
            <a:chOff x="0" y="0"/>
            <a:chExt cx="23028656" cy="1083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" y="2084832"/>
            <a:ext cx="5120640" cy="694944"/>
            <a:chOff x="0" y="0"/>
            <a:chExt cx="682752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EPS (Standalone)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20127" y="2151631"/>
            <a:ext cx="5133337" cy="561337"/>
            <a:chOff x="0" y="0"/>
            <a:chExt cx="6844449" cy="7484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126480" y="2157984"/>
            <a:ext cx="5120640" cy="548640"/>
            <a:chOff x="0" y="0"/>
            <a:chExt cx="682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1.21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0847" y="2151631"/>
            <a:ext cx="5133337" cy="561337"/>
            <a:chOff x="0" y="0"/>
            <a:chExt cx="6844449" cy="7484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57984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4.70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8254" y="2995422"/>
            <a:ext cx="17271492" cy="812292"/>
            <a:chOff x="0" y="0"/>
            <a:chExt cx="23028656" cy="1083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5216" y="2999232"/>
            <a:ext cx="5120640" cy="694944"/>
            <a:chOff x="0" y="0"/>
            <a:chExt cx="68275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Price Per Share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20127" y="3066031"/>
            <a:ext cx="5133337" cy="561337"/>
            <a:chOff x="0" y="0"/>
            <a:chExt cx="6844449" cy="7484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126480" y="3072384"/>
            <a:ext cx="5120640" cy="548640"/>
            <a:chOff x="0" y="0"/>
            <a:chExt cx="6827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23.00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80847" y="3066031"/>
            <a:ext cx="5133337" cy="561337"/>
            <a:chOff x="0" y="0"/>
            <a:chExt cx="6844449" cy="748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3072384"/>
            <a:ext cx="5120640" cy="548640"/>
            <a:chOff x="0" y="0"/>
            <a:chExt cx="6827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45.30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254" y="3909822"/>
            <a:ext cx="17271492" cy="812292"/>
            <a:chOff x="0" y="0"/>
            <a:chExt cx="23028656" cy="1083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85216" y="3913632"/>
            <a:ext cx="5120640" cy="694944"/>
            <a:chOff x="0" y="0"/>
            <a:chExt cx="682752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P/E Ratio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120127" y="3980431"/>
            <a:ext cx="5133337" cy="561337"/>
            <a:chOff x="0" y="0"/>
            <a:chExt cx="6844449" cy="74844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126480" y="3986784"/>
            <a:ext cx="5120640" cy="548640"/>
            <a:chOff x="0" y="0"/>
            <a:chExt cx="682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19.0×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0847" y="3980431"/>
            <a:ext cx="5133337" cy="561337"/>
            <a:chOff x="0" y="0"/>
            <a:chExt cx="6844449" cy="74844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0" y="3986784"/>
            <a:ext cx="5120640" cy="548640"/>
            <a:chOff x="0" y="0"/>
            <a:chExt cx="6827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9.64×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254" y="4824222"/>
            <a:ext cx="17271492" cy="812292"/>
            <a:chOff x="0" y="0"/>
            <a:chExt cx="23028656" cy="1083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585216" y="4828032"/>
            <a:ext cx="5120640" cy="694944"/>
            <a:chOff x="0" y="0"/>
            <a:chExt cx="682752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Shares Outstanding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120127" y="4894831"/>
            <a:ext cx="5133337" cy="561337"/>
            <a:chOff x="0" y="0"/>
            <a:chExt cx="6844449" cy="7484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126480" y="4901184"/>
            <a:ext cx="5120640" cy="548640"/>
            <a:chOff x="0" y="0"/>
            <a:chExt cx="68275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193.6 million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0847" y="4894831"/>
            <a:ext cx="5133337" cy="561337"/>
            <a:chOff x="0" y="0"/>
            <a:chExt cx="6844449" cy="74844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1887200" y="4901184"/>
            <a:ext cx="5120640" cy="548640"/>
            <a:chOff x="0" y="0"/>
            <a:chExt cx="6827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97.49 million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08254" y="5738622"/>
            <a:ext cx="17271492" cy="812292"/>
            <a:chOff x="0" y="0"/>
            <a:chExt cx="23028656" cy="1083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028656" cy="1083056"/>
            </a:xfrm>
            <a:custGeom>
              <a:avLst/>
              <a:gdLst/>
              <a:ahLst/>
              <a:cxnLst/>
              <a:rect r="r" b="b" t="t" l="l"/>
              <a:pathLst>
                <a:path h="108305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83056"/>
                  </a:lnTo>
                  <a:lnTo>
                    <a:pt x="0" y="108305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585216" y="5742432"/>
            <a:ext cx="5120640" cy="694944"/>
            <a:chOff x="0" y="0"/>
            <a:chExt cx="682752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 Income (BDT)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0127" y="5809231"/>
            <a:ext cx="5133337" cy="561337"/>
            <a:chOff x="0" y="0"/>
            <a:chExt cx="6844449" cy="74844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FDECEA"/>
            </a:solidFill>
            <a:ln w="127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126480" y="5815584"/>
            <a:ext cx="5120640" cy="548640"/>
            <a:chOff x="0" y="0"/>
            <a:chExt cx="682752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233.44 million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880847" y="5809231"/>
            <a:ext cx="5133337" cy="561337"/>
            <a:chOff x="0" y="0"/>
            <a:chExt cx="6844449" cy="74844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844411" cy="748411"/>
            </a:xfrm>
            <a:custGeom>
              <a:avLst/>
              <a:gdLst/>
              <a:ahLst/>
              <a:cxnLst/>
              <a:rect r="r" b="b" t="t" l="l"/>
              <a:pathLst>
                <a:path h="748411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48411"/>
                  </a:lnTo>
                  <a:lnTo>
                    <a:pt x="0" y="748411"/>
                  </a:lnTo>
                  <a:close/>
                </a:path>
              </a:pathLst>
            </a:custGeom>
            <a:solidFill>
              <a:srgbClr val="E8F5EE"/>
            </a:solidFill>
            <a:ln w="127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887200" y="5815584"/>
            <a:ext cx="5120640" cy="548640"/>
            <a:chOff x="0" y="0"/>
            <a:chExt cx="6827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457.97 million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05711" y="6760207"/>
            <a:ext cx="8425177" cy="3030217"/>
            <a:chOff x="0" y="0"/>
            <a:chExt cx="11233569" cy="404028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233531" cy="4040251"/>
            </a:xfrm>
            <a:custGeom>
              <a:avLst/>
              <a:gdLst/>
              <a:ahLst/>
              <a:cxnLst/>
              <a:rect r="r" b="b" t="t" l="l"/>
              <a:pathLst>
                <a:path h="404025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4040251"/>
                  </a:lnTo>
                  <a:lnTo>
                    <a:pt x="0" y="404025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499367" y="6753863"/>
            <a:ext cx="8437883" cy="665483"/>
            <a:chOff x="0" y="0"/>
            <a:chExt cx="11250511" cy="88731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512064" y="6766560"/>
            <a:ext cx="8412480" cy="640080"/>
            <a:chOff x="0" y="0"/>
            <a:chExt cx="11216640" cy="8534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— EPS &amp; P/E Trend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08254" y="7402830"/>
            <a:ext cx="8420100" cy="483108"/>
            <a:chOff x="0" y="0"/>
            <a:chExt cx="11226800" cy="64414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640080" y="7406640"/>
            <a:ext cx="2194560" cy="475488"/>
            <a:chOff x="0" y="0"/>
            <a:chExt cx="292608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92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834640" y="7406640"/>
            <a:ext cx="2926080" cy="475488"/>
            <a:chOff x="0" y="0"/>
            <a:chExt cx="3901440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EPS (Tk.)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760720" y="7406640"/>
            <a:ext cx="2926080" cy="475488"/>
            <a:chOff x="0" y="0"/>
            <a:chExt cx="390144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P/E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8254" y="7878318"/>
            <a:ext cx="8420100" cy="483108"/>
            <a:chOff x="0" y="0"/>
            <a:chExt cx="11226800" cy="64414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640080" y="7882128"/>
            <a:ext cx="2194560" cy="475488"/>
            <a:chOff x="0" y="0"/>
            <a:chExt cx="2926080" cy="63398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92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FY21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2834640" y="7882128"/>
            <a:ext cx="2926080" cy="475488"/>
            <a:chOff x="0" y="0"/>
            <a:chExt cx="3901440" cy="63398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1.29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760720" y="7882128"/>
            <a:ext cx="2926080" cy="475488"/>
            <a:chOff x="0" y="0"/>
            <a:chExt cx="3901440" cy="63398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24.13×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508254" y="8353806"/>
            <a:ext cx="8420100" cy="483108"/>
            <a:chOff x="0" y="0"/>
            <a:chExt cx="11226800" cy="64414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640080" y="8357616"/>
            <a:ext cx="2194560" cy="475488"/>
            <a:chOff x="0" y="0"/>
            <a:chExt cx="2926080" cy="63398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92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FY22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2834640" y="8357616"/>
            <a:ext cx="2926080" cy="475488"/>
            <a:chOff x="0" y="0"/>
            <a:chExt cx="3901440" cy="6339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1.25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5760720" y="8357616"/>
            <a:ext cx="2926080" cy="475488"/>
            <a:chOff x="0" y="0"/>
            <a:chExt cx="3901440" cy="63398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23.20×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508254" y="8829294"/>
            <a:ext cx="8420100" cy="483108"/>
            <a:chOff x="0" y="0"/>
            <a:chExt cx="11226800" cy="64414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640080" y="8833104"/>
            <a:ext cx="2194560" cy="475488"/>
            <a:chOff x="0" y="0"/>
            <a:chExt cx="2926080" cy="6339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292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FY23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2834640" y="8833104"/>
            <a:ext cx="2926080" cy="475488"/>
            <a:chOff x="0" y="0"/>
            <a:chExt cx="3901440" cy="63398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(2.58)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5760720" y="8833104"/>
            <a:ext cx="2926080" cy="475488"/>
            <a:chOff x="0" y="0"/>
            <a:chExt cx="3901440" cy="63398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N/A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508254" y="9304782"/>
            <a:ext cx="8420100" cy="483108"/>
            <a:chOff x="0" y="0"/>
            <a:chExt cx="11226800" cy="64414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640080" y="9308592"/>
            <a:ext cx="2194560" cy="475488"/>
            <a:chOff x="0" y="0"/>
            <a:chExt cx="2926080" cy="63398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292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FY24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2834640" y="9308592"/>
            <a:ext cx="2926080" cy="475488"/>
            <a:chOff x="0" y="0"/>
            <a:chExt cx="3901440" cy="633984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1.10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5760720" y="9308592"/>
            <a:ext cx="2926080" cy="475488"/>
            <a:chOff x="0" y="0"/>
            <a:chExt cx="3901440" cy="633984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28.18×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508254" y="9780270"/>
            <a:ext cx="8420100" cy="483108"/>
            <a:chOff x="0" y="0"/>
            <a:chExt cx="11226800" cy="64414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640080" y="9784080"/>
            <a:ext cx="2194560" cy="475488"/>
            <a:chOff x="0" y="0"/>
            <a:chExt cx="2926080" cy="63398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92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292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FY25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2834640" y="9784080"/>
            <a:ext cx="2926080" cy="475488"/>
            <a:chOff x="0" y="0"/>
            <a:chExt cx="3901440" cy="63398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1.21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5760720" y="9784080"/>
            <a:ext cx="2926080" cy="475488"/>
            <a:chOff x="0" y="0"/>
            <a:chExt cx="3901440" cy="633984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901440" cy="633984"/>
            </a:xfrm>
            <a:custGeom>
              <a:avLst/>
              <a:gdLst/>
              <a:ahLst/>
              <a:cxnLst/>
              <a:rect r="r" b="b" t="t" l="l"/>
              <a:pathLst>
                <a:path h="63398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3901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19.00×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9357103" y="6760207"/>
            <a:ext cx="8425177" cy="3499361"/>
            <a:chOff x="0" y="0"/>
            <a:chExt cx="11233569" cy="4665815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1233531" cy="4665771"/>
            </a:xfrm>
            <a:custGeom>
              <a:avLst/>
              <a:gdLst/>
              <a:ahLst/>
              <a:cxnLst/>
              <a:rect r="r" b="b" t="t" l="l"/>
              <a:pathLst>
                <a:path h="466577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4665771"/>
                  </a:lnTo>
                  <a:lnTo>
                    <a:pt x="0" y="4665771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9350759" y="6753863"/>
            <a:ext cx="8437883" cy="665483"/>
            <a:chOff x="0" y="0"/>
            <a:chExt cx="11250511" cy="88731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9363456" y="6766560"/>
            <a:ext cx="8412480" cy="640080"/>
            <a:chOff x="0" y="0"/>
            <a:chExt cx="11216640" cy="853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9509760" y="7552944"/>
            <a:ext cx="8083296" cy="640080"/>
            <a:chOff x="0" y="0"/>
            <a:chExt cx="10777728" cy="853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0777728" cy="853440"/>
            </a:xfrm>
            <a:custGeom>
              <a:avLst/>
              <a:gdLst/>
              <a:ahLst/>
              <a:cxnLst/>
              <a:rect r="r" b="b" t="t" l="l"/>
              <a:pathLst>
                <a:path h="85344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68" r="0" b="-196068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107777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Matin's EPS of Tk. 4.70 is nearly 4× Malek's Tk. 1.21, driven by higher earnings on fewer shares.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509760" y="8247888"/>
            <a:ext cx="8083296" cy="640080"/>
            <a:chOff x="0" y="0"/>
            <a:chExt cx="10777728" cy="853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0777728" cy="853440"/>
            </a:xfrm>
            <a:custGeom>
              <a:avLst/>
              <a:gdLst/>
              <a:ahLst/>
              <a:cxnLst/>
              <a:rect r="r" b="b" t="t" l="l"/>
              <a:pathLst>
                <a:path h="85344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68" r="0" b="-196068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107777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Malek's higher P/E (19×) vs Matin (9.64×) shows market assigns growth premium to Malek.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9509760" y="8942832"/>
            <a:ext cx="8083296" cy="640080"/>
            <a:chOff x="0" y="0"/>
            <a:chExt cx="10777728" cy="85344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0777728" cy="853440"/>
            </a:xfrm>
            <a:custGeom>
              <a:avLst/>
              <a:gdLst/>
              <a:ahLst/>
              <a:cxnLst/>
              <a:rect r="r" b="b" t="t" l="l"/>
              <a:pathLst>
                <a:path h="85344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68" r="0" b="-196068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107777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Matin's low P/E despite 130% EPS growth (from Tk. 2.04) suggests possible undervaluation.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509760" y="9637776"/>
            <a:ext cx="8083296" cy="640080"/>
            <a:chOff x="0" y="0"/>
            <a:chExt cx="10777728" cy="85344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0777728" cy="853440"/>
            </a:xfrm>
            <a:custGeom>
              <a:avLst/>
              <a:gdLst/>
              <a:ahLst/>
              <a:cxnLst/>
              <a:rect r="r" b="b" t="t" l="l"/>
              <a:pathLst>
                <a:path h="85344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68" r="0" b="-196068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107777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Value investors may prefer Matin; growth investors may prefer Malek.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DUPONT ANALYSIS  (FY 2024-25)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316736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i="true">
                  <a:solidFill>
                    <a:srgbClr val="1B6CA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ROE  =  Net Profit Margin  ×  Asset Turnover  ×  Equity Multiplier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13783" y="2035559"/>
            <a:ext cx="5146043" cy="665483"/>
            <a:chOff x="0" y="0"/>
            <a:chExt cx="6861391" cy="88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126480" y="2048256"/>
            <a:ext cx="5120640" cy="640080"/>
            <a:chOff x="0" y="0"/>
            <a:chExt cx="682752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74503" y="2035559"/>
            <a:ext cx="5146043" cy="665483"/>
            <a:chOff x="0" y="0"/>
            <a:chExt cx="6861391" cy="8873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1429" cy="887349"/>
            </a:xfrm>
            <a:custGeom>
              <a:avLst/>
              <a:gdLst/>
              <a:ahLst/>
              <a:cxnLst/>
              <a:rect r="r" b="b" t="t" l="l"/>
              <a:pathLst>
                <a:path h="88734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0" y="2048256"/>
            <a:ext cx="5120640" cy="640080"/>
            <a:chOff x="0" y="0"/>
            <a:chExt cx="68275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8254" y="2794254"/>
            <a:ext cx="17271492" cy="775716"/>
            <a:chOff x="0" y="0"/>
            <a:chExt cx="23028656" cy="1034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28656" cy="1034288"/>
            </a:xfrm>
            <a:custGeom>
              <a:avLst/>
              <a:gdLst/>
              <a:ahLst/>
              <a:cxnLst/>
              <a:rect r="r" b="b" t="t" l="l"/>
              <a:pathLst>
                <a:path h="1034288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85216" y="2798064"/>
            <a:ext cx="5120640" cy="768096"/>
            <a:chOff x="0" y="0"/>
            <a:chExt cx="682752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 Profit Margin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20127" y="2883151"/>
            <a:ext cx="5133337" cy="597913"/>
            <a:chOff x="0" y="0"/>
            <a:chExt cx="6844449" cy="7972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126480" y="2798064"/>
            <a:ext cx="5120640" cy="768096"/>
            <a:chOff x="0" y="0"/>
            <a:chExt cx="6827520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5.03%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80847" y="2883151"/>
            <a:ext cx="5133337" cy="597913"/>
            <a:chOff x="0" y="0"/>
            <a:chExt cx="6844449" cy="79721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0" y="2798064"/>
            <a:ext cx="5120640" cy="768096"/>
            <a:chOff x="0" y="0"/>
            <a:chExt cx="682752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5.23%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8254" y="3672078"/>
            <a:ext cx="17271492" cy="775716"/>
            <a:chOff x="0" y="0"/>
            <a:chExt cx="23028656" cy="1034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028656" cy="1034288"/>
            </a:xfrm>
            <a:custGeom>
              <a:avLst/>
              <a:gdLst/>
              <a:ahLst/>
              <a:cxnLst/>
              <a:rect r="r" b="b" t="t" l="l"/>
              <a:pathLst>
                <a:path h="1034288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85216" y="3675888"/>
            <a:ext cx="5120640" cy="768096"/>
            <a:chOff x="0" y="0"/>
            <a:chExt cx="6827520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Asset Turnover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120127" y="3760975"/>
            <a:ext cx="5133337" cy="597913"/>
            <a:chOff x="0" y="0"/>
            <a:chExt cx="6844449" cy="7972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126480" y="3675888"/>
            <a:ext cx="5120640" cy="768096"/>
            <a:chOff x="0" y="0"/>
            <a:chExt cx="682752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0.5064×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0847" y="3760975"/>
            <a:ext cx="5133337" cy="597913"/>
            <a:chOff x="0" y="0"/>
            <a:chExt cx="6844449" cy="7972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3675888"/>
            <a:ext cx="5120640" cy="768096"/>
            <a:chOff x="0" y="0"/>
            <a:chExt cx="682752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0.6298×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8254" y="4549902"/>
            <a:ext cx="17271492" cy="775716"/>
            <a:chOff x="0" y="0"/>
            <a:chExt cx="23028656" cy="1034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028656" cy="1034288"/>
            </a:xfrm>
            <a:custGeom>
              <a:avLst/>
              <a:gdLst/>
              <a:ahLst/>
              <a:cxnLst/>
              <a:rect r="r" b="b" t="t" l="l"/>
              <a:pathLst>
                <a:path h="1034288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E8F0F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585216" y="4553712"/>
            <a:ext cx="5120640" cy="768096"/>
            <a:chOff x="0" y="0"/>
            <a:chExt cx="6827520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120127" y="4638799"/>
            <a:ext cx="5133337" cy="597913"/>
            <a:chOff x="0" y="0"/>
            <a:chExt cx="6844449" cy="79721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126480" y="4553712"/>
            <a:ext cx="5120640" cy="768096"/>
            <a:chOff x="0" y="0"/>
            <a:chExt cx="6827520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68275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2.55%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880847" y="4638799"/>
            <a:ext cx="5133337" cy="597913"/>
            <a:chOff x="0" y="0"/>
            <a:chExt cx="6844449" cy="79721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0" y="4553712"/>
            <a:ext cx="5120640" cy="768096"/>
            <a:chOff x="0" y="0"/>
            <a:chExt cx="682752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68275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3.29%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8254" y="5427726"/>
            <a:ext cx="17271492" cy="775716"/>
            <a:chOff x="0" y="0"/>
            <a:chExt cx="23028656" cy="1034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028656" cy="1034288"/>
            </a:xfrm>
            <a:custGeom>
              <a:avLst/>
              <a:gdLst/>
              <a:ahLst/>
              <a:cxnLst/>
              <a:rect r="r" b="b" t="t" l="l"/>
              <a:pathLst>
                <a:path h="1034288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85216" y="5431536"/>
            <a:ext cx="5120640" cy="768096"/>
            <a:chOff x="0" y="0"/>
            <a:chExt cx="682752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Equity Multiplier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120127" y="5516623"/>
            <a:ext cx="5133337" cy="597913"/>
            <a:chOff x="0" y="0"/>
            <a:chExt cx="6844449" cy="79721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126480" y="5431536"/>
            <a:ext cx="5120640" cy="768096"/>
            <a:chOff x="0" y="0"/>
            <a:chExt cx="6827520" cy="10241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1.9407×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880847" y="5516623"/>
            <a:ext cx="5133337" cy="597913"/>
            <a:chOff x="0" y="0"/>
            <a:chExt cx="6844449" cy="79721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887200" y="5431536"/>
            <a:ext cx="5120640" cy="768096"/>
            <a:chOff x="0" y="0"/>
            <a:chExt cx="682752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2.0398×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08254" y="6305550"/>
            <a:ext cx="17271492" cy="775716"/>
            <a:chOff x="0" y="0"/>
            <a:chExt cx="23028656" cy="1034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028656" cy="1034288"/>
            </a:xfrm>
            <a:custGeom>
              <a:avLst/>
              <a:gdLst/>
              <a:ahLst/>
              <a:cxnLst/>
              <a:rect r="r" b="b" t="t" l="l"/>
              <a:pathLst>
                <a:path h="1034288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E8F0F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585216" y="6309360"/>
            <a:ext cx="5120640" cy="768096"/>
            <a:chOff x="0" y="0"/>
            <a:chExt cx="682752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0127" y="6394447"/>
            <a:ext cx="5133337" cy="597913"/>
            <a:chOff x="0" y="0"/>
            <a:chExt cx="6844449" cy="79721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EEF3F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6126480" y="6309360"/>
            <a:ext cx="5120640" cy="768096"/>
            <a:chOff x="0" y="0"/>
            <a:chExt cx="6827520" cy="10241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68275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4.95%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880847" y="6394447"/>
            <a:ext cx="5133337" cy="597913"/>
            <a:chOff x="0" y="0"/>
            <a:chExt cx="6844449" cy="79721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44411" cy="797179"/>
            </a:xfrm>
            <a:custGeom>
              <a:avLst/>
              <a:gdLst/>
              <a:ahLst/>
              <a:cxnLst/>
              <a:rect r="r" b="b" t="t" l="l"/>
              <a:pathLst>
                <a:path h="797179" w="6844411">
                  <a:moveTo>
                    <a:pt x="0" y="0"/>
                  </a:moveTo>
                  <a:lnTo>
                    <a:pt x="6844411" y="0"/>
                  </a:lnTo>
                  <a:lnTo>
                    <a:pt x="6844411" y="797179"/>
                  </a:lnTo>
                  <a:lnTo>
                    <a:pt x="0" y="797179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887200" y="6309360"/>
            <a:ext cx="5120640" cy="768096"/>
            <a:chOff x="0" y="0"/>
            <a:chExt cx="6827520" cy="10241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68275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6.71%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05711" y="7308847"/>
            <a:ext cx="8425177" cy="2536441"/>
            <a:chOff x="0" y="0"/>
            <a:chExt cx="11233569" cy="338192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233531" cy="3381883"/>
            </a:xfrm>
            <a:custGeom>
              <a:avLst/>
              <a:gdLst/>
              <a:ahLst/>
              <a:cxnLst/>
              <a:rect r="r" b="b" t="t" l="l"/>
              <a:pathLst>
                <a:path h="3381883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3381883"/>
                  </a:lnTo>
                  <a:lnTo>
                    <a:pt x="0" y="338188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499367" y="7302503"/>
            <a:ext cx="8437883" cy="610619"/>
            <a:chOff x="0" y="0"/>
            <a:chExt cx="11250511" cy="81415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250549" cy="814197"/>
            </a:xfrm>
            <a:custGeom>
              <a:avLst/>
              <a:gdLst/>
              <a:ahLst/>
              <a:cxnLst/>
              <a:rect r="r" b="b" t="t" l="l"/>
              <a:pathLst>
                <a:path h="8141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512064" y="7315200"/>
            <a:ext cx="8412480" cy="585216"/>
            <a:chOff x="0" y="0"/>
            <a:chExt cx="11216640" cy="78028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216640" cy="780288"/>
            </a:xfrm>
            <a:custGeom>
              <a:avLst/>
              <a:gdLst/>
              <a:ahLst/>
              <a:cxnLst/>
              <a:rect r="r" b="b" t="t" l="l"/>
              <a:pathLst>
                <a:path h="7802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1216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— ROE Historical Trend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48640" y="7936992"/>
            <a:ext cx="1609344" cy="512064"/>
            <a:chOff x="0" y="0"/>
            <a:chExt cx="2145792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FY21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2194560" y="7936992"/>
            <a:ext cx="1609344" cy="512064"/>
            <a:chOff x="0" y="0"/>
            <a:chExt cx="2145792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FY22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3840480" y="7936992"/>
            <a:ext cx="1609344" cy="512064"/>
            <a:chOff x="0" y="0"/>
            <a:chExt cx="2145792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FY23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486400" y="7936992"/>
            <a:ext cx="1609344" cy="512064"/>
            <a:chOff x="0" y="0"/>
            <a:chExt cx="2145792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FY24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7132320" y="7936992"/>
            <a:ext cx="1609344" cy="512064"/>
            <a:chOff x="0" y="0"/>
            <a:chExt cx="2145792" cy="6827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FY25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48640" y="8449056"/>
            <a:ext cx="1609344" cy="512064"/>
            <a:chOff x="0" y="0"/>
            <a:chExt cx="2145792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4.89%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2194560" y="8449056"/>
            <a:ext cx="1609344" cy="512064"/>
            <a:chOff x="0" y="0"/>
            <a:chExt cx="2145792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4.70%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840480" y="8449056"/>
            <a:ext cx="1609344" cy="512064"/>
            <a:chOff x="0" y="0"/>
            <a:chExt cx="2145792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(11.21%)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5486400" y="8449056"/>
            <a:ext cx="1609344" cy="512064"/>
            <a:chOff x="0" y="0"/>
            <a:chExt cx="2145792" cy="68275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4.64%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7132320" y="8449056"/>
            <a:ext cx="1609344" cy="512064"/>
            <a:chOff x="0" y="0"/>
            <a:chExt cx="2145792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45792" cy="682752"/>
            </a:xfrm>
            <a:custGeom>
              <a:avLst/>
              <a:gdLst/>
              <a:ahLst/>
              <a:cxnLst/>
              <a:rect r="r" b="b" t="t" l="l"/>
              <a:pathLst>
                <a:path h="682752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14579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4.95%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357103" y="7308847"/>
            <a:ext cx="8425177" cy="2536441"/>
            <a:chOff x="0" y="0"/>
            <a:chExt cx="11233569" cy="338192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233531" cy="3381883"/>
            </a:xfrm>
            <a:custGeom>
              <a:avLst/>
              <a:gdLst/>
              <a:ahLst/>
              <a:cxnLst/>
              <a:rect r="r" b="b" t="t" l="l"/>
              <a:pathLst>
                <a:path h="3381883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3381883"/>
                  </a:lnTo>
                  <a:lnTo>
                    <a:pt x="0" y="3381883"/>
                  </a:lnTo>
                  <a:close/>
                </a:path>
              </a:pathLst>
            </a:custGeom>
            <a:solidFill>
              <a:srgbClr val="FFF8EC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9350759" y="7302503"/>
            <a:ext cx="8437883" cy="610619"/>
            <a:chOff x="0" y="0"/>
            <a:chExt cx="11250511" cy="81415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1250549" cy="814197"/>
            </a:xfrm>
            <a:custGeom>
              <a:avLst/>
              <a:gdLst/>
              <a:ahLst/>
              <a:cxnLst/>
              <a:rect r="r" b="b" t="t" l="l"/>
              <a:pathLst>
                <a:path h="8141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9363456" y="7315200"/>
            <a:ext cx="8412480" cy="585216"/>
            <a:chOff x="0" y="0"/>
            <a:chExt cx="11216640" cy="78028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1216640" cy="780288"/>
            </a:xfrm>
            <a:custGeom>
              <a:avLst/>
              <a:gdLst/>
              <a:ahLst/>
              <a:cxnLst/>
              <a:rect r="r" b="b" t="t" l="l"/>
              <a:pathLst>
                <a:path h="7802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1216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509760" y="8010144"/>
            <a:ext cx="8083296" cy="585216"/>
            <a:chOff x="0" y="0"/>
            <a:chExt cx="10777728" cy="78028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777728" cy="780288"/>
            </a:xfrm>
            <a:custGeom>
              <a:avLst/>
              <a:gdLst/>
              <a:ahLst/>
              <a:cxnLst/>
              <a:rect r="r" b="b" t="t" l="l"/>
              <a:pathLst>
                <a:path h="780288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137" r="0" b="-219137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1077772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Matin's ROE (6.71%) exceeds Malek (4.95%) via higher asset turnover &amp; leverage.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509760" y="8650224"/>
            <a:ext cx="8083296" cy="585216"/>
            <a:chOff x="0" y="0"/>
            <a:chExt cx="10777728" cy="78028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0777728" cy="780288"/>
            </a:xfrm>
            <a:custGeom>
              <a:avLst/>
              <a:gdLst/>
              <a:ahLst/>
              <a:cxnLst/>
              <a:rect r="r" b="b" t="t" l="l"/>
              <a:pathLst>
                <a:path h="780288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137" r="0" b="-219137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1077772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Malek's asset turnover (0.5064) lags Matin (0.6298) — asset utilization gap persists.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509760" y="9290304"/>
            <a:ext cx="8083296" cy="585216"/>
            <a:chOff x="0" y="0"/>
            <a:chExt cx="10777728" cy="78028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777728" cy="780288"/>
            </a:xfrm>
            <a:custGeom>
              <a:avLst/>
              <a:gdLst/>
              <a:ahLst/>
              <a:cxnLst/>
              <a:rect r="r" b="b" t="t" l="l"/>
              <a:pathLst>
                <a:path h="780288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137" r="0" b="-219137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1077772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Both have similar profit margins (~5%) — difference is in efficiency, not pricing.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DCF VALUATION — STEP 1: WACC CALCULATION  |  Malek Spinning Mills PLC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316736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1B6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WACC  =  Ke × [E/(E+D)]  +  Kd × [D/(E+D)] × (1 – Tax Rate)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5711" y="2078479"/>
            <a:ext cx="5407657" cy="5224777"/>
            <a:chOff x="0" y="0"/>
            <a:chExt cx="7210209" cy="69663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10171" cy="6966331"/>
            </a:xfrm>
            <a:custGeom>
              <a:avLst/>
              <a:gdLst/>
              <a:ahLst/>
              <a:cxnLst/>
              <a:rect r="r" b="b" t="t" l="l"/>
              <a:pathLst>
                <a:path h="696633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6966331"/>
                  </a:lnTo>
                  <a:lnTo>
                    <a:pt x="0" y="69663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99367" y="2072135"/>
            <a:ext cx="5420363" cy="720347"/>
            <a:chOff x="0" y="0"/>
            <a:chExt cx="7227151" cy="960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189" cy="960501"/>
            </a:xfrm>
            <a:custGeom>
              <a:avLst/>
              <a:gdLst/>
              <a:ahLst/>
              <a:cxnLst/>
              <a:rect r="r" b="b" t="t" l="l"/>
              <a:pathLst>
                <a:path h="960501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2084832"/>
            <a:ext cx="5394960" cy="694944"/>
            <a:chOff x="0" y="0"/>
            <a:chExt cx="719328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of Equity (CAPM)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2889504"/>
            <a:ext cx="5120640" cy="548640"/>
            <a:chOff x="0" y="0"/>
            <a:chExt cx="68275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 = Rf + β × (Rm – Rf)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3529584"/>
            <a:ext cx="3474720" cy="640080"/>
            <a:chOff x="0" y="0"/>
            <a:chExt cx="463296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Risk-free Rate (Rf)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14800" y="3529584"/>
            <a:ext cx="1645920" cy="640080"/>
            <a:chOff x="0" y="0"/>
            <a:chExt cx="219456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9.50%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4224528"/>
            <a:ext cx="3474720" cy="640080"/>
            <a:chOff x="0" y="0"/>
            <a:chExt cx="463296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Beta (β)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14800" y="4224528"/>
            <a:ext cx="1645920" cy="640080"/>
            <a:chOff x="0" y="0"/>
            <a:chExt cx="219456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4919472"/>
            <a:ext cx="3474720" cy="640080"/>
            <a:chOff x="0" y="0"/>
            <a:chExt cx="463296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Return (Rm)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114800" y="4919472"/>
            <a:ext cx="1645920" cy="640080"/>
            <a:chOff x="0" y="0"/>
            <a:chExt cx="219456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15.00%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0080" y="5614416"/>
            <a:ext cx="3474720" cy="640080"/>
            <a:chOff x="0" y="0"/>
            <a:chExt cx="463296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Risk Premium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114800" y="5614416"/>
            <a:ext cx="1645920" cy="640080"/>
            <a:chOff x="0" y="0"/>
            <a:chExt cx="219456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5.50%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0080" y="6309360"/>
            <a:ext cx="3474720" cy="640080"/>
            <a:chOff x="0" y="0"/>
            <a:chExt cx="463296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of Equity (Ke)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114800" y="6309360"/>
            <a:ext cx="1645920" cy="640080"/>
            <a:chOff x="0" y="0"/>
            <a:chExt cx="21945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945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14.95%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31023" y="2078479"/>
            <a:ext cx="5407657" cy="5224777"/>
            <a:chOff x="0" y="0"/>
            <a:chExt cx="7210209" cy="696636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210171" cy="6966331"/>
            </a:xfrm>
            <a:custGeom>
              <a:avLst/>
              <a:gdLst/>
              <a:ahLst/>
              <a:cxnLst/>
              <a:rect r="r" b="b" t="t" l="l"/>
              <a:pathLst>
                <a:path h="696633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6966331"/>
                  </a:lnTo>
                  <a:lnTo>
                    <a:pt x="0" y="69663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424679" y="2072135"/>
            <a:ext cx="5420363" cy="720347"/>
            <a:chOff x="0" y="0"/>
            <a:chExt cx="7227151" cy="9604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227189" cy="960501"/>
            </a:xfrm>
            <a:custGeom>
              <a:avLst/>
              <a:gdLst/>
              <a:ahLst/>
              <a:cxnLst/>
              <a:rect r="r" b="b" t="t" l="l"/>
              <a:pathLst>
                <a:path h="960501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437376" y="2084832"/>
            <a:ext cx="5394960" cy="694944"/>
            <a:chOff x="0" y="0"/>
            <a:chExt cx="7193280" cy="926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of Debt (After Tax)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47104" y="2889504"/>
            <a:ext cx="5120640" cy="548640"/>
            <a:chOff x="0" y="0"/>
            <a:chExt cx="68275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Kd(after-tax) = Kd × (1 – T)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547104" y="3529584"/>
            <a:ext cx="3383280" cy="640080"/>
            <a:chOff x="0" y="0"/>
            <a:chExt cx="451104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Debt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930384" y="3529584"/>
            <a:ext cx="1737360" cy="640080"/>
            <a:chOff x="0" y="0"/>
            <a:chExt cx="231648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2,416M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547104" y="4224528"/>
            <a:ext cx="3383280" cy="640080"/>
            <a:chOff x="0" y="0"/>
            <a:chExt cx="451104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Finance Cost Paid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930384" y="4224528"/>
            <a:ext cx="1737360" cy="640080"/>
            <a:chOff x="0" y="0"/>
            <a:chExt cx="2316480" cy="853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267.7M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547104" y="4919472"/>
            <a:ext cx="3383280" cy="640080"/>
            <a:chOff x="0" y="0"/>
            <a:chExt cx="451104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Pre-tax Kd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930384" y="4919472"/>
            <a:ext cx="1737360" cy="640080"/>
            <a:chOff x="0" y="0"/>
            <a:chExt cx="2316480" cy="853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11.08%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547104" y="5614416"/>
            <a:ext cx="3383280" cy="640080"/>
            <a:chOff x="0" y="0"/>
            <a:chExt cx="451104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Tax Rate (Textile)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930384" y="5614416"/>
            <a:ext cx="1737360" cy="640080"/>
            <a:chOff x="0" y="0"/>
            <a:chExt cx="231648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15.00%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547104" y="6309360"/>
            <a:ext cx="3383280" cy="640080"/>
            <a:chOff x="0" y="0"/>
            <a:chExt cx="451104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After-Tax Kd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930384" y="6309360"/>
            <a:ext cx="1737360" cy="640080"/>
            <a:chOff x="0" y="0"/>
            <a:chExt cx="2316480" cy="8534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9.42%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374623" y="2078479"/>
            <a:ext cx="5407657" cy="5224777"/>
            <a:chOff x="0" y="0"/>
            <a:chExt cx="7210209" cy="696636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210171" cy="6966331"/>
            </a:xfrm>
            <a:custGeom>
              <a:avLst/>
              <a:gdLst/>
              <a:ahLst/>
              <a:cxnLst/>
              <a:rect r="r" b="b" t="t" l="l"/>
              <a:pathLst>
                <a:path h="6966331" w="7210171">
                  <a:moveTo>
                    <a:pt x="0" y="0"/>
                  </a:moveTo>
                  <a:lnTo>
                    <a:pt x="7210171" y="0"/>
                  </a:lnTo>
                  <a:lnTo>
                    <a:pt x="7210171" y="6966331"/>
                  </a:lnTo>
                  <a:lnTo>
                    <a:pt x="0" y="69663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2368279" y="2072135"/>
            <a:ext cx="5420363" cy="720347"/>
            <a:chOff x="0" y="0"/>
            <a:chExt cx="7227151" cy="96046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227189" cy="960501"/>
            </a:xfrm>
            <a:custGeom>
              <a:avLst/>
              <a:gdLst/>
              <a:ahLst/>
              <a:cxnLst/>
              <a:rect r="r" b="b" t="t" l="l"/>
              <a:pathLst>
                <a:path h="960501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380976" y="2084832"/>
            <a:ext cx="5394960" cy="694944"/>
            <a:chOff x="0" y="0"/>
            <a:chExt cx="7193280" cy="9265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19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65" r="0" b="-10126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7193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Capital Structure Weights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490704" y="2889504"/>
            <a:ext cx="5120640" cy="548640"/>
            <a:chOff x="0" y="0"/>
            <a:chExt cx="682752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Market-Value Weights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490704" y="3529584"/>
            <a:ext cx="3383280" cy="640080"/>
            <a:chOff x="0" y="0"/>
            <a:chExt cx="451104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Mkt Value of Equity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873984" y="3529584"/>
            <a:ext cx="1737360" cy="640080"/>
            <a:chOff x="0" y="0"/>
            <a:chExt cx="2316480" cy="8534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4,298M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490704" y="4224528"/>
            <a:ext cx="3383280" cy="640080"/>
            <a:chOff x="0" y="0"/>
            <a:chExt cx="4511040" cy="8534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Debt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873984" y="4224528"/>
            <a:ext cx="1737360" cy="640080"/>
            <a:chOff x="0" y="0"/>
            <a:chExt cx="2316480" cy="8534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2,416M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490704" y="4919472"/>
            <a:ext cx="3383280" cy="640080"/>
            <a:chOff x="0" y="0"/>
            <a:chExt cx="4511040" cy="8534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Capital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5873984" y="4919472"/>
            <a:ext cx="1737360" cy="640080"/>
            <a:chOff x="0" y="0"/>
            <a:chExt cx="2316480" cy="8534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6,715M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490704" y="5614416"/>
            <a:ext cx="3383280" cy="640080"/>
            <a:chOff x="0" y="0"/>
            <a:chExt cx="4511040" cy="8534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 of Equity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5873984" y="5614416"/>
            <a:ext cx="1737360" cy="640080"/>
            <a:chOff x="0" y="0"/>
            <a:chExt cx="2316480" cy="8534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64.01%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490704" y="6309360"/>
            <a:ext cx="3383280" cy="640080"/>
            <a:chOff x="0" y="0"/>
            <a:chExt cx="4511040" cy="8534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45110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 of Debt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5873984" y="6309360"/>
            <a:ext cx="1737360" cy="640080"/>
            <a:chOff x="0" y="0"/>
            <a:chExt cx="2316480" cy="8534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31648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7" r="0" b="-2887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2316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35.99%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505711" y="7491727"/>
            <a:ext cx="17276569" cy="2353561"/>
            <a:chOff x="0" y="0"/>
            <a:chExt cx="23035425" cy="313808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3035388" cy="3138043"/>
            </a:xfrm>
            <a:custGeom>
              <a:avLst/>
              <a:gdLst/>
              <a:ahLst/>
              <a:cxnLst/>
              <a:rect r="r" b="b" t="t" l="l"/>
              <a:pathLst>
                <a:path h="3138043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3138043"/>
                  </a:lnTo>
                  <a:lnTo>
                    <a:pt x="0" y="3138043"/>
                  </a:lnTo>
                  <a:close/>
                </a:path>
              </a:pathLst>
            </a:custGeom>
            <a:solidFill>
              <a:srgbClr val="0D1B2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2" id="132"/>
          <p:cNvGrpSpPr/>
          <p:nvPr/>
        </p:nvGrpSpPr>
        <p:grpSpPr>
          <a:xfrm rot="0">
            <a:off x="914400" y="7680960"/>
            <a:ext cx="16459200" cy="822960"/>
            <a:chOff x="0" y="0"/>
            <a:chExt cx="21945600" cy="109728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57150"/>
              <a:ext cx="21945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WACC  =  (64.01% × 14.95%)  +  (35.99% × 9.42%)  =  9.57% + 3.39%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6388103" y="8546087"/>
            <a:ext cx="5511803" cy="939803"/>
            <a:chOff x="0" y="0"/>
            <a:chExt cx="7349071" cy="125307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349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6400800" y="8558784"/>
            <a:ext cx="5486400" cy="914400"/>
            <a:chOff x="0" y="0"/>
            <a:chExt cx="7315200" cy="12192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66675"/>
              <a:ext cx="7315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WACC  =  13.00%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9456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DCF VALUATION — STEPS 2 &amp; 3: BASE YEAR FCFF &amp; PROJECTIONS  |  Malek Spinning Mills PLC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5711" y="1310383"/>
            <a:ext cx="8425177" cy="4676137"/>
            <a:chOff x="0" y="0"/>
            <a:chExt cx="11233569" cy="62348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33531" cy="6234811"/>
            </a:xfrm>
            <a:custGeom>
              <a:avLst/>
              <a:gdLst/>
              <a:ahLst/>
              <a:cxnLst/>
              <a:rect r="r" b="b" t="t" l="l"/>
              <a:pathLst>
                <a:path h="623481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234811"/>
                  </a:lnTo>
                  <a:lnTo>
                    <a:pt x="0" y="6234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99367" y="1304039"/>
            <a:ext cx="8437883" cy="665483"/>
            <a:chOff x="0" y="0"/>
            <a:chExt cx="11250511" cy="8873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1316736"/>
            <a:ext cx="8412480" cy="640080"/>
            <a:chOff x="0" y="0"/>
            <a:chExt cx="1121664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2: Base Year FCFF (FY 2024-25)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254" y="1953006"/>
            <a:ext cx="8420100" cy="556260"/>
            <a:chOff x="0" y="0"/>
            <a:chExt cx="11226800" cy="74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1956816"/>
            <a:ext cx="5669280" cy="548640"/>
            <a:chOff x="0" y="0"/>
            <a:chExt cx="7559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Item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9360" y="1956816"/>
            <a:ext cx="2468880" cy="548640"/>
            <a:chOff x="0" y="0"/>
            <a:chExt cx="32918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(Mn)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8254" y="2501646"/>
            <a:ext cx="8420100" cy="556260"/>
            <a:chOff x="0" y="0"/>
            <a:chExt cx="11226800" cy="741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40080" y="2505456"/>
            <a:ext cx="5669280" cy="548640"/>
            <a:chOff x="0" y="0"/>
            <a:chExt cx="75590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EBIT (Operating Profit)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09360" y="2505456"/>
            <a:ext cx="2468880" cy="548640"/>
            <a:chOff x="0" y="0"/>
            <a:chExt cx="32918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207.77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8254" y="3050286"/>
            <a:ext cx="8420100" cy="556260"/>
            <a:chOff x="0" y="0"/>
            <a:chExt cx="11226800" cy="74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" y="3054096"/>
            <a:ext cx="5669280" cy="548640"/>
            <a:chOff x="0" y="0"/>
            <a:chExt cx="75590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× (1 – Tax 15%)  →  NOPAT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9360" y="3054096"/>
            <a:ext cx="2468880" cy="548640"/>
            <a:chOff x="0" y="0"/>
            <a:chExt cx="32918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176.60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08254" y="3598926"/>
            <a:ext cx="8420100" cy="556260"/>
            <a:chOff x="0" y="0"/>
            <a:chExt cx="11226800" cy="74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40080" y="3602736"/>
            <a:ext cx="5669280" cy="548640"/>
            <a:chOff x="0" y="0"/>
            <a:chExt cx="75590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Add: Depreciation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309360" y="3602736"/>
            <a:ext cx="2468880" cy="548640"/>
            <a:chOff x="0" y="0"/>
            <a:chExt cx="329184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+134.42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8254" y="4147566"/>
            <a:ext cx="8420100" cy="556260"/>
            <a:chOff x="0" y="0"/>
            <a:chExt cx="11226800" cy="741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40080" y="4151376"/>
            <a:ext cx="5669280" cy="548640"/>
            <a:chOff x="0" y="0"/>
            <a:chExt cx="755904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Less: CapEx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309360" y="4151376"/>
            <a:ext cx="2468880" cy="548640"/>
            <a:chOff x="0" y="0"/>
            <a:chExt cx="329184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(70.41)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08254" y="4696206"/>
            <a:ext cx="8420100" cy="556260"/>
            <a:chOff x="0" y="0"/>
            <a:chExt cx="11226800" cy="741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40080" y="4700016"/>
            <a:ext cx="5669280" cy="548640"/>
            <a:chOff x="0" y="0"/>
            <a:chExt cx="755904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Less: ΔWorking Capital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09360" y="4700016"/>
            <a:ext cx="2468880" cy="548640"/>
            <a:chOff x="0" y="0"/>
            <a:chExt cx="329184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(48.80)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254" y="5244846"/>
            <a:ext cx="8420100" cy="556260"/>
            <a:chOff x="0" y="0"/>
            <a:chExt cx="11226800" cy="741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0D1B2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40080" y="5248656"/>
            <a:ext cx="5669280" cy="548640"/>
            <a:chOff x="0" y="0"/>
            <a:chExt cx="75590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YEAR FCFF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309360" y="5248656"/>
            <a:ext cx="2468880" cy="548640"/>
            <a:chOff x="0" y="0"/>
            <a:chExt cx="329184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≈ BDT 193 Mn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57103" y="1310383"/>
            <a:ext cx="8425177" cy="2207257"/>
            <a:chOff x="0" y="0"/>
            <a:chExt cx="11233569" cy="294300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33531" cy="2942971"/>
            </a:xfrm>
            <a:custGeom>
              <a:avLst/>
              <a:gdLst/>
              <a:ahLst/>
              <a:cxnLst/>
              <a:rect r="r" b="b" t="t" l="l"/>
              <a:pathLst>
                <a:path h="294297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2942971"/>
                  </a:lnTo>
                  <a:lnTo>
                    <a:pt x="0" y="29429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350759" y="1304039"/>
            <a:ext cx="8437883" cy="665483"/>
            <a:chOff x="0" y="0"/>
            <a:chExt cx="11250511" cy="8873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363456" y="1316736"/>
            <a:ext cx="8412480" cy="640080"/>
            <a:chOff x="0" y="0"/>
            <a:chExt cx="1121664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3: Growth Scenarios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59646" y="1953006"/>
            <a:ext cx="8420100" cy="483108"/>
            <a:chOff x="0" y="0"/>
            <a:chExt cx="11226800" cy="6441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473184" y="1956816"/>
            <a:ext cx="1920240" cy="475488"/>
            <a:chOff x="0" y="0"/>
            <a:chExt cx="256032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484864" y="1956816"/>
            <a:ext cx="1920240" cy="475488"/>
            <a:chOff x="0" y="0"/>
            <a:chExt cx="2560320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Years 1-3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496544" y="1956816"/>
            <a:ext cx="1920240" cy="475488"/>
            <a:chOff x="0" y="0"/>
            <a:chExt cx="256032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Years 4-5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508224" y="1956816"/>
            <a:ext cx="1920240" cy="475488"/>
            <a:chOff x="0" y="0"/>
            <a:chExt cx="2560320" cy="6339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359646" y="2428494"/>
            <a:ext cx="8420100" cy="483108"/>
            <a:chOff x="0" y="0"/>
            <a:chExt cx="11226800" cy="64414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473184" y="2432304"/>
            <a:ext cx="1920240" cy="475488"/>
            <a:chOff x="0" y="0"/>
            <a:chExt cx="2560320" cy="63398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Bull Case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484864" y="2432304"/>
            <a:ext cx="1920240" cy="475488"/>
            <a:chOff x="0" y="0"/>
            <a:chExt cx="2560320" cy="6339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496544" y="2432304"/>
            <a:ext cx="1920240" cy="475488"/>
            <a:chOff x="0" y="0"/>
            <a:chExt cx="2560320" cy="63398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508224" y="2432304"/>
            <a:ext cx="1920240" cy="475488"/>
            <a:chOff x="0" y="0"/>
            <a:chExt cx="2560320" cy="63398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5%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359646" y="2903982"/>
            <a:ext cx="8420100" cy="483108"/>
            <a:chOff x="0" y="0"/>
            <a:chExt cx="11226800" cy="64414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73184" y="2907792"/>
            <a:ext cx="1920240" cy="475488"/>
            <a:chOff x="0" y="0"/>
            <a:chExt cx="256032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Case ★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484864" y="2907792"/>
            <a:ext cx="1920240" cy="475488"/>
            <a:chOff x="0" y="0"/>
            <a:chExt cx="2560320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8%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496544" y="2907792"/>
            <a:ext cx="1920240" cy="475488"/>
            <a:chOff x="0" y="0"/>
            <a:chExt cx="2560320" cy="6339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5%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5508224" y="2907792"/>
            <a:ext cx="1920240" cy="475488"/>
            <a:chOff x="0" y="0"/>
            <a:chExt cx="2560320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3.5%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359646" y="3379470"/>
            <a:ext cx="8420100" cy="483108"/>
            <a:chOff x="0" y="0"/>
            <a:chExt cx="11226800" cy="644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226800" cy="644144"/>
            </a:xfrm>
            <a:custGeom>
              <a:avLst/>
              <a:gdLst/>
              <a:ahLst/>
              <a:cxnLst/>
              <a:rect r="r" b="b" t="t" l="l"/>
              <a:pathLst>
                <a:path h="644144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9473184" y="3383280"/>
            <a:ext cx="1920240" cy="475488"/>
            <a:chOff x="0" y="0"/>
            <a:chExt cx="2560320" cy="6339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Bear Case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484864" y="3383280"/>
            <a:ext cx="1920240" cy="475488"/>
            <a:chOff x="0" y="0"/>
            <a:chExt cx="256032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4%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496544" y="3383280"/>
            <a:ext cx="1920240" cy="475488"/>
            <a:chOff x="0" y="0"/>
            <a:chExt cx="2560320" cy="63398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3%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5508224" y="3383280"/>
            <a:ext cx="1920240" cy="475488"/>
            <a:chOff x="0" y="0"/>
            <a:chExt cx="2560320" cy="63398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560320" cy="633984"/>
            </a:xfrm>
            <a:custGeom>
              <a:avLst/>
              <a:gdLst/>
              <a:ahLst/>
              <a:cxnLst/>
              <a:rect r="r" b="b" t="t" l="l"/>
              <a:pathLst>
                <a:path h="63398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25603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2.5%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357103" y="3687823"/>
            <a:ext cx="8425177" cy="3304537"/>
            <a:chOff x="0" y="0"/>
            <a:chExt cx="11233569" cy="440604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1233531" cy="4406011"/>
            </a:xfrm>
            <a:custGeom>
              <a:avLst/>
              <a:gdLst/>
              <a:ahLst/>
              <a:cxnLst/>
              <a:rect r="r" b="b" t="t" l="l"/>
              <a:pathLst>
                <a:path h="440601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350759" y="3681479"/>
            <a:ext cx="8437883" cy="665483"/>
            <a:chOff x="0" y="0"/>
            <a:chExt cx="11250511" cy="88731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9363456" y="3694176"/>
            <a:ext cx="8412480" cy="640080"/>
            <a:chOff x="0" y="0"/>
            <a:chExt cx="11216640" cy="853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Case — FCFF Projections (BDT Mn)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359646" y="4330446"/>
            <a:ext cx="8420100" cy="373380"/>
            <a:chOff x="0" y="0"/>
            <a:chExt cx="11226800" cy="4978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73184" y="4334256"/>
            <a:ext cx="3657600" cy="365760"/>
            <a:chOff x="0" y="0"/>
            <a:chExt cx="4876800" cy="48768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167360" y="4334256"/>
            <a:ext cx="2194560" cy="365760"/>
            <a:chOff x="0" y="0"/>
            <a:chExt cx="2926080" cy="48768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Growth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5398496" y="4334256"/>
            <a:ext cx="2377440" cy="365760"/>
            <a:chOff x="0" y="0"/>
            <a:chExt cx="3169920" cy="48768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FCFF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9359646" y="4696206"/>
            <a:ext cx="8420100" cy="373380"/>
            <a:chOff x="0" y="0"/>
            <a:chExt cx="11226800" cy="4978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9473184" y="4700016"/>
            <a:ext cx="3657600" cy="365760"/>
            <a:chOff x="0" y="0"/>
            <a:chExt cx="4876800" cy="48768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FY25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3167360" y="4700016"/>
            <a:ext cx="2194560" cy="365760"/>
            <a:chOff x="0" y="0"/>
            <a:chExt cx="2926080" cy="48768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5398496" y="4700016"/>
            <a:ext cx="2377440" cy="365760"/>
            <a:chOff x="0" y="0"/>
            <a:chExt cx="3169920" cy="48768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193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9359646" y="5061966"/>
            <a:ext cx="8420100" cy="373380"/>
            <a:chOff x="0" y="0"/>
            <a:chExt cx="11226800" cy="49784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4" id="164"/>
          <p:cNvGrpSpPr/>
          <p:nvPr/>
        </p:nvGrpSpPr>
        <p:grpSpPr>
          <a:xfrm rot="0">
            <a:off x="9473184" y="5065776"/>
            <a:ext cx="3657600" cy="365760"/>
            <a:chOff x="0" y="0"/>
            <a:chExt cx="4876800" cy="4876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1 FY26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167360" y="5065776"/>
            <a:ext cx="2194560" cy="365760"/>
            <a:chOff x="0" y="0"/>
            <a:chExt cx="2926080" cy="4876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8%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398496" y="5065776"/>
            <a:ext cx="2377440" cy="365760"/>
            <a:chOff x="0" y="0"/>
            <a:chExt cx="3169920" cy="4876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208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359646" y="5427726"/>
            <a:ext cx="8420100" cy="373380"/>
            <a:chOff x="0" y="0"/>
            <a:chExt cx="11226800" cy="49784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9473184" y="5431536"/>
            <a:ext cx="3657600" cy="365760"/>
            <a:chOff x="0" y="0"/>
            <a:chExt cx="4876800" cy="48768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2 FY27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3167360" y="5431536"/>
            <a:ext cx="2194560" cy="365760"/>
            <a:chOff x="0" y="0"/>
            <a:chExt cx="2926080" cy="48768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8%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5398496" y="5431536"/>
            <a:ext cx="2377440" cy="365760"/>
            <a:chOff x="0" y="0"/>
            <a:chExt cx="3169920" cy="48768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225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9359646" y="5793486"/>
            <a:ext cx="8420100" cy="373380"/>
            <a:chOff x="0" y="0"/>
            <a:chExt cx="11226800" cy="49784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86" id="186"/>
          <p:cNvGrpSpPr/>
          <p:nvPr/>
        </p:nvGrpSpPr>
        <p:grpSpPr>
          <a:xfrm rot="0">
            <a:off x="9473184" y="5797296"/>
            <a:ext cx="3657600" cy="365760"/>
            <a:chOff x="0" y="0"/>
            <a:chExt cx="4876800" cy="48768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3 FY28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3167360" y="5797296"/>
            <a:ext cx="2194560" cy="365760"/>
            <a:chOff x="0" y="0"/>
            <a:chExt cx="2926080" cy="48768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8%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5398496" y="5797296"/>
            <a:ext cx="2377440" cy="365760"/>
            <a:chOff x="0" y="0"/>
            <a:chExt cx="3169920" cy="48768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243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9359646" y="6159246"/>
            <a:ext cx="8420100" cy="373380"/>
            <a:chOff x="0" y="0"/>
            <a:chExt cx="11226800" cy="49784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7" id="197"/>
          <p:cNvGrpSpPr/>
          <p:nvPr/>
        </p:nvGrpSpPr>
        <p:grpSpPr>
          <a:xfrm rot="0">
            <a:off x="9473184" y="6163056"/>
            <a:ext cx="3657600" cy="365760"/>
            <a:chOff x="0" y="0"/>
            <a:chExt cx="4876800" cy="48768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4 FY29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3167360" y="6163056"/>
            <a:ext cx="2194560" cy="365760"/>
            <a:chOff x="0" y="0"/>
            <a:chExt cx="2926080" cy="48768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5%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5398496" y="6163056"/>
            <a:ext cx="2377440" cy="365760"/>
            <a:chOff x="0" y="0"/>
            <a:chExt cx="3169920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255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9359646" y="6525006"/>
            <a:ext cx="8420100" cy="373380"/>
            <a:chOff x="0" y="0"/>
            <a:chExt cx="11226800" cy="49784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1226800" cy="497840"/>
            </a:xfrm>
            <a:custGeom>
              <a:avLst/>
              <a:gdLst/>
              <a:ahLst/>
              <a:cxnLst/>
              <a:rect r="r" b="b" t="t" l="l"/>
              <a:pathLst>
                <a:path h="49784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497840"/>
                  </a:lnTo>
                  <a:lnTo>
                    <a:pt x="0" y="49784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08" id="208"/>
          <p:cNvGrpSpPr/>
          <p:nvPr/>
        </p:nvGrpSpPr>
        <p:grpSpPr>
          <a:xfrm rot="0">
            <a:off x="9473184" y="6528816"/>
            <a:ext cx="3657600" cy="365760"/>
            <a:chOff x="0" y="0"/>
            <a:chExt cx="4876800" cy="48768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487680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48768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5 FY30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3167360" y="6528816"/>
            <a:ext cx="2194560" cy="365760"/>
            <a:chOff x="0" y="0"/>
            <a:chExt cx="2926080" cy="48768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5%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15398496" y="6528816"/>
            <a:ext cx="2377440" cy="365760"/>
            <a:chOff x="0" y="0"/>
            <a:chExt cx="3169920" cy="487680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3169920" cy="487680"/>
            </a:xfrm>
            <a:custGeom>
              <a:avLst/>
              <a:gdLst/>
              <a:ahLst/>
              <a:cxnLst/>
              <a:rect r="r" b="b" t="t" l="l"/>
              <a:pathLst>
                <a:path h="4876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38100"/>
              <a:ext cx="3169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268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505711" y="6174991"/>
            <a:ext cx="17276569" cy="3670297"/>
            <a:chOff x="0" y="0"/>
            <a:chExt cx="23035425" cy="4893729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3035388" cy="4893691"/>
            </a:xfrm>
            <a:custGeom>
              <a:avLst/>
              <a:gdLst/>
              <a:ahLst/>
              <a:cxnLst/>
              <a:rect r="r" b="b" t="t" l="l"/>
              <a:pathLst>
                <a:path h="4893691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4893691"/>
                  </a:lnTo>
                  <a:lnTo>
                    <a:pt x="0" y="4893691"/>
                  </a:lnTo>
                  <a:close/>
                </a:path>
              </a:pathLst>
            </a:custGeom>
            <a:solidFill>
              <a:srgbClr val="0D1B2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19" id="219"/>
          <p:cNvGrpSpPr/>
          <p:nvPr/>
        </p:nvGrpSpPr>
        <p:grpSpPr>
          <a:xfrm rot="0">
            <a:off x="731520" y="6309360"/>
            <a:ext cx="16459200" cy="640080"/>
            <a:chOff x="0" y="0"/>
            <a:chExt cx="21945600" cy="85344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21" id="221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 — Terminal Value (Gordon Growth Model)</a:t>
              </a: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731520" y="7040880"/>
            <a:ext cx="16459200" cy="694944"/>
            <a:chOff x="0" y="0"/>
            <a:chExt cx="21945600" cy="926592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224" id="224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TV  =  FCFF₅ × (1 + g)  /  (WACC – g)  =  268 × 1.035  /  (13% – 3.5%)  =  277.38  /  9.5%</a:t>
              </a:r>
            </a:p>
          </p:txBody>
        </p:sp>
      </p:grpSp>
      <p:grpSp>
        <p:nvGrpSpPr>
          <p:cNvPr name="Group 225" id="225"/>
          <p:cNvGrpSpPr/>
          <p:nvPr/>
        </p:nvGrpSpPr>
        <p:grpSpPr>
          <a:xfrm rot="0">
            <a:off x="6388103" y="7814567"/>
            <a:ext cx="5511803" cy="1305563"/>
            <a:chOff x="0" y="0"/>
            <a:chExt cx="7349071" cy="1740751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7349109" cy="1740789"/>
            </a:xfrm>
            <a:custGeom>
              <a:avLst/>
              <a:gdLst/>
              <a:ahLst/>
              <a:cxnLst/>
              <a:rect r="r" b="b" t="t" l="l"/>
              <a:pathLst>
                <a:path h="174078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227" id="227"/>
          <p:cNvGrpSpPr/>
          <p:nvPr/>
        </p:nvGrpSpPr>
        <p:grpSpPr>
          <a:xfrm rot="0">
            <a:off x="6400800" y="7827264"/>
            <a:ext cx="5486400" cy="1280160"/>
            <a:chOff x="0" y="0"/>
            <a:chExt cx="7315200" cy="170688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7315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47625"/>
              <a:ext cx="73152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VALUE  =  BDT 2,920 Mn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9456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DCF VALUATION — STEPS 5–8: DISCOUNTING, EQUITY VALUE &amp; SENSITIVITY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5711" y="1310383"/>
            <a:ext cx="8425177" cy="4950457"/>
            <a:chOff x="0" y="0"/>
            <a:chExt cx="11233569" cy="6600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33531" cy="6600571"/>
            </a:xfrm>
            <a:custGeom>
              <a:avLst/>
              <a:gdLst/>
              <a:ahLst/>
              <a:cxnLst/>
              <a:rect r="r" b="b" t="t" l="l"/>
              <a:pathLst>
                <a:path h="660057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600571"/>
                  </a:lnTo>
                  <a:lnTo>
                    <a:pt x="0" y="6600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99367" y="1304039"/>
            <a:ext cx="8437883" cy="665483"/>
            <a:chOff x="0" y="0"/>
            <a:chExt cx="11250511" cy="8873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1316736"/>
            <a:ext cx="8412480" cy="640080"/>
            <a:chOff x="0" y="0"/>
            <a:chExt cx="1121664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5: PV of Cash Flows @ 13%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254" y="1953006"/>
            <a:ext cx="8420100" cy="556260"/>
            <a:chOff x="0" y="0"/>
            <a:chExt cx="11226800" cy="74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1956816"/>
            <a:ext cx="2194560" cy="548640"/>
            <a:chOff x="0" y="0"/>
            <a:chExt cx="29260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34640" y="1956816"/>
            <a:ext cx="2011680" cy="548640"/>
            <a:chOff x="0" y="0"/>
            <a:chExt cx="26822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FCFF Mn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37760" y="1956816"/>
            <a:ext cx="2011680" cy="548640"/>
            <a:chOff x="0" y="0"/>
            <a:chExt cx="26822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Disc.Factor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40880" y="1956816"/>
            <a:ext cx="1737360" cy="548640"/>
            <a:chOff x="0" y="0"/>
            <a:chExt cx="231648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PV Mn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8254" y="2501646"/>
            <a:ext cx="8420100" cy="556260"/>
            <a:chOff x="0" y="0"/>
            <a:chExt cx="11226800" cy="74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48640" y="2505456"/>
            <a:ext cx="2194560" cy="548640"/>
            <a:chOff x="0" y="0"/>
            <a:chExt cx="29260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1 FY26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834640" y="2505456"/>
            <a:ext cx="2011680" cy="548640"/>
            <a:chOff x="0" y="0"/>
            <a:chExt cx="26822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208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37760" y="2505456"/>
            <a:ext cx="2011680" cy="548640"/>
            <a:chOff x="0" y="0"/>
            <a:chExt cx="26822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0.8850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040880" y="2505456"/>
            <a:ext cx="1737360" cy="548640"/>
            <a:chOff x="0" y="0"/>
            <a:chExt cx="231648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08254" y="3050286"/>
            <a:ext cx="8420100" cy="556260"/>
            <a:chOff x="0" y="0"/>
            <a:chExt cx="11226800" cy="741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48640" y="3054096"/>
            <a:ext cx="2194560" cy="548640"/>
            <a:chOff x="0" y="0"/>
            <a:chExt cx="29260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2 FY27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34640" y="3054096"/>
            <a:ext cx="2011680" cy="548640"/>
            <a:chOff x="0" y="0"/>
            <a:chExt cx="26822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37760" y="3054096"/>
            <a:ext cx="2011680" cy="548640"/>
            <a:chOff x="0" y="0"/>
            <a:chExt cx="26822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0.7831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040880" y="3054096"/>
            <a:ext cx="1737360" cy="548640"/>
            <a:chOff x="0" y="0"/>
            <a:chExt cx="23164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08254" y="3598926"/>
            <a:ext cx="8420100" cy="556260"/>
            <a:chOff x="0" y="0"/>
            <a:chExt cx="11226800" cy="74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48640" y="3602736"/>
            <a:ext cx="2194560" cy="548640"/>
            <a:chOff x="0" y="0"/>
            <a:chExt cx="292608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3 FY28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834640" y="3602736"/>
            <a:ext cx="2011680" cy="548640"/>
            <a:chOff x="0" y="0"/>
            <a:chExt cx="268224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937760" y="3602736"/>
            <a:ext cx="2011680" cy="548640"/>
            <a:chOff x="0" y="0"/>
            <a:chExt cx="26822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0.6931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040880" y="3602736"/>
            <a:ext cx="1737360" cy="548640"/>
            <a:chOff x="0" y="0"/>
            <a:chExt cx="231648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168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08254" y="4147566"/>
            <a:ext cx="8420100" cy="556260"/>
            <a:chOff x="0" y="0"/>
            <a:chExt cx="11226800" cy="741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548640" y="4151376"/>
            <a:ext cx="2194560" cy="548640"/>
            <a:chOff x="0" y="0"/>
            <a:chExt cx="292608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4 FY29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834640" y="4151376"/>
            <a:ext cx="2011680" cy="548640"/>
            <a:chOff x="0" y="0"/>
            <a:chExt cx="26822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255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937760" y="4151376"/>
            <a:ext cx="2011680" cy="548640"/>
            <a:chOff x="0" y="0"/>
            <a:chExt cx="268224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0.6133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040880" y="4151376"/>
            <a:ext cx="1737360" cy="548640"/>
            <a:chOff x="0" y="0"/>
            <a:chExt cx="231648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156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08254" y="4696206"/>
            <a:ext cx="8420100" cy="556260"/>
            <a:chOff x="0" y="0"/>
            <a:chExt cx="11226800" cy="741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548640" y="4700016"/>
            <a:ext cx="2194560" cy="548640"/>
            <a:chOff x="0" y="0"/>
            <a:chExt cx="292608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5 FY30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834640" y="4700016"/>
            <a:ext cx="2011680" cy="548640"/>
            <a:chOff x="0" y="0"/>
            <a:chExt cx="268224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268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937760" y="4700016"/>
            <a:ext cx="2011680" cy="548640"/>
            <a:chOff x="0" y="0"/>
            <a:chExt cx="268224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0.5428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040880" y="4700016"/>
            <a:ext cx="1737360" cy="548640"/>
            <a:chOff x="0" y="0"/>
            <a:chExt cx="231648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8254" y="5244846"/>
            <a:ext cx="8420100" cy="556260"/>
            <a:chOff x="0" y="0"/>
            <a:chExt cx="11226800" cy="741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548640" y="5248656"/>
            <a:ext cx="2194560" cy="548640"/>
            <a:chOff x="0" y="0"/>
            <a:chExt cx="292608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Terminal Value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2834640" y="5248656"/>
            <a:ext cx="2011680" cy="548640"/>
            <a:chOff x="0" y="0"/>
            <a:chExt cx="268224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2,920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4937760" y="5248656"/>
            <a:ext cx="2011680" cy="548640"/>
            <a:chOff x="0" y="0"/>
            <a:chExt cx="268224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0.5428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040880" y="5248656"/>
            <a:ext cx="1737360" cy="548640"/>
            <a:chOff x="0" y="0"/>
            <a:chExt cx="231648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1,585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508254" y="5793486"/>
            <a:ext cx="8420100" cy="556260"/>
            <a:chOff x="0" y="0"/>
            <a:chExt cx="11226800" cy="7416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0D1B2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548640" y="5797296"/>
            <a:ext cx="2194560" cy="548640"/>
            <a:chOff x="0" y="0"/>
            <a:chExt cx="2926080" cy="7315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EV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2834640" y="5797296"/>
            <a:ext cx="2011680" cy="548640"/>
            <a:chOff x="0" y="0"/>
            <a:chExt cx="2682240" cy="7315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4937760" y="5797296"/>
            <a:ext cx="2011680" cy="548640"/>
            <a:chOff x="0" y="0"/>
            <a:chExt cx="2682240" cy="73152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7040880" y="5797296"/>
            <a:ext cx="1737360" cy="548640"/>
            <a:chOff x="0" y="0"/>
            <a:chExt cx="2316480" cy="73152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31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316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2,414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357103" y="1310383"/>
            <a:ext cx="8425177" cy="4950457"/>
            <a:chOff x="0" y="0"/>
            <a:chExt cx="11233569" cy="6600609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233531" cy="6600571"/>
            </a:xfrm>
            <a:custGeom>
              <a:avLst/>
              <a:gdLst/>
              <a:ahLst/>
              <a:cxnLst/>
              <a:rect r="r" b="b" t="t" l="l"/>
              <a:pathLst>
                <a:path h="660057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6600571"/>
                  </a:lnTo>
                  <a:lnTo>
                    <a:pt x="0" y="66005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9350759" y="1304039"/>
            <a:ext cx="8437883" cy="665483"/>
            <a:chOff x="0" y="0"/>
            <a:chExt cx="11250511" cy="88731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1250549" cy="887349"/>
            </a:xfrm>
            <a:custGeom>
              <a:avLst/>
              <a:gdLst/>
              <a:ahLst/>
              <a:cxnLst/>
              <a:rect r="r" b="b" t="t" l="l"/>
              <a:pathLst>
                <a:path h="88734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9363456" y="1316736"/>
            <a:ext cx="8412480" cy="640080"/>
            <a:chOff x="0" y="0"/>
            <a:chExt cx="11216640" cy="8534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11216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6 &amp; 7: Equity Value Per Share &amp; Compare Intrinsic Value with Market Price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359646" y="1953006"/>
            <a:ext cx="8420100" cy="556260"/>
            <a:chOff x="0" y="0"/>
            <a:chExt cx="11226800" cy="74168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73184" y="1956816"/>
            <a:ext cx="5669280" cy="548640"/>
            <a:chOff x="0" y="0"/>
            <a:chExt cx="7559040" cy="73152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Item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5142464" y="1956816"/>
            <a:ext cx="2468880" cy="548640"/>
            <a:chOff x="0" y="0"/>
            <a:chExt cx="3291840" cy="73152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BDT Mn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9359646" y="2501646"/>
            <a:ext cx="8420100" cy="556260"/>
            <a:chOff x="0" y="0"/>
            <a:chExt cx="11226800" cy="7416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9473184" y="2505456"/>
            <a:ext cx="5669280" cy="548640"/>
            <a:chOff x="0" y="0"/>
            <a:chExt cx="7559040" cy="7315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Value (EV)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5142464" y="2505456"/>
            <a:ext cx="2468880" cy="548640"/>
            <a:chOff x="0" y="0"/>
            <a:chExt cx="329184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2,414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359646" y="3050286"/>
            <a:ext cx="8420100" cy="556260"/>
            <a:chOff x="0" y="0"/>
            <a:chExt cx="11226800" cy="7416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73184" y="3054096"/>
            <a:ext cx="5669280" cy="548640"/>
            <a:chOff x="0" y="0"/>
            <a:chExt cx="7559040" cy="73152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Less: Total Debt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5142464" y="3054096"/>
            <a:ext cx="2468880" cy="548640"/>
            <a:chOff x="0" y="0"/>
            <a:chExt cx="3291840" cy="73152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(2,416)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9359646" y="3598926"/>
            <a:ext cx="8420100" cy="556260"/>
            <a:chOff x="0" y="0"/>
            <a:chExt cx="11226800" cy="74168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9473184" y="3602736"/>
            <a:ext cx="5669280" cy="548640"/>
            <a:chOff x="0" y="0"/>
            <a:chExt cx="7559040" cy="73152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Add: Cash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5142464" y="3602736"/>
            <a:ext cx="2468880" cy="548640"/>
            <a:chOff x="0" y="0"/>
            <a:chExt cx="3291840" cy="73152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9359646" y="4147566"/>
            <a:ext cx="8420100" cy="556260"/>
            <a:chOff x="0" y="0"/>
            <a:chExt cx="11226800" cy="74168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9473184" y="4151376"/>
            <a:ext cx="5669280" cy="548640"/>
            <a:chOff x="0" y="0"/>
            <a:chExt cx="7559040" cy="7315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 Debt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142464" y="4151376"/>
            <a:ext cx="2468880" cy="548640"/>
            <a:chOff x="0" y="0"/>
            <a:chExt cx="3291840" cy="7315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(2,352)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359646" y="4696206"/>
            <a:ext cx="8420100" cy="556260"/>
            <a:chOff x="0" y="0"/>
            <a:chExt cx="11226800" cy="741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9473184" y="4700016"/>
            <a:ext cx="5669280" cy="548640"/>
            <a:chOff x="0" y="0"/>
            <a:chExt cx="7559040" cy="73152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Equity Value (Standalone)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5142464" y="4700016"/>
            <a:ext cx="2468880" cy="548640"/>
            <a:chOff x="0" y="0"/>
            <a:chExt cx="3291840" cy="73152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62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359646" y="5244846"/>
            <a:ext cx="8420100" cy="556260"/>
            <a:chOff x="0" y="0"/>
            <a:chExt cx="11226800" cy="74168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83" id="183"/>
          <p:cNvGrpSpPr/>
          <p:nvPr/>
        </p:nvGrpSpPr>
        <p:grpSpPr>
          <a:xfrm rot="0">
            <a:off x="9473184" y="5248656"/>
            <a:ext cx="5669280" cy="548640"/>
            <a:chOff x="0" y="0"/>
            <a:chExt cx="7559040" cy="73152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Shares Outstanding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5142464" y="5248656"/>
            <a:ext cx="2468880" cy="548640"/>
            <a:chOff x="0" y="0"/>
            <a:chExt cx="3291840" cy="73152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193.6 Mn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9359646" y="5793486"/>
            <a:ext cx="8420100" cy="556260"/>
            <a:chOff x="0" y="0"/>
            <a:chExt cx="11226800" cy="74168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1" id="191"/>
          <p:cNvGrpSpPr/>
          <p:nvPr/>
        </p:nvGrpSpPr>
        <p:grpSpPr>
          <a:xfrm rot="0">
            <a:off x="9473184" y="5797296"/>
            <a:ext cx="5669280" cy="548640"/>
            <a:chOff x="0" y="0"/>
            <a:chExt cx="7559040" cy="73152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Intrinsic Value/Share (Standalone)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5142464" y="5797296"/>
            <a:ext cx="2468880" cy="548640"/>
            <a:chOff x="0" y="0"/>
            <a:chExt cx="3291840" cy="73152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0.32 ⚠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9359646" y="6342126"/>
            <a:ext cx="8420100" cy="556260"/>
            <a:chOff x="0" y="0"/>
            <a:chExt cx="11226800" cy="74168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99" id="199"/>
          <p:cNvGrpSpPr/>
          <p:nvPr/>
        </p:nvGrpSpPr>
        <p:grpSpPr>
          <a:xfrm rot="0">
            <a:off x="9473184" y="6345936"/>
            <a:ext cx="5669280" cy="548640"/>
            <a:chOff x="0" y="0"/>
            <a:chExt cx="7559040" cy="73152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Intrinsic Value/Share (Consolidated)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5142464" y="6345936"/>
            <a:ext cx="2468880" cy="548640"/>
            <a:chOff x="0" y="0"/>
            <a:chExt cx="3291840" cy="731520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25.63 ★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505711" y="6431023"/>
            <a:ext cx="17276569" cy="3450841"/>
            <a:chOff x="0" y="0"/>
            <a:chExt cx="23035425" cy="4601121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3035388" cy="4601083"/>
            </a:xfrm>
            <a:custGeom>
              <a:avLst/>
              <a:gdLst/>
              <a:ahLst/>
              <a:cxnLst/>
              <a:rect r="r" b="b" t="t" l="l"/>
              <a:pathLst>
                <a:path h="4601083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4601083"/>
                  </a:lnTo>
                  <a:lnTo>
                    <a:pt x="0" y="460108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07" id="207"/>
          <p:cNvGrpSpPr/>
          <p:nvPr/>
        </p:nvGrpSpPr>
        <p:grpSpPr>
          <a:xfrm rot="0">
            <a:off x="499367" y="6424679"/>
            <a:ext cx="17289275" cy="665483"/>
            <a:chOff x="0" y="0"/>
            <a:chExt cx="23052367" cy="887311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3052405" cy="887349"/>
            </a:xfrm>
            <a:custGeom>
              <a:avLst/>
              <a:gdLst/>
              <a:ahLst/>
              <a:cxnLst/>
              <a:rect r="r" b="b" t="t" l="l"/>
              <a:pathLst>
                <a:path h="887349" w="23052405">
                  <a:moveTo>
                    <a:pt x="0" y="0"/>
                  </a:moveTo>
                  <a:lnTo>
                    <a:pt x="23052405" y="0"/>
                  </a:lnTo>
                  <a:lnTo>
                    <a:pt x="23052405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209" id="209"/>
          <p:cNvGrpSpPr/>
          <p:nvPr/>
        </p:nvGrpSpPr>
        <p:grpSpPr>
          <a:xfrm rot="0">
            <a:off x="512064" y="6437376"/>
            <a:ext cx="17263872" cy="640080"/>
            <a:chOff x="0" y="0"/>
            <a:chExt cx="23018496" cy="85344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3018496" cy="853440"/>
            </a:xfrm>
            <a:custGeom>
              <a:avLst/>
              <a:gdLst/>
              <a:ahLst/>
              <a:cxnLst/>
              <a:rect r="r" b="b" t="t" l="l"/>
              <a:pathLst>
                <a:path h="85344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539" r="0" b="-475539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38100"/>
              <a:ext cx="23018496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8: Sensitivity Analysis — Consolidated Intrinsic Value per Share (BDT)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81406" y="7073646"/>
            <a:ext cx="3025140" cy="483108"/>
            <a:chOff x="0" y="0"/>
            <a:chExt cx="4033520" cy="64414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033520" cy="644144"/>
            </a:xfrm>
            <a:custGeom>
              <a:avLst/>
              <a:gdLst/>
              <a:ahLst/>
              <a:cxnLst/>
              <a:rect r="r" b="b" t="t" l="l"/>
              <a:pathLst>
                <a:path h="644144" w="4033520">
                  <a:moveTo>
                    <a:pt x="0" y="0"/>
                  </a:moveTo>
                  <a:lnTo>
                    <a:pt x="4033520" y="0"/>
                  </a:lnTo>
                  <a:lnTo>
                    <a:pt x="40335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14" id="214"/>
          <p:cNvGrpSpPr/>
          <p:nvPr/>
        </p:nvGrpSpPr>
        <p:grpSpPr>
          <a:xfrm rot="0">
            <a:off x="3690366" y="7073646"/>
            <a:ext cx="3518916" cy="483108"/>
            <a:chOff x="0" y="0"/>
            <a:chExt cx="4691888" cy="644144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16" id="216"/>
          <p:cNvGrpSpPr/>
          <p:nvPr/>
        </p:nvGrpSpPr>
        <p:grpSpPr>
          <a:xfrm rot="0">
            <a:off x="3694176" y="7077456"/>
            <a:ext cx="3511296" cy="475488"/>
            <a:chOff x="0" y="0"/>
            <a:chExt cx="4681728" cy="633984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g=2.5%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7311390" y="7073646"/>
            <a:ext cx="3518916" cy="483108"/>
            <a:chOff x="0" y="0"/>
            <a:chExt cx="4691888" cy="644144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21" id="221"/>
          <p:cNvGrpSpPr/>
          <p:nvPr/>
        </p:nvGrpSpPr>
        <p:grpSpPr>
          <a:xfrm rot="0">
            <a:off x="7315200" y="7077456"/>
            <a:ext cx="3511296" cy="475488"/>
            <a:chOff x="0" y="0"/>
            <a:chExt cx="4681728" cy="633984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g=3.5%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10932414" y="7073646"/>
            <a:ext cx="3518916" cy="483108"/>
            <a:chOff x="0" y="0"/>
            <a:chExt cx="4691888" cy="644144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26" id="226"/>
          <p:cNvGrpSpPr/>
          <p:nvPr/>
        </p:nvGrpSpPr>
        <p:grpSpPr>
          <a:xfrm rot="0">
            <a:off x="10936224" y="7077456"/>
            <a:ext cx="3511296" cy="475488"/>
            <a:chOff x="0" y="0"/>
            <a:chExt cx="4681728" cy="633984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g=5.0%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14553438" y="7073646"/>
            <a:ext cx="3116580" cy="483108"/>
            <a:chOff x="0" y="0"/>
            <a:chExt cx="4155440" cy="644144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4155440" cy="644144"/>
            </a:xfrm>
            <a:custGeom>
              <a:avLst/>
              <a:gdLst/>
              <a:ahLst/>
              <a:cxnLst/>
              <a:rect r="r" b="b" t="t" l="l"/>
              <a:pathLst>
                <a:path h="644144" w="4155440">
                  <a:moveTo>
                    <a:pt x="0" y="0"/>
                  </a:moveTo>
                  <a:lnTo>
                    <a:pt x="4155440" y="0"/>
                  </a:lnTo>
                  <a:lnTo>
                    <a:pt x="415544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31" id="231"/>
          <p:cNvGrpSpPr/>
          <p:nvPr/>
        </p:nvGrpSpPr>
        <p:grpSpPr>
          <a:xfrm rot="0">
            <a:off x="14557248" y="7077456"/>
            <a:ext cx="3108960" cy="475488"/>
            <a:chOff x="0" y="0"/>
            <a:chExt cx="4145280" cy="633984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g=6.0%</a:t>
              </a: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581406" y="7549134"/>
            <a:ext cx="3025140" cy="483108"/>
            <a:chOff x="0" y="0"/>
            <a:chExt cx="4033520" cy="644144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4033520" cy="644144"/>
            </a:xfrm>
            <a:custGeom>
              <a:avLst/>
              <a:gdLst/>
              <a:ahLst/>
              <a:cxnLst/>
              <a:rect r="r" b="b" t="t" l="l"/>
              <a:pathLst>
                <a:path h="644144" w="4033520">
                  <a:moveTo>
                    <a:pt x="0" y="0"/>
                  </a:moveTo>
                  <a:lnTo>
                    <a:pt x="4033520" y="0"/>
                  </a:lnTo>
                  <a:lnTo>
                    <a:pt x="40335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36" id="236"/>
          <p:cNvGrpSpPr/>
          <p:nvPr/>
        </p:nvGrpSpPr>
        <p:grpSpPr>
          <a:xfrm rot="0">
            <a:off x="585216" y="7552944"/>
            <a:ext cx="3017520" cy="475488"/>
            <a:chOff x="0" y="0"/>
            <a:chExt cx="4023360" cy="633984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023360" cy="633984"/>
            </a:xfrm>
            <a:custGeom>
              <a:avLst/>
              <a:gdLst/>
              <a:ahLst/>
              <a:cxnLst/>
              <a:rect r="r" b="b" t="t" l="l"/>
              <a:pathLst>
                <a:path h="6339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38100"/>
              <a:ext cx="4023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WACC 11%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3690366" y="7549134"/>
            <a:ext cx="3518916" cy="483108"/>
            <a:chOff x="0" y="0"/>
            <a:chExt cx="4691888" cy="644144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41" id="241"/>
          <p:cNvGrpSpPr/>
          <p:nvPr/>
        </p:nvGrpSpPr>
        <p:grpSpPr>
          <a:xfrm rot="0">
            <a:off x="3694176" y="7552944"/>
            <a:ext cx="3511296" cy="475488"/>
            <a:chOff x="0" y="0"/>
            <a:chExt cx="4681728" cy="633984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33.20</a:t>
              </a:r>
            </a:p>
          </p:txBody>
        </p:sp>
      </p:grpSp>
      <p:grpSp>
        <p:nvGrpSpPr>
          <p:cNvPr name="Group 244" id="244"/>
          <p:cNvGrpSpPr/>
          <p:nvPr/>
        </p:nvGrpSpPr>
        <p:grpSpPr>
          <a:xfrm rot="0">
            <a:off x="7311390" y="7549134"/>
            <a:ext cx="3518916" cy="483108"/>
            <a:chOff x="0" y="0"/>
            <a:chExt cx="4691888" cy="644144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46" id="246"/>
          <p:cNvGrpSpPr/>
          <p:nvPr/>
        </p:nvGrpSpPr>
        <p:grpSpPr>
          <a:xfrm rot="0">
            <a:off x="7315200" y="7552944"/>
            <a:ext cx="3511296" cy="475488"/>
            <a:chOff x="0" y="0"/>
            <a:chExt cx="4681728" cy="633984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37.80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10932414" y="7549134"/>
            <a:ext cx="3518916" cy="483108"/>
            <a:chOff x="0" y="0"/>
            <a:chExt cx="4691888" cy="644144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51" id="251"/>
          <p:cNvGrpSpPr/>
          <p:nvPr/>
        </p:nvGrpSpPr>
        <p:grpSpPr>
          <a:xfrm rot="0">
            <a:off x="10936224" y="7552944"/>
            <a:ext cx="3511296" cy="475488"/>
            <a:chOff x="0" y="0"/>
            <a:chExt cx="4681728" cy="633984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53" id="25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47.60</a:t>
              </a:r>
            </a:p>
          </p:txBody>
        </p:sp>
      </p:grpSp>
      <p:grpSp>
        <p:nvGrpSpPr>
          <p:cNvPr name="Group 254" id="254"/>
          <p:cNvGrpSpPr/>
          <p:nvPr/>
        </p:nvGrpSpPr>
        <p:grpSpPr>
          <a:xfrm rot="0">
            <a:off x="14553438" y="7549134"/>
            <a:ext cx="3116580" cy="483108"/>
            <a:chOff x="0" y="0"/>
            <a:chExt cx="4155440" cy="644144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4155440" cy="644144"/>
            </a:xfrm>
            <a:custGeom>
              <a:avLst/>
              <a:gdLst/>
              <a:ahLst/>
              <a:cxnLst/>
              <a:rect r="r" b="b" t="t" l="l"/>
              <a:pathLst>
                <a:path h="644144" w="4155440">
                  <a:moveTo>
                    <a:pt x="0" y="0"/>
                  </a:moveTo>
                  <a:lnTo>
                    <a:pt x="4155440" y="0"/>
                  </a:lnTo>
                  <a:lnTo>
                    <a:pt x="415544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56" id="256"/>
          <p:cNvGrpSpPr/>
          <p:nvPr/>
        </p:nvGrpSpPr>
        <p:grpSpPr>
          <a:xfrm rot="0">
            <a:off x="14557248" y="7552944"/>
            <a:ext cx="3108960" cy="475488"/>
            <a:chOff x="0" y="0"/>
            <a:chExt cx="4145280" cy="633984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258" id="258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59.80</a:t>
              </a: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581406" y="8024622"/>
            <a:ext cx="3025140" cy="483108"/>
            <a:chOff x="0" y="0"/>
            <a:chExt cx="4033520" cy="644144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4033520" cy="644144"/>
            </a:xfrm>
            <a:custGeom>
              <a:avLst/>
              <a:gdLst/>
              <a:ahLst/>
              <a:cxnLst/>
              <a:rect r="r" b="b" t="t" l="l"/>
              <a:pathLst>
                <a:path h="644144" w="4033520">
                  <a:moveTo>
                    <a:pt x="0" y="0"/>
                  </a:moveTo>
                  <a:lnTo>
                    <a:pt x="4033520" y="0"/>
                  </a:lnTo>
                  <a:lnTo>
                    <a:pt x="40335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61" id="261"/>
          <p:cNvGrpSpPr/>
          <p:nvPr/>
        </p:nvGrpSpPr>
        <p:grpSpPr>
          <a:xfrm rot="0">
            <a:off x="585216" y="8028432"/>
            <a:ext cx="3017520" cy="475488"/>
            <a:chOff x="0" y="0"/>
            <a:chExt cx="4023360" cy="633984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4023360" cy="633984"/>
            </a:xfrm>
            <a:custGeom>
              <a:avLst/>
              <a:gdLst/>
              <a:ahLst/>
              <a:cxnLst/>
              <a:rect r="r" b="b" t="t" l="l"/>
              <a:pathLst>
                <a:path h="6339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263" id="263"/>
            <p:cNvSpPr txBox="true"/>
            <p:nvPr/>
          </p:nvSpPr>
          <p:spPr>
            <a:xfrm>
              <a:off x="0" y="-38100"/>
              <a:ext cx="4023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WACC 12%</a:t>
              </a:r>
            </a:p>
          </p:txBody>
        </p:sp>
      </p:grpSp>
      <p:grpSp>
        <p:nvGrpSpPr>
          <p:cNvPr name="Group 264" id="264"/>
          <p:cNvGrpSpPr/>
          <p:nvPr/>
        </p:nvGrpSpPr>
        <p:grpSpPr>
          <a:xfrm rot="0">
            <a:off x="3690366" y="8024622"/>
            <a:ext cx="3518916" cy="483108"/>
            <a:chOff x="0" y="0"/>
            <a:chExt cx="4691888" cy="644144"/>
          </a:xfrm>
        </p:grpSpPr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66" id="266"/>
          <p:cNvGrpSpPr/>
          <p:nvPr/>
        </p:nvGrpSpPr>
        <p:grpSpPr>
          <a:xfrm rot="0">
            <a:off x="3694176" y="8028432"/>
            <a:ext cx="3511296" cy="475488"/>
            <a:chOff x="0" y="0"/>
            <a:chExt cx="4681728" cy="633984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68" id="26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28.40</a:t>
              </a:r>
            </a:p>
          </p:txBody>
        </p:sp>
      </p:grpSp>
      <p:grpSp>
        <p:nvGrpSpPr>
          <p:cNvPr name="Group 269" id="269"/>
          <p:cNvGrpSpPr/>
          <p:nvPr/>
        </p:nvGrpSpPr>
        <p:grpSpPr>
          <a:xfrm rot="0">
            <a:off x="7311390" y="8024622"/>
            <a:ext cx="3518916" cy="483108"/>
            <a:chOff x="0" y="0"/>
            <a:chExt cx="4691888" cy="644144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71" id="271"/>
          <p:cNvGrpSpPr/>
          <p:nvPr/>
        </p:nvGrpSpPr>
        <p:grpSpPr>
          <a:xfrm rot="0">
            <a:off x="7315200" y="8028432"/>
            <a:ext cx="3511296" cy="475488"/>
            <a:chOff x="0" y="0"/>
            <a:chExt cx="4681728" cy="633984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73" id="27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31.50</a:t>
              </a:r>
            </a:p>
          </p:txBody>
        </p:sp>
      </p:grpSp>
      <p:grpSp>
        <p:nvGrpSpPr>
          <p:cNvPr name="Group 274" id="274"/>
          <p:cNvGrpSpPr/>
          <p:nvPr/>
        </p:nvGrpSpPr>
        <p:grpSpPr>
          <a:xfrm rot="0">
            <a:off x="10932414" y="8024622"/>
            <a:ext cx="3518916" cy="483108"/>
            <a:chOff x="0" y="0"/>
            <a:chExt cx="4691888" cy="644144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76" id="276"/>
          <p:cNvGrpSpPr/>
          <p:nvPr/>
        </p:nvGrpSpPr>
        <p:grpSpPr>
          <a:xfrm rot="0">
            <a:off x="10936224" y="8028432"/>
            <a:ext cx="3511296" cy="475488"/>
            <a:chOff x="0" y="0"/>
            <a:chExt cx="4681728" cy="633984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78" id="27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37.90</a:t>
              </a:r>
            </a:p>
          </p:txBody>
        </p:sp>
      </p:grpSp>
      <p:grpSp>
        <p:nvGrpSpPr>
          <p:cNvPr name="Group 279" id="279"/>
          <p:cNvGrpSpPr/>
          <p:nvPr/>
        </p:nvGrpSpPr>
        <p:grpSpPr>
          <a:xfrm rot="0">
            <a:off x="14553438" y="8024622"/>
            <a:ext cx="3116580" cy="483108"/>
            <a:chOff x="0" y="0"/>
            <a:chExt cx="4155440" cy="644144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4155440" cy="644144"/>
            </a:xfrm>
            <a:custGeom>
              <a:avLst/>
              <a:gdLst/>
              <a:ahLst/>
              <a:cxnLst/>
              <a:rect r="r" b="b" t="t" l="l"/>
              <a:pathLst>
                <a:path h="644144" w="4155440">
                  <a:moveTo>
                    <a:pt x="0" y="0"/>
                  </a:moveTo>
                  <a:lnTo>
                    <a:pt x="4155440" y="0"/>
                  </a:lnTo>
                  <a:lnTo>
                    <a:pt x="415544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81" id="281"/>
          <p:cNvGrpSpPr/>
          <p:nvPr/>
        </p:nvGrpSpPr>
        <p:grpSpPr>
          <a:xfrm rot="0">
            <a:off x="14557248" y="8028432"/>
            <a:ext cx="3108960" cy="475488"/>
            <a:chOff x="0" y="0"/>
            <a:chExt cx="4145280" cy="633984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45.10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581406" y="8500110"/>
            <a:ext cx="3025140" cy="483108"/>
            <a:chOff x="0" y="0"/>
            <a:chExt cx="4033520" cy="644144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4033520" cy="644144"/>
            </a:xfrm>
            <a:custGeom>
              <a:avLst/>
              <a:gdLst/>
              <a:ahLst/>
              <a:cxnLst/>
              <a:rect r="r" b="b" t="t" l="l"/>
              <a:pathLst>
                <a:path h="644144" w="4033520">
                  <a:moveTo>
                    <a:pt x="0" y="0"/>
                  </a:moveTo>
                  <a:lnTo>
                    <a:pt x="4033520" y="0"/>
                  </a:lnTo>
                  <a:lnTo>
                    <a:pt x="40335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0F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86" id="286"/>
          <p:cNvGrpSpPr/>
          <p:nvPr/>
        </p:nvGrpSpPr>
        <p:grpSpPr>
          <a:xfrm rot="0">
            <a:off x="585216" y="8503920"/>
            <a:ext cx="3017520" cy="475488"/>
            <a:chOff x="0" y="0"/>
            <a:chExt cx="4023360" cy="633984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4023360" cy="633984"/>
            </a:xfrm>
            <a:custGeom>
              <a:avLst/>
              <a:gdLst/>
              <a:ahLst/>
              <a:cxnLst/>
              <a:rect r="r" b="b" t="t" l="l"/>
              <a:pathLst>
                <a:path h="6339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288" id="288"/>
            <p:cNvSpPr txBox="true"/>
            <p:nvPr/>
          </p:nvSpPr>
          <p:spPr>
            <a:xfrm>
              <a:off x="0" y="-38100"/>
              <a:ext cx="4023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WACC 13% ★</a:t>
              </a:r>
            </a:p>
          </p:txBody>
        </p:sp>
      </p:grpSp>
      <p:grpSp>
        <p:nvGrpSpPr>
          <p:cNvPr name="Group 289" id="289"/>
          <p:cNvGrpSpPr/>
          <p:nvPr/>
        </p:nvGrpSpPr>
        <p:grpSpPr>
          <a:xfrm rot="0">
            <a:off x="3690366" y="8500110"/>
            <a:ext cx="3518916" cy="483108"/>
            <a:chOff x="0" y="0"/>
            <a:chExt cx="4691888" cy="644144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91" id="291"/>
          <p:cNvGrpSpPr/>
          <p:nvPr/>
        </p:nvGrpSpPr>
        <p:grpSpPr>
          <a:xfrm rot="0">
            <a:off x="3694176" y="8503920"/>
            <a:ext cx="3511296" cy="475488"/>
            <a:chOff x="0" y="0"/>
            <a:chExt cx="4681728" cy="633984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22.10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7311390" y="8500110"/>
            <a:ext cx="3518916" cy="483108"/>
            <a:chOff x="0" y="0"/>
            <a:chExt cx="4691888" cy="644144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A838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96" id="296"/>
          <p:cNvGrpSpPr/>
          <p:nvPr/>
        </p:nvGrpSpPr>
        <p:grpSpPr>
          <a:xfrm rot="0">
            <a:off x="7315200" y="8503920"/>
            <a:ext cx="3511296" cy="475488"/>
            <a:chOff x="0" y="0"/>
            <a:chExt cx="4681728" cy="633984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298" id="29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25.63</a:t>
              </a:r>
            </a:p>
          </p:txBody>
        </p:sp>
      </p:grpSp>
      <p:grpSp>
        <p:nvGrpSpPr>
          <p:cNvPr name="Group 299" id="299"/>
          <p:cNvGrpSpPr/>
          <p:nvPr/>
        </p:nvGrpSpPr>
        <p:grpSpPr>
          <a:xfrm rot="0">
            <a:off x="10932414" y="8500110"/>
            <a:ext cx="3518916" cy="483108"/>
            <a:chOff x="0" y="0"/>
            <a:chExt cx="4691888" cy="644144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01" id="301"/>
          <p:cNvGrpSpPr/>
          <p:nvPr/>
        </p:nvGrpSpPr>
        <p:grpSpPr>
          <a:xfrm rot="0">
            <a:off x="10936224" y="8503920"/>
            <a:ext cx="3511296" cy="475488"/>
            <a:chOff x="0" y="0"/>
            <a:chExt cx="4681728" cy="633984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03" id="30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30.80</a:t>
              </a:r>
            </a:p>
          </p:txBody>
        </p:sp>
      </p:grpSp>
      <p:grpSp>
        <p:nvGrpSpPr>
          <p:cNvPr name="Group 304" id="304"/>
          <p:cNvGrpSpPr/>
          <p:nvPr/>
        </p:nvGrpSpPr>
        <p:grpSpPr>
          <a:xfrm rot="0">
            <a:off x="14553438" y="8500110"/>
            <a:ext cx="3116580" cy="483108"/>
            <a:chOff x="0" y="0"/>
            <a:chExt cx="4155440" cy="644144"/>
          </a:xfrm>
        </p:grpSpPr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4155440" cy="644144"/>
            </a:xfrm>
            <a:custGeom>
              <a:avLst/>
              <a:gdLst/>
              <a:ahLst/>
              <a:cxnLst/>
              <a:rect r="r" b="b" t="t" l="l"/>
              <a:pathLst>
                <a:path h="644144" w="4155440">
                  <a:moveTo>
                    <a:pt x="0" y="0"/>
                  </a:moveTo>
                  <a:lnTo>
                    <a:pt x="4155440" y="0"/>
                  </a:lnTo>
                  <a:lnTo>
                    <a:pt x="415544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06" id="306"/>
          <p:cNvGrpSpPr/>
          <p:nvPr/>
        </p:nvGrpSpPr>
        <p:grpSpPr>
          <a:xfrm rot="0">
            <a:off x="14557248" y="8503920"/>
            <a:ext cx="3108960" cy="475488"/>
            <a:chOff x="0" y="0"/>
            <a:chExt cx="4145280" cy="633984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36.20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581406" y="8975598"/>
            <a:ext cx="3025140" cy="483108"/>
            <a:chOff x="0" y="0"/>
            <a:chExt cx="4033520" cy="644144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0" y="0"/>
              <a:ext cx="4033520" cy="644144"/>
            </a:xfrm>
            <a:custGeom>
              <a:avLst/>
              <a:gdLst/>
              <a:ahLst/>
              <a:cxnLst/>
              <a:rect r="r" b="b" t="t" l="l"/>
              <a:pathLst>
                <a:path h="644144" w="4033520">
                  <a:moveTo>
                    <a:pt x="0" y="0"/>
                  </a:moveTo>
                  <a:lnTo>
                    <a:pt x="4033520" y="0"/>
                  </a:lnTo>
                  <a:lnTo>
                    <a:pt x="40335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11" id="311"/>
          <p:cNvGrpSpPr/>
          <p:nvPr/>
        </p:nvGrpSpPr>
        <p:grpSpPr>
          <a:xfrm rot="0">
            <a:off x="585216" y="8979408"/>
            <a:ext cx="3017520" cy="475488"/>
            <a:chOff x="0" y="0"/>
            <a:chExt cx="4023360" cy="633984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4023360" cy="633984"/>
            </a:xfrm>
            <a:custGeom>
              <a:avLst/>
              <a:gdLst/>
              <a:ahLst/>
              <a:cxnLst/>
              <a:rect r="r" b="b" t="t" l="l"/>
              <a:pathLst>
                <a:path h="6339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-38100"/>
              <a:ext cx="4023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WACC 14%</a:t>
              </a:r>
            </a:p>
          </p:txBody>
        </p:sp>
      </p:grpSp>
      <p:grpSp>
        <p:nvGrpSpPr>
          <p:cNvPr name="Group 314" id="314"/>
          <p:cNvGrpSpPr/>
          <p:nvPr/>
        </p:nvGrpSpPr>
        <p:grpSpPr>
          <a:xfrm rot="0">
            <a:off x="3690366" y="8975598"/>
            <a:ext cx="3518916" cy="483108"/>
            <a:chOff x="0" y="0"/>
            <a:chExt cx="4691888" cy="644144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16" id="316"/>
          <p:cNvGrpSpPr/>
          <p:nvPr/>
        </p:nvGrpSpPr>
        <p:grpSpPr>
          <a:xfrm rot="0">
            <a:off x="3694176" y="8979408"/>
            <a:ext cx="3511296" cy="475488"/>
            <a:chOff x="0" y="0"/>
            <a:chExt cx="4681728" cy="633984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18" id="31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17.50</a:t>
              </a:r>
            </a:p>
          </p:txBody>
        </p:sp>
      </p:grpSp>
      <p:grpSp>
        <p:nvGrpSpPr>
          <p:cNvPr name="Group 319" id="319"/>
          <p:cNvGrpSpPr/>
          <p:nvPr/>
        </p:nvGrpSpPr>
        <p:grpSpPr>
          <a:xfrm rot="0">
            <a:off x="7311390" y="8975598"/>
            <a:ext cx="3518916" cy="483108"/>
            <a:chOff x="0" y="0"/>
            <a:chExt cx="4691888" cy="644144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21" id="321"/>
          <p:cNvGrpSpPr/>
          <p:nvPr/>
        </p:nvGrpSpPr>
        <p:grpSpPr>
          <a:xfrm rot="0">
            <a:off x="7315200" y="8979408"/>
            <a:ext cx="3511296" cy="475488"/>
            <a:chOff x="0" y="0"/>
            <a:chExt cx="4681728" cy="633984"/>
          </a:xfrm>
        </p:grpSpPr>
        <p:sp>
          <p:nvSpPr>
            <p:cNvPr name="Freeform 322" id="32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23" id="32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20.30</a:t>
              </a:r>
            </a:p>
          </p:txBody>
        </p:sp>
      </p:grpSp>
      <p:grpSp>
        <p:nvGrpSpPr>
          <p:cNvPr name="Group 324" id="324"/>
          <p:cNvGrpSpPr/>
          <p:nvPr/>
        </p:nvGrpSpPr>
        <p:grpSpPr>
          <a:xfrm rot="0">
            <a:off x="10932414" y="8975598"/>
            <a:ext cx="3518916" cy="483108"/>
            <a:chOff x="0" y="0"/>
            <a:chExt cx="4691888" cy="644144"/>
          </a:xfrm>
        </p:grpSpPr>
        <p:sp>
          <p:nvSpPr>
            <p:cNvPr name="Freeform 325" id="32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26" id="326"/>
          <p:cNvGrpSpPr/>
          <p:nvPr/>
        </p:nvGrpSpPr>
        <p:grpSpPr>
          <a:xfrm rot="0">
            <a:off x="10936224" y="8979408"/>
            <a:ext cx="3511296" cy="475488"/>
            <a:chOff x="0" y="0"/>
            <a:chExt cx="4681728" cy="633984"/>
          </a:xfrm>
        </p:grpSpPr>
        <p:sp>
          <p:nvSpPr>
            <p:cNvPr name="Freeform 327" id="32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28" id="32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24.10</a:t>
              </a:r>
            </a:p>
          </p:txBody>
        </p:sp>
      </p:grpSp>
      <p:grpSp>
        <p:nvGrpSpPr>
          <p:cNvPr name="Group 329" id="329"/>
          <p:cNvGrpSpPr/>
          <p:nvPr/>
        </p:nvGrpSpPr>
        <p:grpSpPr>
          <a:xfrm rot="0">
            <a:off x="14553438" y="8975598"/>
            <a:ext cx="3116580" cy="483108"/>
            <a:chOff x="0" y="0"/>
            <a:chExt cx="4155440" cy="644144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0" y="0"/>
              <a:ext cx="4155440" cy="644144"/>
            </a:xfrm>
            <a:custGeom>
              <a:avLst/>
              <a:gdLst/>
              <a:ahLst/>
              <a:cxnLst/>
              <a:rect r="r" b="b" t="t" l="l"/>
              <a:pathLst>
                <a:path h="644144" w="4155440">
                  <a:moveTo>
                    <a:pt x="0" y="0"/>
                  </a:moveTo>
                  <a:lnTo>
                    <a:pt x="4155440" y="0"/>
                  </a:lnTo>
                  <a:lnTo>
                    <a:pt x="415544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31" id="331"/>
          <p:cNvGrpSpPr/>
          <p:nvPr/>
        </p:nvGrpSpPr>
        <p:grpSpPr>
          <a:xfrm rot="0">
            <a:off x="14557248" y="8979408"/>
            <a:ext cx="3108960" cy="475488"/>
            <a:chOff x="0" y="0"/>
            <a:chExt cx="4145280" cy="633984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333" id="333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2E7D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28.30</a:t>
              </a:r>
            </a:p>
          </p:txBody>
        </p:sp>
      </p:grpSp>
      <p:grpSp>
        <p:nvGrpSpPr>
          <p:cNvPr name="Group 334" id="334"/>
          <p:cNvGrpSpPr/>
          <p:nvPr/>
        </p:nvGrpSpPr>
        <p:grpSpPr>
          <a:xfrm rot="0">
            <a:off x="581406" y="9451086"/>
            <a:ext cx="3025140" cy="483108"/>
            <a:chOff x="0" y="0"/>
            <a:chExt cx="4033520" cy="644144"/>
          </a:xfrm>
        </p:grpSpPr>
        <p:sp>
          <p:nvSpPr>
            <p:cNvPr name="Freeform 335" id="335"/>
            <p:cNvSpPr/>
            <p:nvPr/>
          </p:nvSpPr>
          <p:spPr>
            <a:xfrm flipH="false" flipV="false" rot="0">
              <a:off x="0" y="0"/>
              <a:ext cx="4033520" cy="644144"/>
            </a:xfrm>
            <a:custGeom>
              <a:avLst/>
              <a:gdLst/>
              <a:ahLst/>
              <a:cxnLst/>
              <a:rect r="r" b="b" t="t" l="l"/>
              <a:pathLst>
                <a:path h="644144" w="4033520">
                  <a:moveTo>
                    <a:pt x="0" y="0"/>
                  </a:moveTo>
                  <a:lnTo>
                    <a:pt x="4033520" y="0"/>
                  </a:lnTo>
                  <a:lnTo>
                    <a:pt x="40335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36" id="336"/>
          <p:cNvGrpSpPr/>
          <p:nvPr/>
        </p:nvGrpSpPr>
        <p:grpSpPr>
          <a:xfrm rot="0">
            <a:off x="585216" y="9454896"/>
            <a:ext cx="3017520" cy="475488"/>
            <a:chOff x="0" y="0"/>
            <a:chExt cx="4023360" cy="633984"/>
          </a:xfrm>
        </p:grpSpPr>
        <p:sp>
          <p:nvSpPr>
            <p:cNvPr name="Freeform 337" id="337"/>
            <p:cNvSpPr/>
            <p:nvPr/>
          </p:nvSpPr>
          <p:spPr>
            <a:xfrm flipH="false" flipV="false" rot="0">
              <a:off x="0" y="0"/>
              <a:ext cx="4023360" cy="633984"/>
            </a:xfrm>
            <a:custGeom>
              <a:avLst/>
              <a:gdLst/>
              <a:ahLst/>
              <a:cxnLst/>
              <a:rect r="r" b="b" t="t" l="l"/>
              <a:pathLst>
                <a:path h="6339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38" id="338"/>
            <p:cNvSpPr txBox="true"/>
            <p:nvPr/>
          </p:nvSpPr>
          <p:spPr>
            <a:xfrm>
              <a:off x="0" y="-38100"/>
              <a:ext cx="4023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WACC 15%</a:t>
              </a:r>
            </a:p>
          </p:txBody>
        </p:sp>
      </p:grpSp>
      <p:grpSp>
        <p:nvGrpSpPr>
          <p:cNvPr name="Group 339" id="339"/>
          <p:cNvGrpSpPr/>
          <p:nvPr/>
        </p:nvGrpSpPr>
        <p:grpSpPr>
          <a:xfrm rot="0">
            <a:off x="3690366" y="9451086"/>
            <a:ext cx="3518916" cy="483108"/>
            <a:chOff x="0" y="0"/>
            <a:chExt cx="4691888" cy="644144"/>
          </a:xfrm>
        </p:grpSpPr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1" id="341"/>
          <p:cNvGrpSpPr/>
          <p:nvPr/>
        </p:nvGrpSpPr>
        <p:grpSpPr>
          <a:xfrm rot="0">
            <a:off x="3694176" y="9454896"/>
            <a:ext cx="3511296" cy="475488"/>
            <a:chOff x="0" y="0"/>
            <a:chExt cx="4681728" cy="633984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43" id="34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13.20</a:t>
              </a:r>
            </a:p>
          </p:txBody>
        </p:sp>
      </p:grpSp>
      <p:grpSp>
        <p:nvGrpSpPr>
          <p:cNvPr name="Group 344" id="344"/>
          <p:cNvGrpSpPr/>
          <p:nvPr/>
        </p:nvGrpSpPr>
        <p:grpSpPr>
          <a:xfrm rot="0">
            <a:off x="7311390" y="9451086"/>
            <a:ext cx="3518916" cy="483108"/>
            <a:chOff x="0" y="0"/>
            <a:chExt cx="4691888" cy="644144"/>
          </a:xfrm>
        </p:grpSpPr>
        <p:sp>
          <p:nvSpPr>
            <p:cNvPr name="Freeform 345" id="345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46" id="346"/>
          <p:cNvGrpSpPr/>
          <p:nvPr/>
        </p:nvGrpSpPr>
        <p:grpSpPr>
          <a:xfrm rot="0">
            <a:off x="7315200" y="9454896"/>
            <a:ext cx="3511296" cy="475488"/>
            <a:chOff x="0" y="0"/>
            <a:chExt cx="4681728" cy="633984"/>
          </a:xfrm>
        </p:grpSpPr>
        <p:sp>
          <p:nvSpPr>
            <p:cNvPr name="Freeform 347" id="347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48" id="348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15.60</a:t>
              </a:r>
            </a:p>
          </p:txBody>
        </p:sp>
      </p:grpSp>
      <p:grpSp>
        <p:nvGrpSpPr>
          <p:cNvPr name="Group 349" id="349"/>
          <p:cNvGrpSpPr/>
          <p:nvPr/>
        </p:nvGrpSpPr>
        <p:grpSpPr>
          <a:xfrm rot="0">
            <a:off x="10932414" y="9451086"/>
            <a:ext cx="3518916" cy="483108"/>
            <a:chOff x="0" y="0"/>
            <a:chExt cx="4691888" cy="644144"/>
          </a:xfrm>
        </p:grpSpPr>
        <p:sp>
          <p:nvSpPr>
            <p:cNvPr name="Freeform 350" id="350"/>
            <p:cNvSpPr/>
            <p:nvPr/>
          </p:nvSpPr>
          <p:spPr>
            <a:xfrm flipH="false" flipV="false" rot="0">
              <a:off x="0" y="0"/>
              <a:ext cx="4691888" cy="644144"/>
            </a:xfrm>
            <a:custGeom>
              <a:avLst/>
              <a:gdLst/>
              <a:ahLst/>
              <a:cxnLst/>
              <a:rect r="r" b="b" t="t" l="l"/>
              <a:pathLst>
                <a:path h="644144" w="4691888">
                  <a:moveTo>
                    <a:pt x="0" y="0"/>
                  </a:moveTo>
                  <a:lnTo>
                    <a:pt x="4691888" y="0"/>
                  </a:lnTo>
                  <a:lnTo>
                    <a:pt x="4691888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51" id="351"/>
          <p:cNvGrpSpPr/>
          <p:nvPr/>
        </p:nvGrpSpPr>
        <p:grpSpPr>
          <a:xfrm rot="0">
            <a:off x="10936224" y="9454896"/>
            <a:ext cx="3511296" cy="475488"/>
            <a:chOff x="0" y="0"/>
            <a:chExt cx="4681728" cy="633984"/>
          </a:xfrm>
        </p:grpSpPr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4681728" cy="633984"/>
            </a:xfrm>
            <a:custGeom>
              <a:avLst/>
              <a:gdLst/>
              <a:ahLst/>
              <a:cxnLst/>
              <a:rect r="r" b="b" t="t" l="l"/>
              <a:pathLst>
                <a:path h="633984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53" id="353"/>
            <p:cNvSpPr txBox="true"/>
            <p:nvPr/>
          </p:nvSpPr>
          <p:spPr>
            <a:xfrm>
              <a:off x="0" y="-38100"/>
              <a:ext cx="46817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18.50</a:t>
              </a:r>
            </a:p>
          </p:txBody>
        </p:sp>
      </p:grpSp>
      <p:grpSp>
        <p:nvGrpSpPr>
          <p:cNvPr name="Group 354" id="354"/>
          <p:cNvGrpSpPr/>
          <p:nvPr/>
        </p:nvGrpSpPr>
        <p:grpSpPr>
          <a:xfrm rot="0">
            <a:off x="14553438" y="9451086"/>
            <a:ext cx="3116580" cy="483108"/>
            <a:chOff x="0" y="0"/>
            <a:chExt cx="4155440" cy="644144"/>
          </a:xfrm>
        </p:grpSpPr>
        <p:sp>
          <p:nvSpPr>
            <p:cNvPr name="Freeform 355" id="355"/>
            <p:cNvSpPr/>
            <p:nvPr/>
          </p:nvSpPr>
          <p:spPr>
            <a:xfrm flipH="false" flipV="false" rot="0">
              <a:off x="0" y="0"/>
              <a:ext cx="4155440" cy="644144"/>
            </a:xfrm>
            <a:custGeom>
              <a:avLst/>
              <a:gdLst/>
              <a:ahLst/>
              <a:cxnLst/>
              <a:rect r="r" b="b" t="t" l="l"/>
              <a:pathLst>
                <a:path h="644144" w="4155440">
                  <a:moveTo>
                    <a:pt x="0" y="0"/>
                  </a:moveTo>
                  <a:lnTo>
                    <a:pt x="4155440" y="0"/>
                  </a:lnTo>
                  <a:lnTo>
                    <a:pt x="415544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56" id="356"/>
          <p:cNvGrpSpPr/>
          <p:nvPr/>
        </p:nvGrpSpPr>
        <p:grpSpPr>
          <a:xfrm rot="0">
            <a:off x="14557248" y="9454896"/>
            <a:ext cx="3108960" cy="475488"/>
            <a:chOff x="0" y="0"/>
            <a:chExt cx="4145280" cy="633984"/>
          </a:xfrm>
        </p:grpSpPr>
        <p:sp>
          <p:nvSpPr>
            <p:cNvPr name="Freeform 357" id="357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358" id="358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21.60</a:t>
              </a:r>
            </a:p>
          </p:txBody>
        </p:sp>
      </p:grpSp>
      <p:grpSp>
        <p:nvGrpSpPr>
          <p:cNvPr name="Group 359" id="359"/>
          <p:cNvGrpSpPr/>
          <p:nvPr/>
        </p:nvGrpSpPr>
        <p:grpSpPr>
          <a:xfrm rot="0">
            <a:off x="585216" y="9930384"/>
            <a:ext cx="17007840" cy="402336"/>
            <a:chOff x="0" y="0"/>
            <a:chExt cx="22677120" cy="536448"/>
          </a:xfrm>
        </p:grpSpPr>
        <p:sp>
          <p:nvSpPr>
            <p:cNvPr name="Freeform 360" id="360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685" r="0" b="-773685"/>
              </a:stretch>
            </a:blipFill>
          </p:spPr>
        </p:sp>
        <p:sp>
          <p:nvSpPr>
            <p:cNvPr name="TextBox 361" id="361"/>
            <p:cNvSpPr txBox="true"/>
            <p:nvPr/>
          </p:nvSpPr>
          <p:spPr>
            <a:xfrm>
              <a:off x="0" y="-28575"/>
              <a:ext cx="2267712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Green = above market price (Tk. 22.22) → undervalued  |  Red = below market price → overvalued  |  ★ Base Case: Tk. 25.63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MARKET-BASED VALUATION — PEER 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5711" y="1310383"/>
            <a:ext cx="17276569" cy="3761737"/>
            <a:chOff x="0" y="0"/>
            <a:chExt cx="23035425" cy="50156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35388" cy="5015611"/>
            </a:xfrm>
            <a:custGeom>
              <a:avLst/>
              <a:gdLst/>
              <a:ahLst/>
              <a:cxnLst/>
              <a:rect r="r" b="b" t="t" l="l"/>
              <a:pathLst>
                <a:path h="5015611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5015611"/>
                  </a:lnTo>
                  <a:lnTo>
                    <a:pt x="0" y="50156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99367" y="1304039"/>
            <a:ext cx="17289275" cy="665483"/>
            <a:chOff x="0" y="0"/>
            <a:chExt cx="23052367" cy="8873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405" cy="887349"/>
            </a:xfrm>
            <a:custGeom>
              <a:avLst/>
              <a:gdLst/>
              <a:ahLst/>
              <a:cxnLst/>
              <a:rect r="r" b="b" t="t" l="l"/>
              <a:pathLst>
                <a:path h="887349" w="23052405">
                  <a:moveTo>
                    <a:pt x="0" y="0"/>
                  </a:moveTo>
                  <a:lnTo>
                    <a:pt x="23052405" y="0"/>
                  </a:lnTo>
                  <a:lnTo>
                    <a:pt x="23052405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1316736"/>
            <a:ext cx="17263872" cy="640080"/>
            <a:chOff x="0" y="0"/>
            <a:chExt cx="23018496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8496" cy="853440"/>
            </a:xfrm>
            <a:custGeom>
              <a:avLst/>
              <a:gdLst/>
              <a:ahLst/>
              <a:cxnLst/>
              <a:rect r="r" b="b" t="t" l="l"/>
              <a:pathLst>
                <a:path h="85344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539" r="0" b="-47553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3018496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Peer Comparison — Key Financials (FY 2024-25)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254" y="1953006"/>
            <a:ext cx="17271492" cy="446532"/>
            <a:chOff x="0" y="0"/>
            <a:chExt cx="23028656" cy="595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1956816"/>
            <a:ext cx="5120640" cy="438912"/>
            <a:chOff x="0" y="0"/>
            <a:chExt cx="6827520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60720" y="1956816"/>
            <a:ext cx="5852160" cy="438912"/>
            <a:chOff x="0" y="0"/>
            <a:chExt cx="780288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 (FY25)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12880" y="1956816"/>
            <a:ext cx="5852160" cy="438912"/>
            <a:chOff x="0" y="0"/>
            <a:chExt cx="780288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A6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 (FY24)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8254" y="2391918"/>
            <a:ext cx="17271492" cy="446532"/>
            <a:chOff x="0" y="0"/>
            <a:chExt cx="23028656" cy="5953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40080" y="2395728"/>
            <a:ext cx="5120640" cy="438912"/>
            <a:chOff x="0" y="0"/>
            <a:chExt cx="682752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(BDT Mn)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760720" y="2395728"/>
            <a:ext cx="5852160" cy="438912"/>
            <a:chOff x="0" y="0"/>
            <a:chExt cx="78028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4,638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12880" y="2395728"/>
            <a:ext cx="5852160" cy="438912"/>
            <a:chOff x="0" y="0"/>
            <a:chExt cx="780288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6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8,045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8254" y="2830830"/>
            <a:ext cx="17271492" cy="446532"/>
            <a:chOff x="0" y="0"/>
            <a:chExt cx="23028656" cy="5953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40080" y="2834640"/>
            <a:ext cx="5120640" cy="438912"/>
            <a:chOff x="0" y="0"/>
            <a:chExt cx="682752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Gross Profit Margin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60720" y="2834640"/>
            <a:ext cx="5852160" cy="438912"/>
            <a:chOff x="0" y="0"/>
            <a:chExt cx="780288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12.81%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12880" y="2834640"/>
            <a:ext cx="5852160" cy="438912"/>
            <a:chOff x="0" y="0"/>
            <a:chExt cx="780288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6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10.65%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254" y="3269742"/>
            <a:ext cx="17271492" cy="446532"/>
            <a:chOff x="0" y="0"/>
            <a:chExt cx="23028656" cy="5953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40080" y="3273552"/>
            <a:ext cx="5120640" cy="438912"/>
            <a:chOff x="0" y="0"/>
            <a:chExt cx="682752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 Profit Margin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760720" y="3273552"/>
            <a:ext cx="5852160" cy="438912"/>
            <a:chOff x="0" y="0"/>
            <a:chExt cx="780288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5.03%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12880" y="3273552"/>
            <a:ext cx="5852160" cy="438912"/>
            <a:chOff x="0" y="0"/>
            <a:chExt cx="780288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6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2.47%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08254" y="3708654"/>
            <a:ext cx="17271492" cy="446532"/>
            <a:chOff x="0" y="0"/>
            <a:chExt cx="23028656" cy="5953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40080" y="3712464"/>
            <a:ext cx="5120640" cy="438912"/>
            <a:chOff x="0" y="0"/>
            <a:chExt cx="682752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EPS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760720" y="3712464"/>
            <a:ext cx="5852160" cy="438912"/>
            <a:chOff x="0" y="0"/>
            <a:chExt cx="7802880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Tk. 1.21 (solo) / 7.41 (consol.)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612880" y="3712464"/>
            <a:ext cx="5852160" cy="438912"/>
            <a:chOff x="0" y="0"/>
            <a:chExt cx="780288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6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Tk. 2.04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08254" y="4147566"/>
            <a:ext cx="17271492" cy="446532"/>
            <a:chOff x="0" y="0"/>
            <a:chExt cx="23028656" cy="59537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40080" y="4151376"/>
            <a:ext cx="5120640" cy="438912"/>
            <a:chOff x="0" y="0"/>
            <a:chExt cx="6827520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Shareholders' Equity (BDT Mn)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760720" y="4151376"/>
            <a:ext cx="5852160" cy="438912"/>
            <a:chOff x="0" y="0"/>
            <a:chExt cx="780288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4,719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612880" y="4151376"/>
            <a:ext cx="5852160" cy="438912"/>
            <a:chOff x="0" y="0"/>
            <a:chExt cx="7802880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6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5,623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08254" y="4586478"/>
            <a:ext cx="17271492" cy="446532"/>
            <a:chOff x="0" y="0"/>
            <a:chExt cx="23028656" cy="5953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3028656" cy="595376"/>
            </a:xfrm>
            <a:custGeom>
              <a:avLst/>
              <a:gdLst/>
              <a:ahLst/>
              <a:cxnLst/>
              <a:rect r="r" b="b" t="t" l="l"/>
              <a:pathLst>
                <a:path h="595376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95376"/>
                  </a:lnTo>
                  <a:lnTo>
                    <a:pt x="0" y="595376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640080" y="4590288"/>
            <a:ext cx="5120640" cy="438912"/>
            <a:chOff x="0" y="0"/>
            <a:chExt cx="682752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27520" cy="585216"/>
            </a:xfrm>
            <a:custGeom>
              <a:avLst/>
              <a:gdLst/>
              <a:ahLst/>
              <a:cxnLst/>
              <a:rect r="r" b="b" t="t" l="l"/>
              <a:pathLst>
                <a:path h="585216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6827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Debt-to-Equity (D/E)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760720" y="4590288"/>
            <a:ext cx="5852160" cy="438912"/>
            <a:chOff x="0" y="0"/>
            <a:chExt cx="7802880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0.51×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612880" y="4590288"/>
            <a:ext cx="5852160" cy="438912"/>
            <a:chOff x="0" y="0"/>
            <a:chExt cx="780288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6E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1.25×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05711" y="5260591"/>
            <a:ext cx="17276569" cy="4731001"/>
            <a:chOff x="0" y="0"/>
            <a:chExt cx="23035425" cy="630800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3035388" cy="6307963"/>
            </a:xfrm>
            <a:custGeom>
              <a:avLst/>
              <a:gdLst/>
              <a:ahLst/>
              <a:cxnLst/>
              <a:rect r="r" b="b" t="t" l="l"/>
              <a:pathLst>
                <a:path h="6307963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6307963"/>
                  </a:lnTo>
                  <a:lnTo>
                    <a:pt x="0" y="630796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499367" y="5254247"/>
            <a:ext cx="17289275" cy="665483"/>
            <a:chOff x="0" y="0"/>
            <a:chExt cx="23052367" cy="88731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3052405" cy="887349"/>
            </a:xfrm>
            <a:custGeom>
              <a:avLst/>
              <a:gdLst/>
              <a:ahLst/>
              <a:cxnLst/>
              <a:rect r="r" b="b" t="t" l="l"/>
              <a:pathLst>
                <a:path h="887349" w="23052405">
                  <a:moveTo>
                    <a:pt x="0" y="0"/>
                  </a:moveTo>
                  <a:lnTo>
                    <a:pt x="23052405" y="0"/>
                  </a:lnTo>
                  <a:lnTo>
                    <a:pt x="23052405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512064" y="5266944"/>
            <a:ext cx="17263872" cy="640080"/>
            <a:chOff x="0" y="0"/>
            <a:chExt cx="23018496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018496" cy="853440"/>
            </a:xfrm>
            <a:custGeom>
              <a:avLst/>
              <a:gdLst/>
              <a:ahLst/>
              <a:cxnLst/>
              <a:rect r="r" b="b" t="t" l="l"/>
              <a:pathLst>
                <a:path h="85344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539" r="0" b="-47553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3018496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Multiple Comparison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8254" y="5903214"/>
            <a:ext cx="17271492" cy="428244"/>
            <a:chOff x="0" y="0"/>
            <a:chExt cx="23028656" cy="5709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028656" cy="570992"/>
            </a:xfrm>
            <a:custGeom>
              <a:avLst/>
              <a:gdLst/>
              <a:ahLst/>
              <a:cxnLst/>
              <a:rect r="r" b="b" t="t" l="l"/>
              <a:pathLst>
                <a:path h="570992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70992"/>
                  </a:lnTo>
                  <a:lnTo>
                    <a:pt x="0" y="570992"/>
                  </a:lnTo>
                  <a:close/>
                </a:path>
              </a:pathLst>
            </a:custGeom>
            <a:solidFill>
              <a:srgbClr val="D9E4F0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585216" y="5907024"/>
            <a:ext cx="3200400" cy="420624"/>
            <a:chOff x="0" y="0"/>
            <a:chExt cx="4267200" cy="56083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267200" cy="560832"/>
            </a:xfrm>
            <a:custGeom>
              <a:avLst/>
              <a:gdLst/>
              <a:ahLst/>
              <a:cxnLst/>
              <a:rect r="r" b="b" t="t" l="l"/>
              <a:pathLst>
                <a:path h="56083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55" r="0" b="-9825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42672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3840480" y="5907024"/>
            <a:ext cx="2651760" cy="420624"/>
            <a:chOff x="0" y="0"/>
            <a:chExt cx="3535680" cy="56083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MALEKSPIN (FY25)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583680" y="5907024"/>
            <a:ext cx="2743200" cy="420624"/>
            <a:chOff x="0" y="0"/>
            <a:chExt cx="3657600" cy="56083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57600" cy="560832"/>
            </a:xfrm>
            <a:custGeom>
              <a:avLst/>
              <a:gdLst/>
              <a:ahLst/>
              <a:cxnLst/>
              <a:rect r="r" b="b" t="t" l="l"/>
              <a:pathLst>
                <a:path h="5608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36576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DSE Textile Sector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418320" y="5907024"/>
            <a:ext cx="2651760" cy="420624"/>
            <a:chOff x="0" y="0"/>
            <a:chExt cx="3535680" cy="56083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DSE Overall Market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161520" y="5907024"/>
            <a:ext cx="5431536" cy="420624"/>
            <a:chOff x="0" y="0"/>
            <a:chExt cx="7242048" cy="56083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242048" cy="560832"/>
            </a:xfrm>
            <a:custGeom>
              <a:avLst/>
              <a:gdLst/>
              <a:ahLst/>
              <a:cxnLst/>
              <a:rect r="r" b="b" t="t" l="l"/>
              <a:pathLst>
                <a:path h="560832" w="7242048">
                  <a:moveTo>
                    <a:pt x="0" y="0"/>
                  </a:moveTo>
                  <a:lnTo>
                    <a:pt x="7242048" y="0"/>
                  </a:lnTo>
                  <a:lnTo>
                    <a:pt x="724204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7242048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Commentary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508254" y="6323838"/>
            <a:ext cx="17271492" cy="428244"/>
            <a:chOff x="0" y="0"/>
            <a:chExt cx="23028656" cy="5709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028656" cy="570992"/>
            </a:xfrm>
            <a:custGeom>
              <a:avLst/>
              <a:gdLst/>
              <a:ahLst/>
              <a:cxnLst/>
              <a:rect r="r" b="b" t="t" l="l"/>
              <a:pathLst>
                <a:path h="570992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70992"/>
                  </a:lnTo>
                  <a:lnTo>
                    <a:pt x="0" y="57099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585216" y="6327648"/>
            <a:ext cx="3200400" cy="420624"/>
            <a:chOff x="0" y="0"/>
            <a:chExt cx="4267200" cy="56083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267200" cy="560832"/>
            </a:xfrm>
            <a:custGeom>
              <a:avLst/>
              <a:gdLst/>
              <a:ahLst/>
              <a:cxnLst/>
              <a:rect r="r" b="b" t="t" l="l"/>
              <a:pathLst>
                <a:path h="56083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55" r="0" b="-9825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42672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Trailing P/E (Consol.)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3840480" y="6327648"/>
            <a:ext cx="2651760" cy="420624"/>
            <a:chOff x="0" y="0"/>
            <a:chExt cx="3535680" cy="5608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3.0×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6583680" y="6327648"/>
            <a:ext cx="2743200" cy="420624"/>
            <a:chOff x="0" y="0"/>
            <a:chExt cx="3657600" cy="5608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657600" cy="560832"/>
            </a:xfrm>
            <a:custGeom>
              <a:avLst/>
              <a:gdLst/>
              <a:ahLst/>
              <a:cxnLst/>
              <a:rect r="r" b="b" t="t" l="l"/>
              <a:pathLst>
                <a:path h="5608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36576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~8–10×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418320" y="6327648"/>
            <a:ext cx="2651760" cy="420624"/>
            <a:chOff x="0" y="0"/>
            <a:chExt cx="3535680" cy="56083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~17.7×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2161520" y="6327648"/>
            <a:ext cx="5431536" cy="420624"/>
            <a:chOff x="0" y="0"/>
            <a:chExt cx="7242048" cy="56083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242048" cy="560832"/>
            </a:xfrm>
            <a:custGeom>
              <a:avLst/>
              <a:gdLst/>
              <a:ahLst/>
              <a:cxnLst/>
              <a:rect r="r" b="b" t="t" l="l"/>
              <a:pathLst>
                <a:path h="560832" w="7242048">
                  <a:moveTo>
                    <a:pt x="0" y="0"/>
                  </a:moveTo>
                  <a:lnTo>
                    <a:pt x="7242048" y="0"/>
                  </a:lnTo>
                  <a:lnTo>
                    <a:pt x="724204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7242048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Significantly undervalued vs sector &amp; market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508254" y="6744462"/>
            <a:ext cx="17271492" cy="428244"/>
            <a:chOff x="0" y="0"/>
            <a:chExt cx="23028656" cy="57099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3028656" cy="570992"/>
            </a:xfrm>
            <a:custGeom>
              <a:avLst/>
              <a:gdLst/>
              <a:ahLst/>
              <a:cxnLst/>
              <a:rect r="r" b="b" t="t" l="l"/>
              <a:pathLst>
                <a:path h="570992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70992"/>
                  </a:lnTo>
                  <a:lnTo>
                    <a:pt x="0" y="570992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585216" y="6748272"/>
            <a:ext cx="3200400" cy="420624"/>
            <a:chOff x="0" y="0"/>
            <a:chExt cx="4267200" cy="56083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67200" cy="560832"/>
            </a:xfrm>
            <a:custGeom>
              <a:avLst/>
              <a:gdLst/>
              <a:ahLst/>
              <a:cxnLst/>
              <a:rect r="r" b="b" t="t" l="l"/>
              <a:pathLst>
                <a:path h="56083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55" r="0" b="-9825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42672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P/B (vs Standalone NAV)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3840480" y="6748272"/>
            <a:ext cx="2651760" cy="420624"/>
            <a:chOff x="0" y="0"/>
            <a:chExt cx="3535680" cy="56083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0.91×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583680" y="6748272"/>
            <a:ext cx="2743200" cy="420624"/>
            <a:chOff x="0" y="0"/>
            <a:chExt cx="3657600" cy="56083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657600" cy="560832"/>
            </a:xfrm>
            <a:custGeom>
              <a:avLst/>
              <a:gdLst/>
              <a:ahLst/>
              <a:cxnLst/>
              <a:rect r="r" b="b" t="t" l="l"/>
              <a:pathLst>
                <a:path h="5608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36576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~1.0–1.2×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18320" y="6748272"/>
            <a:ext cx="2651760" cy="420624"/>
            <a:chOff x="0" y="0"/>
            <a:chExt cx="3535680" cy="56083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~1.5×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161520" y="6748272"/>
            <a:ext cx="5431536" cy="420624"/>
            <a:chOff x="0" y="0"/>
            <a:chExt cx="7242048" cy="56083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7242048" cy="560832"/>
            </a:xfrm>
            <a:custGeom>
              <a:avLst/>
              <a:gdLst/>
              <a:ahLst/>
              <a:cxnLst/>
              <a:rect r="r" b="b" t="t" l="l"/>
              <a:pathLst>
                <a:path h="560832" w="7242048">
                  <a:moveTo>
                    <a:pt x="0" y="0"/>
                  </a:moveTo>
                  <a:lnTo>
                    <a:pt x="7242048" y="0"/>
                  </a:lnTo>
                  <a:lnTo>
                    <a:pt x="724204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28575"/>
              <a:ext cx="7242048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Below book value — strong asset backing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508254" y="7165086"/>
            <a:ext cx="17271492" cy="428244"/>
            <a:chOff x="0" y="0"/>
            <a:chExt cx="23028656" cy="5709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3028656" cy="570992"/>
            </a:xfrm>
            <a:custGeom>
              <a:avLst/>
              <a:gdLst/>
              <a:ahLst/>
              <a:cxnLst/>
              <a:rect r="r" b="b" t="t" l="l"/>
              <a:pathLst>
                <a:path h="570992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70992"/>
                  </a:lnTo>
                  <a:lnTo>
                    <a:pt x="0" y="57099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585216" y="7168896"/>
            <a:ext cx="3200400" cy="420624"/>
            <a:chOff x="0" y="0"/>
            <a:chExt cx="4267200" cy="56083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267200" cy="560832"/>
            </a:xfrm>
            <a:custGeom>
              <a:avLst/>
              <a:gdLst/>
              <a:ahLst/>
              <a:cxnLst/>
              <a:rect r="r" b="b" t="t" l="l"/>
              <a:pathLst>
                <a:path h="56083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55" r="0" b="-98255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42672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EV/EBITDA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3840480" y="7168896"/>
            <a:ext cx="2651760" cy="420624"/>
            <a:chOff x="0" y="0"/>
            <a:chExt cx="3535680" cy="56083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4.16×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6583680" y="7168896"/>
            <a:ext cx="2743200" cy="420624"/>
            <a:chOff x="0" y="0"/>
            <a:chExt cx="3657600" cy="56083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657600" cy="560832"/>
            </a:xfrm>
            <a:custGeom>
              <a:avLst/>
              <a:gdLst/>
              <a:ahLst/>
              <a:cxnLst/>
              <a:rect r="r" b="b" t="t" l="l"/>
              <a:pathLst>
                <a:path h="5608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28575"/>
              <a:ext cx="36576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~5–7×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418320" y="7168896"/>
            <a:ext cx="2651760" cy="420624"/>
            <a:chOff x="0" y="0"/>
            <a:chExt cx="3535680" cy="56083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~10×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2161520" y="7168896"/>
            <a:ext cx="5431536" cy="420624"/>
            <a:chOff x="0" y="0"/>
            <a:chExt cx="7242048" cy="56083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242048" cy="560832"/>
            </a:xfrm>
            <a:custGeom>
              <a:avLst/>
              <a:gdLst/>
              <a:ahLst/>
              <a:cxnLst/>
              <a:rect r="r" b="b" t="t" l="l"/>
              <a:pathLst>
                <a:path h="560832" w="7242048">
                  <a:moveTo>
                    <a:pt x="0" y="0"/>
                  </a:moveTo>
                  <a:lnTo>
                    <a:pt x="7242048" y="0"/>
                  </a:lnTo>
                  <a:lnTo>
                    <a:pt x="724204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7242048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Cheap on enterprise value basis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508254" y="7585710"/>
            <a:ext cx="17271492" cy="428244"/>
            <a:chOff x="0" y="0"/>
            <a:chExt cx="23028656" cy="57099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3028656" cy="570992"/>
            </a:xfrm>
            <a:custGeom>
              <a:avLst/>
              <a:gdLst/>
              <a:ahLst/>
              <a:cxnLst/>
              <a:rect r="r" b="b" t="t" l="l"/>
              <a:pathLst>
                <a:path h="570992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70992"/>
                  </a:lnTo>
                  <a:lnTo>
                    <a:pt x="0" y="570992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8" id="168"/>
          <p:cNvGrpSpPr/>
          <p:nvPr/>
        </p:nvGrpSpPr>
        <p:grpSpPr>
          <a:xfrm rot="0">
            <a:off x="585216" y="7589520"/>
            <a:ext cx="3200400" cy="420624"/>
            <a:chOff x="0" y="0"/>
            <a:chExt cx="4267200" cy="560832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267200" cy="560832"/>
            </a:xfrm>
            <a:custGeom>
              <a:avLst/>
              <a:gdLst/>
              <a:ahLst/>
              <a:cxnLst/>
              <a:rect r="r" b="b" t="t" l="l"/>
              <a:pathLst>
                <a:path h="56083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55" r="0" b="-98255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28575"/>
              <a:ext cx="42672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Dividend Yield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3840480" y="7589520"/>
            <a:ext cx="2651760" cy="420624"/>
            <a:chOff x="0" y="0"/>
            <a:chExt cx="3535680" cy="56083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~4.5%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6583680" y="7589520"/>
            <a:ext cx="2743200" cy="420624"/>
            <a:chOff x="0" y="0"/>
            <a:chExt cx="3657600" cy="560832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657600" cy="560832"/>
            </a:xfrm>
            <a:custGeom>
              <a:avLst/>
              <a:gdLst/>
              <a:ahLst/>
              <a:cxnLst/>
              <a:rect r="r" b="b" t="t" l="l"/>
              <a:pathLst>
                <a:path h="5608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28575"/>
              <a:ext cx="36576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~3–5%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9418320" y="7589520"/>
            <a:ext cx="2651760" cy="420624"/>
            <a:chOff x="0" y="0"/>
            <a:chExt cx="3535680" cy="560832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~3%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2161520" y="7589520"/>
            <a:ext cx="5431536" cy="420624"/>
            <a:chOff x="0" y="0"/>
            <a:chExt cx="7242048" cy="560832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7242048" cy="560832"/>
            </a:xfrm>
            <a:custGeom>
              <a:avLst/>
              <a:gdLst/>
              <a:ahLst/>
              <a:cxnLst/>
              <a:rect r="r" b="b" t="t" l="l"/>
              <a:pathLst>
                <a:path h="560832" w="7242048">
                  <a:moveTo>
                    <a:pt x="0" y="0"/>
                  </a:moveTo>
                  <a:lnTo>
                    <a:pt x="7242048" y="0"/>
                  </a:lnTo>
                  <a:lnTo>
                    <a:pt x="724204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7242048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Competitive — 10% cash div. on Tk. 10 face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508254" y="8006334"/>
            <a:ext cx="17271492" cy="428244"/>
            <a:chOff x="0" y="0"/>
            <a:chExt cx="23028656" cy="570992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3028656" cy="570992"/>
            </a:xfrm>
            <a:custGeom>
              <a:avLst/>
              <a:gdLst/>
              <a:ahLst/>
              <a:cxnLst/>
              <a:rect r="r" b="b" t="t" l="l"/>
              <a:pathLst>
                <a:path h="570992" w="23028656">
                  <a:moveTo>
                    <a:pt x="0" y="0"/>
                  </a:moveTo>
                  <a:lnTo>
                    <a:pt x="23028656" y="0"/>
                  </a:lnTo>
                  <a:lnTo>
                    <a:pt x="23028656" y="570992"/>
                  </a:lnTo>
                  <a:lnTo>
                    <a:pt x="0" y="570992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585216" y="8010144"/>
            <a:ext cx="3200400" cy="420624"/>
            <a:chOff x="0" y="0"/>
            <a:chExt cx="4267200" cy="56083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267200" cy="560832"/>
            </a:xfrm>
            <a:custGeom>
              <a:avLst/>
              <a:gdLst/>
              <a:ahLst/>
              <a:cxnLst/>
              <a:rect r="r" b="b" t="t" l="l"/>
              <a:pathLst>
                <a:path h="56083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55" r="0" b="-98255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42672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Beta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3840480" y="8010144"/>
            <a:ext cx="2651760" cy="420624"/>
            <a:chOff x="0" y="0"/>
            <a:chExt cx="3535680" cy="56083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B6C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0.99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6583680" y="8010144"/>
            <a:ext cx="2743200" cy="420624"/>
            <a:chOff x="0" y="0"/>
            <a:chExt cx="3657600" cy="56083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657600" cy="560832"/>
            </a:xfrm>
            <a:custGeom>
              <a:avLst/>
              <a:gdLst/>
              <a:ahLst/>
              <a:cxnLst/>
              <a:rect r="r" b="b" t="t" l="l"/>
              <a:pathLst>
                <a:path h="5608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28575"/>
              <a:ext cx="365760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~0.8–1.1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9418320" y="8010144"/>
            <a:ext cx="2651760" cy="420624"/>
            <a:chOff x="0" y="0"/>
            <a:chExt cx="3535680" cy="56083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535680" cy="560832"/>
            </a:xfrm>
            <a:custGeom>
              <a:avLst/>
              <a:gdLst/>
              <a:ahLst/>
              <a:cxnLst/>
              <a:rect r="r" b="b" t="t" l="l"/>
              <a:pathLst>
                <a:path h="56083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28575"/>
              <a:ext cx="3535680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2161520" y="8010144"/>
            <a:ext cx="5431536" cy="420624"/>
            <a:chOff x="0" y="0"/>
            <a:chExt cx="7242048" cy="56083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7242048" cy="560832"/>
            </a:xfrm>
            <a:custGeom>
              <a:avLst/>
              <a:gdLst/>
              <a:ahLst/>
              <a:cxnLst/>
              <a:rect r="r" b="b" t="t" l="l"/>
              <a:pathLst>
                <a:path h="560832" w="7242048">
                  <a:moveTo>
                    <a:pt x="0" y="0"/>
                  </a:moveTo>
                  <a:lnTo>
                    <a:pt x="7242048" y="0"/>
                  </a:lnTo>
                  <a:lnTo>
                    <a:pt x="7242048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11" r="0" b="-20161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28575"/>
              <a:ext cx="7242048" cy="58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Near-market risk; low weekly volatility (5%)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85216" y="8423529"/>
            <a:ext cx="16879824" cy="1568063"/>
            <a:chOff x="0" y="0"/>
            <a:chExt cx="34509862" cy="3205817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4509863" cy="3205817"/>
            </a:xfrm>
            <a:custGeom>
              <a:avLst/>
              <a:gdLst/>
              <a:ahLst/>
              <a:cxnLst/>
              <a:rect r="r" b="b" t="t" l="l"/>
              <a:pathLst>
                <a:path h="3205817" w="34509863">
                  <a:moveTo>
                    <a:pt x="0" y="0"/>
                  </a:moveTo>
                  <a:lnTo>
                    <a:pt x="34509863" y="0"/>
                  </a:lnTo>
                  <a:lnTo>
                    <a:pt x="34509863" y="3205817"/>
                  </a:lnTo>
                  <a:lnTo>
                    <a:pt x="0" y="3205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01" r="34994" b="-46998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34509862" cy="3243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i="true">
                  <a:solidFill>
                    <a:srgbClr val="2E7D5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★ Malek Spinning leads peers on net profit margin (5.03%) and is the only company with positive NOCFPS (Tk. 1.13), confirming strong operational cash generation.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1B2A"/>
            </a:solidFill>
            <a:ln w="25400" cap="sq">
              <a:solidFill>
                <a:srgbClr val="0D1B2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 DECISION FRAMEWORK — UNDERVALUED vs OVERVALUED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5711" y="1310383"/>
            <a:ext cx="2755897" cy="1804921"/>
            <a:chOff x="0" y="0"/>
            <a:chExt cx="3674529" cy="2406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74491" cy="2406523"/>
            </a:xfrm>
            <a:custGeom>
              <a:avLst/>
              <a:gdLst/>
              <a:ahLst/>
              <a:cxnLst/>
              <a:rect r="r" b="b" t="t" l="l"/>
              <a:pathLst>
                <a:path h="2406523" w="3674491">
                  <a:moveTo>
                    <a:pt x="0" y="0"/>
                  </a:moveTo>
                  <a:lnTo>
                    <a:pt x="3674491" y="0"/>
                  </a:lnTo>
                  <a:lnTo>
                    <a:pt x="3674491" y="2406523"/>
                  </a:lnTo>
                  <a:lnTo>
                    <a:pt x="0" y="240652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389888"/>
            <a:ext cx="2670048" cy="658368"/>
            <a:chOff x="0" y="0"/>
            <a:chExt cx="3560064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60064" cy="877824"/>
            </a:xfrm>
            <a:custGeom>
              <a:avLst/>
              <a:gdLst/>
              <a:ahLst/>
              <a:cxnLst/>
              <a:rect r="r" b="b" t="t" l="l"/>
              <a:pathLst>
                <a:path h="877824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5600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Intrinsic Value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(Consol. DCF)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2011680"/>
            <a:ext cx="2670048" cy="950976"/>
            <a:chOff x="0" y="0"/>
            <a:chExt cx="3560064" cy="12679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600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" r="0" b="-47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560064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25.63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13503" y="1310383"/>
            <a:ext cx="2755897" cy="1804921"/>
            <a:chOff x="0" y="0"/>
            <a:chExt cx="3674529" cy="24065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74491" cy="2406523"/>
            </a:xfrm>
            <a:custGeom>
              <a:avLst/>
              <a:gdLst/>
              <a:ahLst/>
              <a:cxnLst/>
              <a:rect r="r" b="b" t="t" l="l"/>
              <a:pathLst>
                <a:path h="2406523" w="3674491">
                  <a:moveTo>
                    <a:pt x="0" y="0"/>
                  </a:moveTo>
                  <a:lnTo>
                    <a:pt x="3674491" y="0"/>
                  </a:lnTo>
                  <a:lnTo>
                    <a:pt x="3674491" y="2406523"/>
                  </a:lnTo>
                  <a:lnTo>
                    <a:pt x="0" y="240652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456432" y="1389888"/>
            <a:ext cx="2670048" cy="658368"/>
            <a:chOff x="0" y="0"/>
            <a:chExt cx="3560064" cy="8778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60064" cy="877824"/>
            </a:xfrm>
            <a:custGeom>
              <a:avLst/>
              <a:gdLst/>
              <a:ahLst/>
              <a:cxnLst/>
              <a:rect r="r" b="b" t="t" l="l"/>
              <a:pathLst>
                <a:path h="877824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5600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Price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(Jun 2025)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56432" y="2011680"/>
            <a:ext cx="2670048" cy="950976"/>
            <a:chOff x="0" y="0"/>
            <a:chExt cx="3560064" cy="1267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600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" r="0" b="-47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3560064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22.22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21295" y="1310383"/>
            <a:ext cx="2755897" cy="1804921"/>
            <a:chOff x="0" y="0"/>
            <a:chExt cx="3674529" cy="24065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74491" cy="2406523"/>
            </a:xfrm>
            <a:custGeom>
              <a:avLst/>
              <a:gdLst/>
              <a:ahLst/>
              <a:cxnLst/>
              <a:rect r="r" b="b" t="t" l="l"/>
              <a:pathLst>
                <a:path h="2406523" w="3674491">
                  <a:moveTo>
                    <a:pt x="0" y="0"/>
                  </a:moveTo>
                  <a:lnTo>
                    <a:pt x="3674491" y="0"/>
                  </a:lnTo>
                  <a:lnTo>
                    <a:pt x="3674491" y="2406523"/>
                  </a:lnTo>
                  <a:lnTo>
                    <a:pt x="0" y="240652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364224" y="1389888"/>
            <a:ext cx="2670048" cy="658368"/>
            <a:chOff x="0" y="0"/>
            <a:chExt cx="3560064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60064" cy="877824"/>
            </a:xfrm>
            <a:custGeom>
              <a:avLst/>
              <a:gdLst/>
              <a:ahLst/>
              <a:cxnLst/>
              <a:rect r="r" b="b" t="t" l="l"/>
              <a:pathLst>
                <a:path h="877824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5600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 Price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(May 2026)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64224" y="2011680"/>
            <a:ext cx="2670048" cy="950976"/>
            <a:chOff x="0" y="0"/>
            <a:chExt cx="3560064" cy="12679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600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" r="0" b="-47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560064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Tk. ~29.50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29087" y="1310383"/>
            <a:ext cx="2755897" cy="1804921"/>
            <a:chOff x="0" y="0"/>
            <a:chExt cx="3674529" cy="240656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74491" cy="2406523"/>
            </a:xfrm>
            <a:custGeom>
              <a:avLst/>
              <a:gdLst/>
              <a:ahLst/>
              <a:cxnLst/>
              <a:rect r="r" b="b" t="t" l="l"/>
              <a:pathLst>
                <a:path h="2406523" w="3674491">
                  <a:moveTo>
                    <a:pt x="0" y="0"/>
                  </a:moveTo>
                  <a:lnTo>
                    <a:pt x="3674491" y="0"/>
                  </a:lnTo>
                  <a:lnTo>
                    <a:pt x="3674491" y="2406523"/>
                  </a:lnTo>
                  <a:lnTo>
                    <a:pt x="0" y="240652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272016" y="1389888"/>
            <a:ext cx="2670048" cy="658368"/>
            <a:chOff x="0" y="0"/>
            <a:chExt cx="3560064" cy="877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60064" cy="877824"/>
            </a:xfrm>
            <a:custGeom>
              <a:avLst/>
              <a:gdLst/>
              <a:ahLst/>
              <a:cxnLst/>
              <a:rect r="r" b="b" t="t" l="l"/>
              <a:pathLst>
                <a:path h="877824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5600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Margin of Safety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(Jun 2025)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72016" y="2011680"/>
            <a:ext cx="2670048" cy="950976"/>
            <a:chOff x="0" y="0"/>
            <a:chExt cx="3560064" cy="12679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600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" r="0" b="-47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3560064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13.3%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36879" y="1310383"/>
            <a:ext cx="2755897" cy="1804921"/>
            <a:chOff x="0" y="0"/>
            <a:chExt cx="3674529" cy="24065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74491" cy="2406523"/>
            </a:xfrm>
            <a:custGeom>
              <a:avLst/>
              <a:gdLst/>
              <a:ahLst/>
              <a:cxnLst/>
              <a:rect r="r" b="b" t="t" l="l"/>
              <a:pathLst>
                <a:path h="2406523" w="3674491">
                  <a:moveTo>
                    <a:pt x="0" y="0"/>
                  </a:moveTo>
                  <a:lnTo>
                    <a:pt x="3674491" y="0"/>
                  </a:lnTo>
                  <a:lnTo>
                    <a:pt x="3674491" y="2406523"/>
                  </a:lnTo>
                  <a:lnTo>
                    <a:pt x="0" y="240652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179808" y="1389888"/>
            <a:ext cx="2670048" cy="658368"/>
            <a:chOff x="0" y="0"/>
            <a:chExt cx="3560064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60064" cy="877824"/>
            </a:xfrm>
            <a:custGeom>
              <a:avLst/>
              <a:gdLst/>
              <a:ahLst/>
              <a:cxnLst/>
              <a:rect r="r" b="b" t="t" l="l"/>
              <a:pathLst>
                <a:path h="877824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5600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Trailing P/E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(Consol.)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79808" y="2011680"/>
            <a:ext cx="2670048" cy="950976"/>
            <a:chOff x="0" y="0"/>
            <a:chExt cx="3560064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600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" r="0" b="-47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560064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B6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3.0×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044671" y="1310383"/>
            <a:ext cx="2755897" cy="1804921"/>
            <a:chOff x="0" y="0"/>
            <a:chExt cx="3674529" cy="24065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74491" cy="2406523"/>
            </a:xfrm>
            <a:custGeom>
              <a:avLst/>
              <a:gdLst/>
              <a:ahLst/>
              <a:cxnLst/>
              <a:rect r="r" b="b" t="t" l="l"/>
              <a:pathLst>
                <a:path h="2406523" w="3674491">
                  <a:moveTo>
                    <a:pt x="0" y="0"/>
                  </a:moveTo>
                  <a:lnTo>
                    <a:pt x="3674491" y="0"/>
                  </a:lnTo>
                  <a:lnTo>
                    <a:pt x="3674491" y="2406523"/>
                  </a:lnTo>
                  <a:lnTo>
                    <a:pt x="0" y="240652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5087600" y="1389888"/>
            <a:ext cx="2670048" cy="658368"/>
            <a:chOff x="0" y="0"/>
            <a:chExt cx="3560064" cy="8778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60064" cy="877824"/>
            </a:xfrm>
            <a:custGeom>
              <a:avLst/>
              <a:gdLst/>
              <a:ahLst/>
              <a:cxnLst/>
              <a:rect r="r" b="b" t="t" l="l"/>
              <a:pathLst>
                <a:path h="877824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560064" cy="906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P/B Ratio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(Standalone)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087600" y="2011680"/>
            <a:ext cx="2670048" cy="950976"/>
            <a:chOff x="0" y="0"/>
            <a:chExt cx="3560064" cy="12679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60064" cy="1267968"/>
            </a:xfrm>
            <a:custGeom>
              <a:avLst/>
              <a:gdLst/>
              <a:ahLst/>
              <a:cxnLst/>
              <a:rect r="r" b="b" t="t" l="l"/>
              <a:pathLst>
                <a:path h="1267968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" r="0" b="-47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3560064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0.91×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05711" y="3322063"/>
            <a:ext cx="8425177" cy="6504937"/>
            <a:chOff x="0" y="0"/>
            <a:chExt cx="11233569" cy="867324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33531" cy="8673211"/>
            </a:xfrm>
            <a:custGeom>
              <a:avLst/>
              <a:gdLst/>
              <a:ahLst/>
              <a:cxnLst/>
              <a:rect r="r" b="b" t="t" l="l"/>
              <a:pathLst>
                <a:path h="867321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8673211"/>
                  </a:lnTo>
                  <a:lnTo>
                    <a:pt x="0" y="86732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499367" y="3315719"/>
            <a:ext cx="8437883" cy="756923"/>
            <a:chOff x="0" y="0"/>
            <a:chExt cx="11250511" cy="100923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505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2E7D50"/>
            </a:solidFill>
            <a:ln w="2540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512064" y="3328416"/>
            <a:ext cx="8412480" cy="731520"/>
            <a:chOff x="0" y="0"/>
            <a:chExt cx="1121664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216640" cy="975360"/>
            </a:xfrm>
            <a:custGeom>
              <a:avLst/>
              <a:gdLst/>
              <a:ahLst/>
              <a:cxnLst/>
              <a:rect r="r" b="b" t="t" l="l"/>
              <a:pathLst>
                <a:path h="975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216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A — STOCK IS UNDERVALUED  (at Tk. 22.22, Jun 2025)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254" y="4165854"/>
            <a:ext cx="8420100" cy="556260"/>
            <a:chOff x="0" y="0"/>
            <a:chExt cx="11226800" cy="741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40080" y="4169664"/>
            <a:ext cx="8083296" cy="548640"/>
            <a:chOff x="0" y="0"/>
            <a:chExt cx="10777728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Consolidated DCF: Tk. 25.63 &gt; Market Price Tk. 22.22 → Margin of Safety: 13.3%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08254" y="4769358"/>
            <a:ext cx="8420100" cy="556260"/>
            <a:chOff x="0" y="0"/>
            <a:chExt cx="11226800" cy="741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40080" y="4773168"/>
            <a:ext cx="8083296" cy="548640"/>
            <a:chOff x="0" y="0"/>
            <a:chExt cx="10777728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Trailing P/E of 3.0× vs DSE market average of ~17.7× — significantly discounted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08254" y="5372862"/>
            <a:ext cx="8420100" cy="556260"/>
            <a:chOff x="0" y="0"/>
            <a:chExt cx="11226800" cy="741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640080" y="5376672"/>
            <a:ext cx="8083296" cy="548640"/>
            <a:chOff x="0" y="0"/>
            <a:chExt cx="10777728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P/B of 0.91× — trading below standalone book value; strong asset backing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08254" y="5976366"/>
            <a:ext cx="8420100" cy="556260"/>
            <a:chOff x="0" y="0"/>
            <a:chExt cx="11226800" cy="74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640080" y="5980176"/>
            <a:ext cx="8083296" cy="548640"/>
            <a:chOff x="0" y="0"/>
            <a:chExt cx="10777728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Revenue up 24.23% in FY25; net income recovering from FY23 crisis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08254" y="6579870"/>
            <a:ext cx="8420100" cy="556260"/>
            <a:chOff x="0" y="0"/>
            <a:chExt cx="11226800" cy="7416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40080" y="6583680"/>
            <a:ext cx="8083296" cy="548640"/>
            <a:chOff x="0" y="0"/>
            <a:chExt cx="10777728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Dividend yield of ~4.5% at Tk. 22 — competitive vs sector &amp; market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08254" y="7183374"/>
            <a:ext cx="8420100" cy="556260"/>
            <a:chOff x="0" y="0"/>
            <a:chExt cx="11226800" cy="7416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640080" y="7187184"/>
            <a:ext cx="8083296" cy="548640"/>
            <a:chOff x="0" y="0"/>
            <a:chExt cx="10777728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NOCFPS of Tk. 1.13 — only positive among peers; strong cash generation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08254" y="7786878"/>
            <a:ext cx="8420100" cy="556260"/>
            <a:chOff x="0" y="0"/>
            <a:chExt cx="11226800" cy="741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640080" y="7790688"/>
            <a:ext cx="8083296" cy="548640"/>
            <a:chOff x="0" y="0"/>
            <a:chExt cx="10777728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 Signal: BUY / Accumulate at or below Tk. 25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08254" y="8390382"/>
            <a:ext cx="8420100" cy="556260"/>
            <a:chOff x="0" y="0"/>
            <a:chExt cx="11226800" cy="741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640080" y="8394192"/>
            <a:ext cx="8083296" cy="548640"/>
            <a:chOff x="0" y="0"/>
            <a:chExt cx="10777728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 Price Target: Tk. 25–26 (anchored by DCF intrinsic value)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08254" y="8993886"/>
            <a:ext cx="8420100" cy="556260"/>
            <a:chOff x="0" y="0"/>
            <a:chExt cx="11226800" cy="7416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E8F5EE"/>
            </a:solidFill>
            <a:ln w="7620" cap="sq">
              <a:solidFill>
                <a:srgbClr val="2E7D50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640080" y="8997696"/>
            <a:ext cx="8083296" cy="548640"/>
            <a:chOff x="0" y="0"/>
            <a:chExt cx="10777728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2E7D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 Conservative investor: ~17.5% combined return (13% capital gain + 4.5% yield)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357103" y="3322063"/>
            <a:ext cx="8425177" cy="6504937"/>
            <a:chOff x="0" y="0"/>
            <a:chExt cx="11233569" cy="867324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233531" cy="8673211"/>
            </a:xfrm>
            <a:custGeom>
              <a:avLst/>
              <a:gdLst/>
              <a:ahLst/>
              <a:cxnLst/>
              <a:rect r="r" b="b" t="t" l="l"/>
              <a:pathLst>
                <a:path h="8673211" w="11233531">
                  <a:moveTo>
                    <a:pt x="0" y="0"/>
                  </a:moveTo>
                  <a:lnTo>
                    <a:pt x="11233531" y="0"/>
                  </a:lnTo>
                  <a:lnTo>
                    <a:pt x="11233531" y="8673211"/>
                  </a:lnTo>
                  <a:lnTo>
                    <a:pt x="0" y="86732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9350759" y="3315719"/>
            <a:ext cx="8437883" cy="756923"/>
            <a:chOff x="0" y="0"/>
            <a:chExt cx="11250511" cy="100923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25054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C0392B"/>
            </a:solidFill>
            <a:ln w="254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363456" y="3328416"/>
            <a:ext cx="8412480" cy="731520"/>
            <a:chOff x="0" y="0"/>
            <a:chExt cx="11216640" cy="9753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216640" cy="975360"/>
            </a:xfrm>
            <a:custGeom>
              <a:avLst/>
              <a:gdLst/>
              <a:ahLst/>
              <a:cxnLst/>
              <a:rect r="r" b="b" t="t" l="l"/>
              <a:pathLst>
                <a:path h="975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12166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SCENARIO B — STOCK IS OVERVALUED  (at Tk. 29.50–34.70, 2026)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359646" y="4165854"/>
            <a:ext cx="8420100" cy="556260"/>
            <a:chOff x="0" y="0"/>
            <a:chExt cx="11226800" cy="7416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73184" y="4169664"/>
            <a:ext cx="8083296" cy="548640"/>
            <a:chOff x="0" y="0"/>
            <a:chExt cx="10777728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40% price surge to ~Tk. 34.70 eliminates margin of safety over base case DCF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359646" y="4769358"/>
            <a:ext cx="8420100" cy="556260"/>
            <a:chOff x="0" y="0"/>
            <a:chExt cx="11226800" cy="741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9473184" y="4773168"/>
            <a:ext cx="8083296" cy="548640"/>
            <a:chOff x="0" y="0"/>
            <a:chExt cx="10777728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Base case DCF (WACC 13%, g 3.5%): intrinsic value Tk. 25.63 &lt; market price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359646" y="5372862"/>
            <a:ext cx="8420100" cy="556260"/>
            <a:chOff x="0" y="0"/>
            <a:chExt cx="11226800" cy="7416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473184" y="5376672"/>
            <a:ext cx="8083296" cy="548640"/>
            <a:chOff x="0" y="0"/>
            <a:chExt cx="10777728" cy="7315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Bear case (WACC 15%, g 2.5%): intrinsic value only Tk. 13.20 — 62% downside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359646" y="5976366"/>
            <a:ext cx="8420100" cy="556260"/>
            <a:chOff x="0" y="0"/>
            <a:chExt cx="11226800" cy="74168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9473184" y="5980176"/>
            <a:ext cx="8083296" cy="548640"/>
            <a:chOff x="0" y="0"/>
            <a:chExt cx="10777728" cy="73152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Market price trading ahead of near-term fundamental improvement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359646" y="6579870"/>
            <a:ext cx="8420100" cy="556260"/>
            <a:chOff x="0" y="0"/>
            <a:chExt cx="11226800" cy="7416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4F7FB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9473184" y="6583680"/>
            <a:ext cx="8083296" cy="548640"/>
            <a:chOff x="0" y="0"/>
            <a:chExt cx="10777728" cy="73152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Headwinds: imported cotton prices, margin pressures, global textile cycle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359646" y="7183374"/>
            <a:ext cx="8420100" cy="556260"/>
            <a:chOff x="0" y="0"/>
            <a:chExt cx="11226800" cy="74168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9473184" y="7187184"/>
            <a:ext cx="8083296" cy="548640"/>
            <a:chOff x="0" y="0"/>
            <a:chExt cx="10777728" cy="73152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Existing holders: consider partial profit booking; hold remaining position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359646" y="7786878"/>
            <a:ext cx="8420100" cy="556260"/>
            <a:chOff x="0" y="0"/>
            <a:chExt cx="11226800" cy="7416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9473184" y="7790688"/>
            <a:ext cx="8083296" cy="548640"/>
            <a:chOff x="0" y="0"/>
            <a:chExt cx="10777728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 Signal: HOLD / REDUCE for new investors at Tk. 34+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359646" y="8390382"/>
            <a:ext cx="8420100" cy="556260"/>
            <a:chOff x="0" y="0"/>
            <a:chExt cx="11226800" cy="7416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73184" y="8394192"/>
            <a:ext cx="8083296" cy="548640"/>
            <a:chOff x="0" y="0"/>
            <a:chExt cx="10777728" cy="73152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 New investors: avoid or wait; no margin of safety at current levels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359646" y="8993886"/>
            <a:ext cx="8420100" cy="556260"/>
            <a:chOff x="0" y="0"/>
            <a:chExt cx="11226800" cy="74168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1226800" cy="741680"/>
            </a:xfrm>
            <a:custGeom>
              <a:avLst/>
              <a:gdLst/>
              <a:ahLst/>
              <a:cxnLst/>
              <a:rect r="r" b="b" t="t" l="l"/>
              <a:pathLst>
                <a:path h="741680" w="11226800">
                  <a:moveTo>
                    <a:pt x="0" y="0"/>
                  </a:moveTo>
                  <a:lnTo>
                    <a:pt x="11226800" y="0"/>
                  </a:lnTo>
                  <a:lnTo>
                    <a:pt x="11226800" y="741680"/>
                  </a:lnTo>
                  <a:lnTo>
                    <a:pt x="0" y="741680"/>
                  </a:lnTo>
                  <a:close/>
                </a:path>
              </a:pathLst>
            </a:custGeom>
            <a:solidFill>
              <a:srgbClr val="FDECEA"/>
            </a:solidFill>
            <a:ln w="762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9473184" y="8997696"/>
            <a:ext cx="8083296" cy="548640"/>
            <a:chOff x="0" y="0"/>
            <a:chExt cx="10777728" cy="73152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777728" cy="731520"/>
            </a:xfrm>
            <a:custGeom>
              <a:avLst/>
              <a:gdLst/>
              <a:ahLst/>
              <a:cxnLst/>
              <a:rect r="r" b="b" t="t" l="l"/>
              <a:pathLst>
                <a:path h="731520" w="10777728">
                  <a:moveTo>
                    <a:pt x="0" y="0"/>
                  </a:moveTo>
                  <a:lnTo>
                    <a:pt x="10777728" y="0"/>
                  </a:lnTo>
                  <a:lnTo>
                    <a:pt x="10777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79" r="0" b="-237079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1077772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 Short-term traders: mean-reversion risk — 40% one-month gain is significant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505711" y="9649711"/>
            <a:ext cx="17276569" cy="652777"/>
            <a:chOff x="0" y="0"/>
            <a:chExt cx="23035425" cy="870369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3035388" cy="870331"/>
            </a:xfrm>
            <a:custGeom>
              <a:avLst/>
              <a:gdLst/>
              <a:ahLst/>
              <a:cxnLst/>
              <a:rect r="r" b="b" t="t" l="l"/>
              <a:pathLst>
                <a:path h="870331" w="23035388">
                  <a:moveTo>
                    <a:pt x="0" y="0"/>
                  </a:moveTo>
                  <a:lnTo>
                    <a:pt x="23035388" y="0"/>
                  </a:lnTo>
                  <a:lnTo>
                    <a:pt x="23035388" y="870331"/>
                  </a:lnTo>
                  <a:lnTo>
                    <a:pt x="0" y="870331"/>
                  </a:lnTo>
                  <a:close/>
                </a:path>
              </a:pathLst>
            </a:custGeom>
            <a:solidFill>
              <a:srgbClr val="0D1B2A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731520" y="9674352"/>
            <a:ext cx="16824960" cy="603504"/>
            <a:chOff x="0" y="0"/>
            <a:chExt cx="22433280" cy="80467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219" r="0" b="-493219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224332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OVERALL VERDICT: Undervalued at Tk. 22.22 (Jun 2025) — clear value buy. Rally to ~Tk. 34.70 eliminates margin of safety. Modestly overvalued at Tk. 34+.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482603" cy="10312403"/>
            <a:chOff x="0" y="0"/>
            <a:chExt cx="6434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35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643509">
                  <a:moveTo>
                    <a:pt x="0" y="0"/>
                  </a:moveTo>
                  <a:lnTo>
                    <a:pt x="643509" y="0"/>
                  </a:lnTo>
                  <a:lnTo>
                    <a:pt x="6435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4864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1619781"/>
            <a:ext cx="16929097" cy="113842"/>
            <a:chOff x="0" y="0"/>
            <a:chExt cx="19541071" cy="131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41110" cy="131445"/>
            </a:xfrm>
            <a:custGeom>
              <a:avLst/>
              <a:gdLst/>
              <a:ahLst/>
              <a:cxnLst/>
              <a:rect r="r" b="b" t="t" l="l"/>
              <a:pathLst>
                <a:path h="131445" w="19541110">
                  <a:moveTo>
                    <a:pt x="0" y="0"/>
                  </a:moveTo>
                  <a:lnTo>
                    <a:pt x="19541110" y="0"/>
                  </a:lnTo>
                  <a:lnTo>
                    <a:pt x="195411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25167" y="1913887"/>
            <a:ext cx="7876537" cy="3487417"/>
            <a:chOff x="0" y="0"/>
            <a:chExt cx="10502049" cy="4649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02011" cy="4649851"/>
            </a:xfrm>
            <a:custGeom>
              <a:avLst/>
              <a:gdLst/>
              <a:ahLst/>
              <a:cxnLst/>
              <a:rect r="r" b="b" t="t" l="l"/>
              <a:pathLst>
                <a:path h="4649851" w="10502011">
                  <a:moveTo>
                    <a:pt x="0" y="0"/>
                  </a:moveTo>
                  <a:lnTo>
                    <a:pt x="10502011" y="0"/>
                  </a:lnTo>
                  <a:lnTo>
                    <a:pt x="10502011" y="4649851"/>
                  </a:lnTo>
                  <a:lnTo>
                    <a:pt x="0" y="4649851"/>
                  </a:lnTo>
                  <a:close/>
                </a:path>
              </a:pathLst>
            </a:custGeom>
            <a:solidFill>
              <a:srgbClr val="122840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1907543"/>
            <a:ext cx="7889243" cy="665483"/>
            <a:chOff x="0" y="0"/>
            <a:chExt cx="10518991" cy="887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19029" cy="887349"/>
            </a:xfrm>
            <a:custGeom>
              <a:avLst/>
              <a:gdLst/>
              <a:ahLst/>
              <a:cxnLst/>
              <a:rect r="r" b="b" t="t" l="l"/>
              <a:pathLst>
                <a:path h="88734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1B6CA8"/>
            </a:solidFill>
            <a:ln w="25400" cap="sq">
              <a:solidFill>
                <a:srgbClr val="1B6CA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1920240"/>
            <a:ext cx="7863840" cy="640080"/>
            <a:chOff x="0" y="0"/>
            <a:chExt cx="104851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Malek Spinning Mills PLC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651760"/>
            <a:ext cx="7498080" cy="2651760"/>
            <a:chOff x="0" y="0"/>
            <a:chExt cx="9997440" cy="3535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97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5" r="0" b="-50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997440" cy="357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Recovering from severe FY2023 crisis (negative ROE -11.21%). Revenue up 24.23% in FY25. EPS stabilizing at Tk. 1.21 (solo). High debt burden constrains standalone DCF value (Tk. 0.32/share) but consolidated basis shows Tk. 25.63. Stock was undervalued at Tk. 22.22 in Jun 2025 — subsequent rally to ~Tk. 34.70 narrows margin of safety.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5662927"/>
            <a:ext cx="7876537" cy="3487417"/>
            <a:chOff x="0" y="0"/>
            <a:chExt cx="10502049" cy="46498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02011" cy="4649851"/>
            </a:xfrm>
            <a:custGeom>
              <a:avLst/>
              <a:gdLst/>
              <a:ahLst/>
              <a:cxnLst/>
              <a:rect r="r" b="b" t="t" l="l"/>
              <a:pathLst>
                <a:path h="4649851" w="10502011">
                  <a:moveTo>
                    <a:pt x="0" y="0"/>
                  </a:moveTo>
                  <a:lnTo>
                    <a:pt x="10502011" y="0"/>
                  </a:lnTo>
                  <a:lnTo>
                    <a:pt x="10502011" y="4649851"/>
                  </a:lnTo>
                  <a:lnTo>
                    <a:pt x="0" y="4649851"/>
                  </a:lnTo>
                  <a:close/>
                </a:path>
              </a:pathLst>
            </a:custGeom>
            <a:solidFill>
              <a:srgbClr val="122840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18823" y="5656583"/>
            <a:ext cx="7889243" cy="665483"/>
            <a:chOff x="0" y="0"/>
            <a:chExt cx="10518991" cy="8873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19029" cy="887349"/>
            </a:xfrm>
            <a:custGeom>
              <a:avLst/>
              <a:gdLst/>
              <a:ahLst/>
              <a:cxnLst/>
              <a:rect r="r" b="b" t="t" l="l"/>
              <a:pathLst>
                <a:path h="88734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5669280"/>
            <a:ext cx="7863840" cy="640080"/>
            <a:chOff x="0" y="0"/>
            <a:chExt cx="1048512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Matin Spinning Mills PLC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6400800"/>
            <a:ext cx="7498080" cy="2651760"/>
            <a:chOff x="0" y="0"/>
            <a:chExt cx="9997440" cy="3535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5" r="0" b="-50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357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financially stable, profitable, and efficient. Superior GPM (15%), OPM (11.39%), ROA (3.30%), ROE (6.72%). EPS grew 130% to Tk. 4.70. Moderate leverage (D/A: 0.51). Low P/E of 9.64× despite strong earnings growth suggests possible undervaluation by the market.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46207" y="1913887"/>
            <a:ext cx="8608057" cy="7327897"/>
            <a:chOff x="0" y="0"/>
            <a:chExt cx="11477409" cy="97705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477371" cy="9770491"/>
            </a:xfrm>
            <a:custGeom>
              <a:avLst/>
              <a:gdLst/>
              <a:ahLst/>
              <a:cxnLst/>
              <a:rect r="r" b="b" t="t" l="l"/>
              <a:pathLst>
                <a:path h="9770491" w="11477371">
                  <a:moveTo>
                    <a:pt x="0" y="0"/>
                  </a:moveTo>
                  <a:lnTo>
                    <a:pt x="11477371" y="0"/>
                  </a:lnTo>
                  <a:lnTo>
                    <a:pt x="11477371" y="9770491"/>
                  </a:lnTo>
                  <a:lnTo>
                    <a:pt x="0" y="9770491"/>
                  </a:lnTo>
                  <a:close/>
                </a:path>
              </a:pathLst>
            </a:custGeom>
            <a:solidFill>
              <a:srgbClr val="122840"/>
            </a:solidFill>
            <a:ln w="12700" cap="sq">
              <a:solidFill>
                <a:srgbClr val="D9E4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039863" y="1907543"/>
            <a:ext cx="8620763" cy="665483"/>
            <a:chOff x="0" y="0"/>
            <a:chExt cx="11494351" cy="8873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94389" cy="887349"/>
            </a:xfrm>
            <a:custGeom>
              <a:avLst/>
              <a:gdLst/>
              <a:ahLst/>
              <a:cxnLst/>
              <a:rect r="r" b="b" t="t" l="l"/>
              <a:pathLst>
                <a:path h="887349" w="11494389">
                  <a:moveTo>
                    <a:pt x="0" y="0"/>
                  </a:moveTo>
                  <a:lnTo>
                    <a:pt x="11494389" y="0"/>
                  </a:lnTo>
                  <a:lnTo>
                    <a:pt x="11494389" y="887349"/>
                  </a:lnTo>
                  <a:lnTo>
                    <a:pt x="0" y="88734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052560" y="1920240"/>
            <a:ext cx="8595360" cy="640080"/>
            <a:chOff x="0" y="0"/>
            <a:chExt cx="1146048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60480" cy="853440"/>
            </a:xfrm>
            <a:custGeom>
              <a:avLst/>
              <a:gdLst/>
              <a:ahLst/>
              <a:cxnLst/>
              <a:rect r="r" b="b" t="t" l="l"/>
              <a:pathLst>
                <a:path h="85344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4604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39863" y="2639063"/>
            <a:ext cx="537467" cy="848363"/>
            <a:chOff x="0" y="0"/>
            <a:chExt cx="716623" cy="11311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6661" cy="1131189"/>
            </a:xfrm>
            <a:custGeom>
              <a:avLst/>
              <a:gdLst/>
              <a:ahLst/>
              <a:cxnLst/>
              <a:rect r="r" b="b" t="t" l="l"/>
              <a:pathLst>
                <a:path h="1131189" w="716661">
                  <a:moveTo>
                    <a:pt x="0" y="0"/>
                  </a:moveTo>
                  <a:lnTo>
                    <a:pt x="716661" y="0"/>
                  </a:lnTo>
                  <a:lnTo>
                    <a:pt x="716661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052560" y="2651760"/>
            <a:ext cx="512064" cy="822960"/>
            <a:chOff x="0" y="0"/>
            <a:chExt cx="682752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02" t="0" r="-15620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8275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56064" y="2651760"/>
            <a:ext cx="7827264" cy="877824"/>
            <a:chOff x="0" y="0"/>
            <a:chExt cx="10436352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363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43635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Optimize Asset Utilization — Malek must close the asset turnover gap (0.51× vs Matin's 0.63×) through better capacity management.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39863" y="3699767"/>
            <a:ext cx="537467" cy="848363"/>
            <a:chOff x="0" y="0"/>
            <a:chExt cx="716623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6661" cy="1131189"/>
            </a:xfrm>
            <a:custGeom>
              <a:avLst/>
              <a:gdLst/>
              <a:ahLst/>
              <a:cxnLst/>
              <a:rect r="r" b="b" t="t" l="l"/>
              <a:pathLst>
                <a:path h="1131189" w="716661">
                  <a:moveTo>
                    <a:pt x="0" y="0"/>
                  </a:moveTo>
                  <a:lnTo>
                    <a:pt x="716661" y="0"/>
                  </a:lnTo>
                  <a:lnTo>
                    <a:pt x="716661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052560" y="3712464"/>
            <a:ext cx="512064" cy="822960"/>
            <a:chOff x="0" y="0"/>
            <a:chExt cx="682752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02" t="0" r="-15620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8275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56064" y="3712464"/>
            <a:ext cx="7827264" cy="877824"/>
            <a:chOff x="0" y="0"/>
            <a:chExt cx="10436352" cy="11704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363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43635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Inventory Management — Both companies hold excessive inventory relative to sales velocity; targeted reduction would improve quick ratios and free cash flow.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39863" y="4760471"/>
            <a:ext cx="537467" cy="848363"/>
            <a:chOff x="0" y="0"/>
            <a:chExt cx="716623" cy="11311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6661" cy="1131189"/>
            </a:xfrm>
            <a:custGeom>
              <a:avLst/>
              <a:gdLst/>
              <a:ahLst/>
              <a:cxnLst/>
              <a:rect r="r" b="b" t="t" l="l"/>
              <a:pathLst>
                <a:path h="1131189" w="716661">
                  <a:moveTo>
                    <a:pt x="0" y="0"/>
                  </a:moveTo>
                  <a:lnTo>
                    <a:pt x="716661" y="0"/>
                  </a:lnTo>
                  <a:lnTo>
                    <a:pt x="716661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052560" y="4773168"/>
            <a:ext cx="512064" cy="822960"/>
            <a:chOff x="0" y="0"/>
            <a:chExt cx="682752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02" t="0" r="-15620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8275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56064" y="4773168"/>
            <a:ext cx="7827264" cy="877824"/>
            <a:chOff x="0" y="0"/>
            <a:chExt cx="10436352" cy="11704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363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43635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Liquidity Enhancement — Reduce short-term debt dependency; both companies show quick ratios below 1.0, exposing them to refinancing risk.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39863" y="5821175"/>
            <a:ext cx="537467" cy="848363"/>
            <a:chOff x="0" y="0"/>
            <a:chExt cx="716623" cy="11311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6661" cy="1131189"/>
            </a:xfrm>
            <a:custGeom>
              <a:avLst/>
              <a:gdLst/>
              <a:ahLst/>
              <a:cxnLst/>
              <a:rect r="r" b="b" t="t" l="l"/>
              <a:pathLst>
                <a:path h="1131189" w="716661">
                  <a:moveTo>
                    <a:pt x="0" y="0"/>
                  </a:moveTo>
                  <a:lnTo>
                    <a:pt x="716661" y="0"/>
                  </a:lnTo>
                  <a:lnTo>
                    <a:pt x="716661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052560" y="5833872"/>
            <a:ext cx="512064" cy="822960"/>
            <a:chOff x="0" y="0"/>
            <a:chExt cx="682752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02" t="0" r="-15620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8275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56064" y="5833872"/>
            <a:ext cx="7827264" cy="877824"/>
            <a:chOff x="0" y="0"/>
            <a:chExt cx="10436352" cy="11704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363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3635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Deleveraging — Malek's debt load (D/E 0.51×) remains elevated post-crisis; continued profit retention and debt repayment is critical.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39863" y="6881879"/>
            <a:ext cx="537467" cy="848363"/>
            <a:chOff x="0" y="0"/>
            <a:chExt cx="716623" cy="11311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6661" cy="1131189"/>
            </a:xfrm>
            <a:custGeom>
              <a:avLst/>
              <a:gdLst/>
              <a:ahLst/>
              <a:cxnLst/>
              <a:rect r="r" b="b" t="t" l="l"/>
              <a:pathLst>
                <a:path h="1131189" w="716661">
                  <a:moveTo>
                    <a:pt x="0" y="0"/>
                  </a:moveTo>
                  <a:lnTo>
                    <a:pt x="716661" y="0"/>
                  </a:lnTo>
                  <a:lnTo>
                    <a:pt x="716661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052560" y="6894576"/>
            <a:ext cx="512064" cy="822960"/>
            <a:chOff x="0" y="0"/>
            <a:chExt cx="682752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27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02" t="0" r="-15620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8275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656064" y="6894576"/>
            <a:ext cx="7827264" cy="877824"/>
            <a:chOff x="0" y="0"/>
            <a:chExt cx="10436352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4363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43635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Operating Cost Control — Malek's operating margin of only 4.47% vs Matin's 11.39% reveals room for significant efficiency improvements.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039863" y="7942583"/>
            <a:ext cx="537467" cy="848363"/>
            <a:chOff x="0" y="0"/>
            <a:chExt cx="716623" cy="113115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16661" cy="1131189"/>
            </a:xfrm>
            <a:custGeom>
              <a:avLst/>
              <a:gdLst/>
              <a:ahLst/>
              <a:cxnLst/>
              <a:rect r="r" b="b" t="t" l="l"/>
              <a:pathLst>
                <a:path h="1131189" w="716661">
                  <a:moveTo>
                    <a:pt x="0" y="0"/>
                  </a:moveTo>
                  <a:lnTo>
                    <a:pt x="716661" y="0"/>
                  </a:lnTo>
                  <a:lnTo>
                    <a:pt x="716661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A838"/>
            </a:solidFill>
            <a:ln w="25400" cap="sq">
              <a:solidFill>
                <a:srgbClr val="E8A838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052560" y="7955280"/>
            <a:ext cx="512064" cy="822960"/>
            <a:chOff x="0" y="0"/>
            <a:chExt cx="682752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82752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6202" t="0" r="-15620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682752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56064" y="7955280"/>
            <a:ext cx="7827264" cy="877824"/>
            <a:chOff x="0" y="0"/>
            <a:chExt cx="10436352" cy="11704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43635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741" r="0" b="-12374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436352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2"/>
                </a:lnSpc>
              </a:pPr>
              <a:r>
                <a:rPr lang="en-US" sz="1760">
                  <a:solidFill>
                    <a:srgbClr val="B0C8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Stakeholder Communication — Matin's low P/E (9.64×) despite strong earnings suggests a communication gap with the market; investor relations should be prioritized.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6894" y="4281487"/>
            <a:ext cx="489421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  <a:spcBef>
                <a:spcPct val="0"/>
              </a:spcBef>
            </a:pPr>
            <a:r>
              <a:rPr lang="en-US" b="true" sz="8999" i="true">
                <a:solidFill>
                  <a:srgbClr val="E8A83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DAHJcp94nnA</dc:identifier>
  <dcterms:modified xsi:type="dcterms:W3CDTF">2011-08-01T06:04:30Z</dcterms:modified>
  <cp:revision>1</cp:revision>
  <dc:title>BUS526 Group 2 Presentation</dc:title>
</cp:coreProperties>
</file>