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3" r:id="rId3"/>
    <p:sldId id="257" r:id="rId4"/>
    <p:sldId id="258" r:id="rId5"/>
    <p:sldId id="259" r:id="rId6"/>
    <p:sldId id="277" r:id="rId7"/>
    <p:sldId id="260" r:id="rId8"/>
    <p:sldId id="261" r:id="rId9"/>
    <p:sldId id="262" r:id="rId10"/>
    <p:sldId id="263" r:id="rId11"/>
    <p:sldId id="264" r:id="rId12"/>
    <p:sldId id="265" r:id="rId13"/>
    <p:sldId id="279" r:id="rId14"/>
    <p:sldId id="278" r:id="rId15"/>
    <p:sldId id="266" r:id="rId16"/>
    <p:sldId id="267" r:id="rId17"/>
    <p:sldId id="268" r:id="rId18"/>
    <p:sldId id="335" r:id="rId19"/>
    <p:sldId id="269" r:id="rId20"/>
    <p:sldId id="270" r:id="rId21"/>
    <p:sldId id="271" r:id="rId22"/>
    <p:sldId id="272" r:id="rId23"/>
    <p:sldId id="273" r:id="rId24"/>
    <p:sldId id="274" r:id="rId25"/>
    <p:sldId id="280" r:id="rId26"/>
    <p:sldId id="281" r:id="rId27"/>
    <p:sldId id="275" r:id="rId28"/>
    <p:sldId id="276" r:id="rId29"/>
    <p:sldId id="336" r:id="rId30"/>
    <p:sldId id="337" r:id="rId31"/>
    <p:sldId id="338" r:id="rId32"/>
    <p:sldId id="339" r:id="rId33"/>
    <p:sldId id="341" r:id="rId34"/>
    <p:sldId id="340" r:id="rId35"/>
    <p:sldId id="34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B302A-A5DC-8DF1-B7C4-AF3BC1007F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223725-716A-2C74-73B8-2037C7DBF9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8DA35C-32E4-2021-D0B1-E1FC2DB831DA}"/>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5" name="Footer Placeholder 4">
            <a:extLst>
              <a:ext uri="{FF2B5EF4-FFF2-40B4-BE49-F238E27FC236}">
                <a16:creationId xmlns:a16="http://schemas.microsoft.com/office/drawing/2014/main" id="{DDD0D7E5-978A-F2CE-B818-53DCB339FE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6662C-1740-3015-6F62-4456411BCF54}"/>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2323605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26C8B-268F-586C-F06D-4FBF65F552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A201B3-C40B-8B8B-F8F2-35134CF6C9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E79F3-F0CB-B4D4-0A8B-F6D369A71665}"/>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5" name="Footer Placeholder 4">
            <a:extLst>
              <a:ext uri="{FF2B5EF4-FFF2-40B4-BE49-F238E27FC236}">
                <a16:creationId xmlns:a16="http://schemas.microsoft.com/office/drawing/2014/main" id="{7F41A284-E292-2D5B-6546-5B7AA362C8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AA9085-383B-B20A-2875-43B78DCEE00B}"/>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4013556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D1F65-A0DF-0699-2157-6516F69AFA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32C60F-C858-C367-13F2-4A9D1105A7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A9CEF6-BDA7-F8F2-65D2-1FE524A33CE1}"/>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5" name="Footer Placeholder 4">
            <a:extLst>
              <a:ext uri="{FF2B5EF4-FFF2-40B4-BE49-F238E27FC236}">
                <a16:creationId xmlns:a16="http://schemas.microsoft.com/office/drawing/2014/main" id="{528801FF-EA86-C227-C72F-0DD86BEC30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66CDC5-4234-BF9D-F86B-6BEFE08138C9}"/>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3043601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5B6E1-E7EF-8C61-6694-582B22936D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653C17-E2C5-0EA0-6A3F-F407D64C8A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ADCBA7-15D3-B221-265D-B191D55FC6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B2ECA0-5F7C-014F-CE87-D3D6505A7F4C}"/>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6" name="Footer Placeholder 5">
            <a:extLst>
              <a:ext uri="{FF2B5EF4-FFF2-40B4-BE49-F238E27FC236}">
                <a16:creationId xmlns:a16="http://schemas.microsoft.com/office/drawing/2014/main" id="{5C45449B-726E-FFC1-7514-7ADA734B27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68B2B2-4B54-0732-9F2E-4F114D52DB94}"/>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2727426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6AB3-05C7-3C11-C952-EE8DCCE1E8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928951-5772-60A2-C55B-9AC1F39D39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B87BA5-5819-0C4C-8591-4CBCBB2689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C68BAE-C23C-FECF-C3FF-3A8A196EB0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A0EFEB-2FFC-8335-7027-2CF676D5EE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8188B2-0B73-3BDD-D079-3C0E84BCB13F}"/>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8" name="Footer Placeholder 7">
            <a:extLst>
              <a:ext uri="{FF2B5EF4-FFF2-40B4-BE49-F238E27FC236}">
                <a16:creationId xmlns:a16="http://schemas.microsoft.com/office/drawing/2014/main" id="{6BD4FD27-D931-B3D1-7745-71A4AC34B8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3734F4-701F-681F-7F5D-B73792402E21}"/>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3306209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427FC-BF54-B22C-A10B-C794FA5A88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2AA5C8-E88F-C560-3BB3-75B0FE34D378}"/>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4" name="Footer Placeholder 3">
            <a:extLst>
              <a:ext uri="{FF2B5EF4-FFF2-40B4-BE49-F238E27FC236}">
                <a16:creationId xmlns:a16="http://schemas.microsoft.com/office/drawing/2014/main" id="{A7B02D9F-D6ED-3706-A9D3-1F20788ACA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8A6CEA-88D1-0F23-5F2D-0735F739FA13}"/>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114786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020AD7-AC00-31A5-0B51-31F00ACE4149}"/>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3" name="Footer Placeholder 2">
            <a:extLst>
              <a:ext uri="{FF2B5EF4-FFF2-40B4-BE49-F238E27FC236}">
                <a16:creationId xmlns:a16="http://schemas.microsoft.com/office/drawing/2014/main" id="{F6AB9A32-DE8D-233B-E022-4C1D51AB90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964720-84A6-ACE5-E25D-22D831CAB1F4}"/>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731543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B09F7-F4B0-CA0E-B6CD-1F3F174906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74FA67-46B5-6527-5478-0716AB30E9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262061-322E-962E-5B19-5B95F2E962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9D9C8E-2F72-7E7F-1849-C73BB7EE86F6}"/>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6" name="Footer Placeholder 5">
            <a:extLst>
              <a:ext uri="{FF2B5EF4-FFF2-40B4-BE49-F238E27FC236}">
                <a16:creationId xmlns:a16="http://schemas.microsoft.com/office/drawing/2014/main" id="{A57A6800-6CF5-3A1B-3518-0DBA40C5EB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046DD5-1DED-DB49-A356-23473D536D62}"/>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4285179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D8E81-B765-ADB0-20F2-19D23E0ADB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A7DD1C-8D7B-AEC4-0D73-3AAEC0F0D2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A6A1C5-C1DF-D8A7-263D-AC8D3635B7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DF54F6-E0FB-9CCD-2741-F5F7B5D81F99}"/>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6" name="Footer Placeholder 5">
            <a:extLst>
              <a:ext uri="{FF2B5EF4-FFF2-40B4-BE49-F238E27FC236}">
                <a16:creationId xmlns:a16="http://schemas.microsoft.com/office/drawing/2014/main" id="{29B87C49-5C22-DF3C-39FF-A9534EBFA3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E9EE5F-3391-D311-A2C4-3EC24CF9AEEC}"/>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443928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9223-E252-5C91-5D33-8807A955CE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BB9B42-AE47-ECE8-8971-61326FEE63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EB0981-A47C-1933-ED9D-72BAFDB7A78F}"/>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5" name="Footer Placeholder 4">
            <a:extLst>
              <a:ext uri="{FF2B5EF4-FFF2-40B4-BE49-F238E27FC236}">
                <a16:creationId xmlns:a16="http://schemas.microsoft.com/office/drawing/2014/main" id="{01B0EDE2-4A68-4253-4AD3-804FE860A3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34EE3C-89F8-939B-19BC-8D10F454912B}"/>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4282435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9CF502-2C11-BBE9-2D0F-33B1884A43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CDD928-E70F-0205-1CFC-6FE79A1D1D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FF7D6B-1BE1-FBF4-2D1B-78DE6719400C}"/>
              </a:ext>
            </a:extLst>
          </p:cNvPr>
          <p:cNvSpPr>
            <a:spLocks noGrp="1"/>
          </p:cNvSpPr>
          <p:nvPr>
            <p:ph type="dt" sz="half" idx="10"/>
          </p:nvPr>
        </p:nvSpPr>
        <p:spPr/>
        <p:txBody>
          <a:bodyPr/>
          <a:lstStyle/>
          <a:p>
            <a:fld id="{DA72402C-7E88-4F78-808B-4A7C98352DD7}" type="datetimeFigureOut">
              <a:rPr lang="en-US" smtClean="0"/>
              <a:t>3/27/2026</a:t>
            </a:fld>
            <a:endParaRPr lang="en-US"/>
          </a:p>
        </p:txBody>
      </p:sp>
      <p:sp>
        <p:nvSpPr>
          <p:cNvPr id="5" name="Footer Placeholder 4">
            <a:extLst>
              <a:ext uri="{FF2B5EF4-FFF2-40B4-BE49-F238E27FC236}">
                <a16:creationId xmlns:a16="http://schemas.microsoft.com/office/drawing/2014/main" id="{AA33C706-4C20-B491-7C9E-1DA57AB03F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DE3F5D-7906-8336-DCF1-FD58244B5B47}"/>
              </a:ext>
            </a:extLst>
          </p:cNvPr>
          <p:cNvSpPr>
            <a:spLocks noGrp="1"/>
          </p:cNvSpPr>
          <p:nvPr>
            <p:ph type="sldNum" sz="quarter" idx="12"/>
          </p:nvPr>
        </p:nvSpPr>
        <p:spPr/>
        <p:txBody>
          <a:bodyPr/>
          <a:lstStyle/>
          <a:p>
            <a:fld id="{8367A7F6-B9AD-47A1-A34B-E6C04200314C}" type="slidenum">
              <a:rPr lang="en-US" smtClean="0"/>
              <a:t>‹#›</a:t>
            </a:fld>
            <a:endParaRPr lang="en-US"/>
          </a:p>
        </p:txBody>
      </p:sp>
    </p:spTree>
    <p:extLst>
      <p:ext uri="{BB962C8B-B14F-4D97-AF65-F5344CB8AC3E}">
        <p14:creationId xmlns:p14="http://schemas.microsoft.com/office/powerpoint/2010/main" val="3060621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JH_Blank With Title">
    <p:spTree>
      <p:nvGrpSpPr>
        <p:cNvPr id="1" name=""/>
        <p:cNvGrpSpPr/>
        <p:nvPr/>
      </p:nvGrpSpPr>
      <p:grpSpPr>
        <a:xfrm>
          <a:off x="0" y="0"/>
          <a:ext cx="0" cy="0"/>
          <a:chOff x="0" y="0"/>
          <a:chExt cx="0" cy="0"/>
        </a:xfrm>
      </p:grpSpPr>
      <p:sp>
        <p:nvSpPr>
          <p:cNvPr id="9" name="Rectangle 8"/>
          <p:cNvSpPr/>
          <p:nvPr/>
        </p:nvSpPr>
        <p:spPr>
          <a:xfrm>
            <a:off x="1" y="1092902"/>
            <a:ext cx="12192001" cy="120436"/>
          </a:xfrm>
          <a:prstGeom prst="rect">
            <a:avLst/>
          </a:prstGeom>
          <a:gradFill flip="none" rotWithShape="1">
            <a:gsLst>
              <a:gs pos="25000">
                <a:schemeClr val="bg2">
                  <a:lumMod val="75000"/>
                </a:schemeClr>
              </a:gs>
              <a:gs pos="66000">
                <a:schemeClr val="bg2">
                  <a:lumMod val="75000"/>
                </a:schemeClr>
              </a:gs>
              <a:gs pos="82000">
                <a:schemeClr val="bg2">
                  <a:lumMod val="90000"/>
                </a:schemeClr>
              </a:gs>
              <a:gs pos="100000">
                <a:schemeClr val="bg1">
                  <a:lumMod val="95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4" name="Title 3"/>
          <p:cNvSpPr>
            <a:spLocks noGrp="1"/>
          </p:cNvSpPr>
          <p:nvPr>
            <p:ph type="title" hasCustomPrompt="1"/>
          </p:nvPr>
        </p:nvSpPr>
        <p:spPr>
          <a:xfrm>
            <a:off x="211016" y="222463"/>
            <a:ext cx="11769969" cy="677008"/>
          </a:xfrm>
          <a:prstGeom prst="rect">
            <a:avLst/>
          </a:prstGeom>
        </p:spPr>
        <p:txBody>
          <a:bodyPr anchor="ctr" anchorCtr="0">
            <a:normAutofit/>
          </a:bodyPr>
          <a:lstStyle>
            <a:lvl1pPr algn="ctr">
              <a:defRPr sz="2800">
                <a:solidFill>
                  <a:srgbClr val="4D5667"/>
                </a:solidFill>
                <a:effectLst>
                  <a:outerShdw blurRad="38100" dist="38100" dir="2700000" algn="ctr" rotWithShape="0">
                    <a:srgbClr val="000000">
                      <a:alpha val="43000"/>
                    </a:srgbClr>
                  </a:outerShdw>
                </a:effectLst>
                <a:latin typeface="Verdana" panose="020B0604030504040204" pitchFamily="34" charset="0"/>
                <a:ea typeface="Verdana" panose="020B0604030504040204" pitchFamily="34" charset="0"/>
                <a:cs typeface="Verdana" panose="020B0604030504040204" pitchFamily="34" charset="0"/>
              </a:defRPr>
            </a:lvl1pPr>
          </a:lstStyle>
          <a:p>
            <a:r>
              <a:rPr lang="en-US" dirty="0"/>
              <a:t>Click to add title</a:t>
            </a:r>
          </a:p>
        </p:txBody>
      </p:sp>
      <p:sp>
        <p:nvSpPr>
          <p:cNvPr id="5" name="Rectangle 4"/>
          <p:cNvSpPr/>
          <p:nvPr userDrawn="1"/>
        </p:nvSpPr>
        <p:spPr>
          <a:xfrm>
            <a:off x="0" y="6650362"/>
            <a:ext cx="12191997" cy="230832"/>
          </a:xfrm>
          <a:prstGeom prst="rect">
            <a:avLst/>
          </a:prstGeom>
        </p:spPr>
        <p:txBody>
          <a:bodyPr wrap="square">
            <a:spAutoFit/>
          </a:bodyPr>
          <a:lstStyle/>
          <a:p>
            <a:pPr algn="r"/>
            <a:r>
              <a:rPr lang="en-US" sz="900" dirty="0">
                <a:solidFill>
                  <a:schemeClr val="bg1"/>
                </a:solidFill>
                <a:effectLst/>
                <a:latin typeface="Verdana" panose="020B0604030504040204" pitchFamily="34" charset="0"/>
                <a:ea typeface="Verdana" panose="020B0604030504040204" pitchFamily="34" charset="0"/>
                <a:cs typeface="Verdana" panose="020B0604030504040204" pitchFamily="34" charset="0"/>
              </a:rPr>
              <a:t>© 2019 Cengage Learning. All Rights Reserved. May not be scanned, copied or duplicated, or posted to a publicly accessible website, in whole or in part.  </a:t>
            </a:r>
            <a:endParaRPr lang="en-US" sz="9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779282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1BCA87-7D71-40D2-1386-B37F95C55C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41D21E-4215-7064-8D89-4F0E570B2D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F32DE0-B4BA-6128-1B8B-A1B6FA1F9F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72402C-7E88-4F78-808B-4A7C98352DD7}" type="datetimeFigureOut">
              <a:rPr lang="en-US" smtClean="0"/>
              <a:t>3/27/2026</a:t>
            </a:fld>
            <a:endParaRPr lang="en-US"/>
          </a:p>
        </p:txBody>
      </p:sp>
      <p:sp>
        <p:nvSpPr>
          <p:cNvPr id="5" name="Footer Placeholder 4">
            <a:extLst>
              <a:ext uri="{FF2B5EF4-FFF2-40B4-BE49-F238E27FC236}">
                <a16:creationId xmlns:a16="http://schemas.microsoft.com/office/drawing/2014/main" id="{23C2B36B-4270-BD5C-7678-D30E9F0AB6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4258EC4-1E57-CCAA-BEF9-2E669FBE6F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67A7F6-B9AD-47A1-A34B-E6C04200314C}" type="slidenum">
              <a:rPr lang="en-US" smtClean="0"/>
              <a:t>‹#›</a:t>
            </a:fld>
            <a:endParaRPr lang="en-US"/>
          </a:p>
        </p:txBody>
      </p:sp>
    </p:spTree>
    <p:extLst>
      <p:ext uri="{BB962C8B-B14F-4D97-AF65-F5344CB8AC3E}">
        <p14:creationId xmlns:p14="http://schemas.microsoft.com/office/powerpoint/2010/main" val="2761317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F62DE8-3529-DDC0-3B49-69D259716F16}"/>
              </a:ext>
            </a:extLst>
          </p:cNvPr>
          <p:cNvSpPr txBox="1"/>
          <p:nvPr/>
        </p:nvSpPr>
        <p:spPr>
          <a:xfrm>
            <a:off x="3120273" y="2650644"/>
            <a:ext cx="6485642" cy="1846659"/>
          </a:xfrm>
          <a:prstGeom prst="rect">
            <a:avLst/>
          </a:prstGeom>
          <a:noFill/>
        </p:spPr>
        <p:txBody>
          <a:bodyPr wrap="square">
            <a:spAutoFit/>
          </a:bodyPr>
          <a:lstStyle/>
          <a:p>
            <a:pPr algn="just"/>
            <a:r>
              <a:rPr lang="en-US" sz="4800" dirty="0"/>
              <a:t>TIME VALUE OF MONEY</a:t>
            </a:r>
          </a:p>
          <a:p>
            <a:endParaRPr lang="en-US" sz="6600" dirty="0"/>
          </a:p>
        </p:txBody>
      </p:sp>
    </p:spTree>
    <p:extLst>
      <p:ext uri="{BB962C8B-B14F-4D97-AF65-F5344CB8AC3E}">
        <p14:creationId xmlns:p14="http://schemas.microsoft.com/office/powerpoint/2010/main" val="3961043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3926B-8762-922B-6230-975D26ABC49A}"/>
            </a:ext>
          </a:extLst>
        </p:cNvPr>
        <p:cNvGrpSpPr/>
        <p:nvPr/>
      </p:nvGrpSpPr>
      <p:grpSpPr>
        <a:xfrm>
          <a:off x="0" y="0"/>
          <a:ext cx="0" cy="0"/>
          <a:chOff x="0" y="0"/>
          <a:chExt cx="0" cy="0"/>
        </a:xfrm>
      </p:grpSpPr>
      <p:pic>
        <p:nvPicPr>
          <p:cNvPr id="1036" name="Picture 12" descr="Bangladesh new 100-taka note (B369a ...">
            <a:extLst>
              <a:ext uri="{FF2B5EF4-FFF2-40B4-BE49-F238E27FC236}">
                <a16:creationId xmlns:a16="http://schemas.microsoft.com/office/drawing/2014/main" id="{45BBB70A-702E-5143-C8E9-24E226440F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0325" y="1635306"/>
            <a:ext cx="7471576" cy="33034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728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E2204-9367-51AC-1745-01240F424F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D4EBD0-0D8F-D7BF-0025-B94F7CA77A87}"/>
              </a:ext>
            </a:extLst>
          </p:cNvPr>
          <p:cNvSpPr txBox="1"/>
          <p:nvPr/>
        </p:nvSpPr>
        <p:spPr>
          <a:xfrm>
            <a:off x="360574" y="859551"/>
            <a:ext cx="11130699" cy="4832092"/>
          </a:xfrm>
          <a:prstGeom prst="rect">
            <a:avLst/>
          </a:prstGeom>
          <a:noFill/>
        </p:spPr>
        <p:txBody>
          <a:bodyPr wrap="square">
            <a:spAutoFit/>
          </a:bodyPr>
          <a:lstStyle/>
          <a:p>
            <a:pPr marL="457200" indent="-457200" algn="just">
              <a:buFont typeface="Arial" panose="020B0604020202020204" pitchFamily="34" charset="0"/>
              <a:buChar char="•"/>
            </a:pPr>
            <a:r>
              <a:rPr lang="en-US" sz="2800" b="0" i="0" dirty="0">
                <a:solidFill>
                  <a:srgbClr val="000000"/>
                </a:solidFill>
                <a:effectLst/>
                <a:latin typeface="Inter"/>
              </a:rPr>
              <a:t>The concept of the </a:t>
            </a:r>
            <a:r>
              <a:rPr lang="en-US" sz="2800" b="1" i="0" dirty="0">
                <a:solidFill>
                  <a:srgbClr val="FF0000"/>
                </a:solidFill>
                <a:effectLst/>
                <a:latin typeface="Inter"/>
              </a:rPr>
              <a:t>time value of money (TVM)</a:t>
            </a:r>
            <a:r>
              <a:rPr lang="en-US" sz="2800" b="0" i="0" dirty="0">
                <a:solidFill>
                  <a:srgbClr val="000000"/>
                </a:solidFill>
                <a:effectLst/>
                <a:latin typeface="Inter"/>
              </a:rPr>
              <a:t> revolves around the principle that a sum of money available today holds greater value than the identical amount received in the future, primarily because of its ability to </a:t>
            </a:r>
            <a:r>
              <a:rPr lang="en-US" sz="2800" b="1" dirty="0">
                <a:solidFill>
                  <a:srgbClr val="FF0000"/>
                </a:solidFill>
                <a:latin typeface="Inter"/>
              </a:rPr>
              <a:t>generate earnings </a:t>
            </a:r>
            <a:r>
              <a:rPr lang="en-US" sz="2800" b="0" i="0" dirty="0">
                <a:solidFill>
                  <a:srgbClr val="000000"/>
                </a:solidFill>
                <a:effectLst/>
                <a:latin typeface="Inter"/>
              </a:rPr>
              <a:t>over time. This fundamental financial idea asserts that, as long as money can accrue interest, receiving funds earlier is always more advantageous. </a:t>
            </a:r>
          </a:p>
          <a:p>
            <a:pPr marL="457200" indent="-457200" algn="just">
              <a:buFont typeface="Arial" panose="020B0604020202020204" pitchFamily="34" charset="0"/>
              <a:buChar char="•"/>
            </a:pPr>
            <a:endParaRPr lang="en-US" sz="2800" dirty="0">
              <a:solidFill>
                <a:srgbClr val="000000"/>
              </a:solidFill>
              <a:latin typeface="Inter"/>
            </a:endParaRPr>
          </a:p>
          <a:p>
            <a:pPr marL="457200" indent="-457200" algn="just">
              <a:buFont typeface="Arial" panose="020B0604020202020204" pitchFamily="34" charset="0"/>
              <a:buChar char="•"/>
            </a:pPr>
            <a:endParaRPr lang="en-US" sz="2800" b="0" i="0" dirty="0">
              <a:solidFill>
                <a:srgbClr val="000000"/>
              </a:solidFill>
              <a:effectLst/>
              <a:latin typeface="Inter"/>
            </a:endParaRPr>
          </a:p>
          <a:p>
            <a:pPr marL="457200" indent="-457200" algn="just">
              <a:buFont typeface="Arial" panose="020B0604020202020204" pitchFamily="34" charset="0"/>
              <a:buChar char="•"/>
            </a:pPr>
            <a:r>
              <a:rPr lang="en-US" sz="2800" b="0" i="0" dirty="0">
                <a:solidFill>
                  <a:srgbClr val="000000"/>
                </a:solidFill>
                <a:effectLst/>
                <a:latin typeface="Inter"/>
              </a:rPr>
              <a:t>Understanding TVM is crucial in financial decision-making. It serves as a vital tool for evaluating different investment options and addressing financial challenges related to borrowing, leasing, and saving strategies</a:t>
            </a:r>
            <a:endParaRPr lang="en-US" sz="2800" dirty="0"/>
          </a:p>
        </p:txBody>
      </p:sp>
    </p:spTree>
    <p:extLst>
      <p:ext uri="{BB962C8B-B14F-4D97-AF65-F5344CB8AC3E}">
        <p14:creationId xmlns:p14="http://schemas.microsoft.com/office/powerpoint/2010/main" val="2726193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B49A9-6853-DB26-B47A-916D098360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4814A8A-EBE8-69F2-B48E-AD98DFE4CB56}"/>
              </a:ext>
            </a:extLst>
          </p:cNvPr>
          <p:cNvSpPr txBox="1"/>
          <p:nvPr/>
        </p:nvSpPr>
        <p:spPr>
          <a:xfrm>
            <a:off x="360574" y="859551"/>
            <a:ext cx="11470065" cy="5447645"/>
          </a:xfrm>
          <a:prstGeom prst="rect">
            <a:avLst/>
          </a:prstGeom>
          <a:noFill/>
        </p:spPr>
        <p:txBody>
          <a:bodyPr wrap="square">
            <a:spAutoFit/>
          </a:bodyPr>
          <a:lstStyle/>
          <a:p>
            <a:pPr marL="457200" indent="-457200" algn="just">
              <a:buFont typeface="Arial" panose="020B0604020202020204" pitchFamily="34" charset="0"/>
              <a:buChar char="•"/>
            </a:pPr>
            <a:r>
              <a:rPr lang="en-US" sz="2800" dirty="0"/>
              <a:t>The Time Value of Money (TVM) concept helps us understand how the worth of money changes over time when invested.</a:t>
            </a:r>
          </a:p>
          <a:p>
            <a:pPr marL="457200" indent="-457200" algn="just">
              <a:buFont typeface="Arial" panose="020B0604020202020204" pitchFamily="34" charset="0"/>
              <a:buChar char="•"/>
            </a:pPr>
            <a:endParaRPr lang="en-US" sz="2800" dirty="0"/>
          </a:p>
          <a:p>
            <a:pPr marL="457200" indent="-457200" algn="just">
              <a:buFont typeface="Arial" panose="020B0604020202020204" pitchFamily="34" charset="0"/>
              <a:buChar char="•"/>
            </a:pPr>
            <a:r>
              <a:rPr lang="en-US" sz="2800" dirty="0"/>
              <a:t>As time progresses, the value of funds invested in any project or business fluctuates.</a:t>
            </a:r>
          </a:p>
          <a:p>
            <a:pPr marL="457200" indent="-457200" algn="just">
              <a:buFont typeface="Arial" panose="020B0604020202020204" pitchFamily="34" charset="0"/>
              <a:buChar char="•"/>
            </a:pPr>
            <a:endParaRPr lang="en-US" sz="2800" dirty="0"/>
          </a:p>
          <a:p>
            <a:pPr marL="457200" indent="-457200" algn="just">
              <a:buFont typeface="Arial" panose="020B0604020202020204" pitchFamily="34" charset="0"/>
              <a:buChar char="•"/>
            </a:pPr>
            <a:r>
              <a:rPr lang="en-US" sz="2800" dirty="0"/>
              <a:t>To determine the current worth of that money, we use a specific mathematical formula.</a:t>
            </a:r>
          </a:p>
          <a:p>
            <a:pPr marL="457200" indent="-457200" algn="just">
              <a:buFont typeface="Arial" panose="020B0604020202020204" pitchFamily="34" charset="0"/>
              <a:buChar char="•"/>
            </a:pPr>
            <a:endParaRPr lang="en-US" sz="2800" dirty="0"/>
          </a:p>
          <a:p>
            <a:pPr marL="457200" indent="-457200" algn="just">
              <a:buFont typeface="Arial" panose="020B0604020202020204" pitchFamily="34" charset="0"/>
              <a:buChar char="•"/>
            </a:pPr>
            <a:r>
              <a:rPr lang="en-US" sz="2800" dirty="0"/>
              <a:t>This formula calculates the present value by factoring in the element of time, showing how money's value evolves.</a:t>
            </a:r>
          </a:p>
          <a:p>
            <a:endParaRPr lang="en-US" sz="4000" dirty="0"/>
          </a:p>
        </p:txBody>
      </p:sp>
    </p:spTree>
    <p:extLst>
      <p:ext uri="{BB962C8B-B14F-4D97-AF65-F5344CB8AC3E}">
        <p14:creationId xmlns:p14="http://schemas.microsoft.com/office/powerpoint/2010/main" val="3854881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8400-6A24-9FD3-C492-8ADEE8F30B1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DB82D4-1A17-0877-AA69-6C7862F76B37}"/>
              </a:ext>
            </a:extLst>
          </p:cNvPr>
          <p:cNvPicPr>
            <a:picLocks noChangeAspect="1"/>
          </p:cNvPicPr>
          <p:nvPr/>
        </p:nvPicPr>
        <p:blipFill>
          <a:blip r:embed="rId2"/>
          <a:stretch>
            <a:fillRect/>
          </a:stretch>
        </p:blipFill>
        <p:spPr>
          <a:xfrm>
            <a:off x="1366385" y="969557"/>
            <a:ext cx="9044452" cy="3319639"/>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F72F4673-21B8-DE49-FF76-1BC365DE9D52}"/>
              </a:ext>
            </a:extLst>
          </p:cNvPr>
          <p:cNvSpPr txBox="1"/>
          <p:nvPr/>
        </p:nvSpPr>
        <p:spPr>
          <a:xfrm>
            <a:off x="848412" y="5002979"/>
            <a:ext cx="10256363" cy="523220"/>
          </a:xfrm>
          <a:prstGeom prst="rect">
            <a:avLst/>
          </a:prstGeom>
          <a:noFill/>
        </p:spPr>
        <p:txBody>
          <a:bodyPr wrap="square">
            <a:spAutoFit/>
          </a:bodyPr>
          <a:lstStyle/>
          <a:p>
            <a:pPr>
              <a:defRPr/>
            </a:pPr>
            <a:r>
              <a:rPr lang="en-US" sz="2800" dirty="0"/>
              <a:t>What is the present value (PV) of $100 due in  3 years, if I/YR = 4%?</a:t>
            </a:r>
          </a:p>
        </p:txBody>
      </p:sp>
    </p:spTree>
    <p:extLst>
      <p:ext uri="{BB962C8B-B14F-4D97-AF65-F5344CB8AC3E}">
        <p14:creationId xmlns:p14="http://schemas.microsoft.com/office/powerpoint/2010/main" val="4111670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DE723-C8E2-EF0E-11CC-C834DC002C1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F63FC55-5BA7-363C-1653-ECCE348A1840}"/>
              </a:ext>
            </a:extLst>
          </p:cNvPr>
          <p:cNvPicPr>
            <a:picLocks noChangeAspect="1"/>
          </p:cNvPicPr>
          <p:nvPr/>
        </p:nvPicPr>
        <p:blipFill>
          <a:blip r:embed="rId2"/>
          <a:stretch>
            <a:fillRect/>
          </a:stretch>
        </p:blipFill>
        <p:spPr>
          <a:xfrm>
            <a:off x="791851" y="971368"/>
            <a:ext cx="10180949" cy="38029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59283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2A64E-0FB5-DE86-59D0-6AC8B1C75C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EBF6922-ACC3-3BBB-4459-CA0744D1E7E5}"/>
              </a:ext>
            </a:extLst>
          </p:cNvPr>
          <p:cNvSpPr txBox="1"/>
          <p:nvPr/>
        </p:nvSpPr>
        <p:spPr>
          <a:xfrm>
            <a:off x="181858" y="1179345"/>
            <a:ext cx="11828284" cy="5693866"/>
          </a:xfrm>
          <a:prstGeom prst="rect">
            <a:avLst/>
          </a:prstGeom>
          <a:noFill/>
        </p:spPr>
        <p:txBody>
          <a:bodyPr wrap="square">
            <a:spAutoFit/>
          </a:bodyPr>
          <a:lstStyle/>
          <a:p>
            <a:pPr algn="just">
              <a:buNone/>
            </a:pPr>
            <a:r>
              <a:rPr lang="en-US" sz="2800" b="0" i="0" dirty="0">
                <a:solidFill>
                  <a:srgbClr val="000000"/>
                </a:solidFill>
                <a:effectLst/>
                <a:latin typeface="Inter"/>
              </a:rPr>
              <a:t>Several factors explain why money today is worth more than the same amount in the future:</a:t>
            </a:r>
          </a:p>
          <a:p>
            <a:pPr algn="just">
              <a:buNone/>
            </a:pPr>
            <a:endParaRPr lang="en-US" sz="2800" b="0" i="0" dirty="0">
              <a:solidFill>
                <a:srgbClr val="000000"/>
              </a:solidFill>
              <a:effectLst/>
              <a:latin typeface="Inter"/>
            </a:endParaRPr>
          </a:p>
          <a:p>
            <a:pPr algn="just">
              <a:buFont typeface="+mj-lt"/>
              <a:buAutoNum type="arabicPeriod"/>
            </a:pPr>
            <a:r>
              <a:rPr lang="en-US" sz="2800" b="1" i="0" dirty="0">
                <a:solidFill>
                  <a:srgbClr val="000000"/>
                </a:solidFill>
                <a:effectLst/>
                <a:latin typeface="Inter"/>
              </a:rPr>
              <a:t>Risk and Uncertainty</a:t>
            </a:r>
            <a:r>
              <a:rPr lang="en-US" sz="2800" b="0" i="0" dirty="0">
                <a:solidFill>
                  <a:srgbClr val="000000"/>
                </a:solidFill>
                <a:effectLst/>
                <a:latin typeface="Inter"/>
              </a:rPr>
              <a:t> – The future is inherently unpredictable. While we control cash outflows like payments, the timing and amount of future cash inflows remain uncertain, introducing risk that affects money's value over time.</a:t>
            </a:r>
          </a:p>
          <a:p>
            <a:pPr algn="just">
              <a:buFont typeface="+mj-lt"/>
              <a:buAutoNum type="arabicPeriod"/>
            </a:pPr>
            <a:endParaRPr lang="en-US" sz="2800" b="0" i="0" dirty="0">
              <a:solidFill>
                <a:srgbClr val="000000"/>
              </a:solidFill>
              <a:effectLst/>
              <a:latin typeface="Inter"/>
            </a:endParaRPr>
          </a:p>
          <a:p>
            <a:pPr algn="just">
              <a:buFont typeface="+mj-lt"/>
              <a:buAutoNum type="arabicPeriod"/>
            </a:pPr>
            <a:r>
              <a:rPr lang="en-US" sz="2800" b="1" i="0" dirty="0">
                <a:solidFill>
                  <a:srgbClr val="000000"/>
                </a:solidFill>
                <a:effectLst/>
                <a:latin typeface="Inter"/>
              </a:rPr>
              <a:t>Inflation</a:t>
            </a:r>
            <a:r>
              <a:rPr lang="en-US" sz="2800" b="0" i="0" dirty="0">
                <a:solidFill>
                  <a:srgbClr val="000000"/>
                </a:solidFill>
                <a:effectLst/>
                <a:latin typeface="Inter"/>
              </a:rPr>
              <a:t> – In an economy experiencing inflation, money received now has greater purchasing power than money received later. Simply put, a rupee in hand today can buy more goods and services than a rupee received in the future.</a:t>
            </a:r>
          </a:p>
          <a:p>
            <a:pPr algn="just">
              <a:buNone/>
            </a:pPr>
            <a:br>
              <a:rPr lang="en-US" sz="2800" dirty="0"/>
            </a:br>
            <a:endParaRPr lang="en-US" sz="2800" dirty="0"/>
          </a:p>
        </p:txBody>
      </p:sp>
      <p:sp>
        <p:nvSpPr>
          <p:cNvPr id="6" name="TextBox 5">
            <a:extLst>
              <a:ext uri="{FF2B5EF4-FFF2-40B4-BE49-F238E27FC236}">
                <a16:creationId xmlns:a16="http://schemas.microsoft.com/office/drawing/2014/main" id="{D4FCFC30-0E4C-0D34-05AE-4983C26BAEA6}"/>
              </a:ext>
            </a:extLst>
          </p:cNvPr>
          <p:cNvSpPr txBox="1"/>
          <p:nvPr/>
        </p:nvSpPr>
        <p:spPr>
          <a:xfrm>
            <a:off x="181858" y="324380"/>
            <a:ext cx="6094428" cy="646331"/>
          </a:xfrm>
          <a:prstGeom prst="rect">
            <a:avLst/>
          </a:prstGeom>
          <a:noFill/>
        </p:spPr>
        <p:txBody>
          <a:bodyPr wrap="square">
            <a:spAutoFit/>
          </a:bodyPr>
          <a:lstStyle/>
          <a:p>
            <a:pPr algn="l">
              <a:buNone/>
            </a:pPr>
            <a:r>
              <a:rPr lang="en-US" sz="3600" b="1" i="0" dirty="0">
                <a:solidFill>
                  <a:srgbClr val="000000"/>
                </a:solidFill>
                <a:effectLst/>
                <a:latin typeface="Inter"/>
              </a:rPr>
              <a:t>Why Money Has a Time Value</a:t>
            </a:r>
          </a:p>
        </p:txBody>
      </p:sp>
    </p:spTree>
    <p:extLst>
      <p:ext uri="{BB962C8B-B14F-4D97-AF65-F5344CB8AC3E}">
        <p14:creationId xmlns:p14="http://schemas.microsoft.com/office/powerpoint/2010/main" val="3948062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C3C1B-409C-9D1A-3F7C-5FBF3A9306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465C3B-65A5-5712-5010-FD4EECBE4006}"/>
              </a:ext>
            </a:extLst>
          </p:cNvPr>
          <p:cNvSpPr txBox="1"/>
          <p:nvPr/>
        </p:nvSpPr>
        <p:spPr>
          <a:xfrm>
            <a:off x="285162" y="831272"/>
            <a:ext cx="11507769" cy="4832092"/>
          </a:xfrm>
          <a:prstGeom prst="rect">
            <a:avLst/>
          </a:prstGeom>
          <a:noFill/>
        </p:spPr>
        <p:txBody>
          <a:bodyPr wrap="square">
            <a:spAutoFit/>
          </a:bodyPr>
          <a:lstStyle/>
          <a:p>
            <a:pPr algn="just"/>
            <a:r>
              <a:rPr lang="en-US" sz="2800" b="1" dirty="0">
                <a:solidFill>
                  <a:srgbClr val="000000"/>
                </a:solidFill>
                <a:latin typeface="Inter"/>
              </a:rPr>
              <a:t>3.Consumption:</a:t>
            </a:r>
            <a:r>
              <a:rPr lang="en-US" sz="2800" dirty="0">
                <a:solidFill>
                  <a:srgbClr val="000000"/>
                </a:solidFill>
                <a:latin typeface="Inter"/>
              </a:rPr>
              <a:t> </a:t>
            </a:r>
            <a:r>
              <a:rPr lang="en-US" sz="2800" b="0" i="0" dirty="0">
                <a:solidFill>
                  <a:srgbClr val="000000"/>
                </a:solidFill>
                <a:effectLst/>
                <a:latin typeface="Inter"/>
              </a:rPr>
              <a:t>People typically favor spending money now rather than postponing consumption to the future.</a:t>
            </a:r>
          </a:p>
          <a:p>
            <a:pPr algn="just"/>
            <a:endParaRPr lang="en-US" sz="2800" b="0" i="0" dirty="0">
              <a:solidFill>
                <a:srgbClr val="000000"/>
              </a:solidFill>
              <a:effectLst/>
              <a:latin typeface="Inter"/>
            </a:endParaRPr>
          </a:p>
          <a:p>
            <a:pPr algn="just"/>
            <a:r>
              <a:rPr lang="en-US" sz="2800" b="1" dirty="0">
                <a:solidFill>
                  <a:srgbClr val="000000"/>
                </a:solidFill>
                <a:latin typeface="Inter"/>
              </a:rPr>
              <a:t>4.Investment Opportunity: </a:t>
            </a:r>
            <a:r>
              <a:rPr lang="en-US" sz="2800" b="0" i="0" dirty="0">
                <a:solidFill>
                  <a:srgbClr val="000000"/>
                </a:solidFill>
                <a:effectLst/>
                <a:latin typeface="Inter"/>
              </a:rPr>
              <a:t>Investment options allow individuals to use funds received today to earn greater returns at a later date.</a:t>
            </a:r>
          </a:p>
          <a:p>
            <a:pPr algn="just"/>
            <a:endParaRPr lang="en-US" sz="2800" b="0" i="0" dirty="0">
              <a:solidFill>
                <a:srgbClr val="000000"/>
              </a:solidFill>
              <a:effectLst/>
              <a:latin typeface="Inter"/>
            </a:endParaRPr>
          </a:p>
          <a:p>
            <a:pPr algn="just"/>
            <a:r>
              <a:rPr lang="en-US" sz="2800" b="0" i="0" dirty="0">
                <a:solidFill>
                  <a:srgbClr val="000000"/>
                </a:solidFill>
                <a:effectLst/>
                <a:latin typeface="Inter"/>
              </a:rPr>
              <a:t>For example, if someone must choose between receiving Rs.10,000 immediately or after one year, they usually opt for the immediate payment.</a:t>
            </a:r>
          </a:p>
          <a:p>
            <a:pPr algn="just"/>
            <a:endParaRPr lang="en-US" sz="2800" b="0" i="0" dirty="0">
              <a:solidFill>
                <a:srgbClr val="000000"/>
              </a:solidFill>
              <a:effectLst/>
              <a:latin typeface="Inter"/>
            </a:endParaRPr>
          </a:p>
          <a:p>
            <a:pPr algn="just"/>
            <a:r>
              <a:rPr lang="en-US" sz="2800" b="0" i="0" dirty="0">
                <a:solidFill>
                  <a:srgbClr val="000000"/>
                </a:solidFill>
                <a:effectLst/>
                <a:latin typeface="Inter"/>
              </a:rPr>
              <a:t>This preference exists because the purchasing power of Rs.10,000 today is generally higher than what the same amount will buy a year from now.</a:t>
            </a:r>
          </a:p>
        </p:txBody>
      </p:sp>
    </p:spTree>
    <p:extLst>
      <p:ext uri="{BB962C8B-B14F-4D97-AF65-F5344CB8AC3E}">
        <p14:creationId xmlns:p14="http://schemas.microsoft.com/office/powerpoint/2010/main" val="948295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50482-A674-FDAB-AFCE-8CBB07C634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AE7534-A9EE-7E93-6464-8A7CE1F8A9FC}"/>
              </a:ext>
            </a:extLst>
          </p:cNvPr>
          <p:cNvSpPr txBox="1"/>
          <p:nvPr/>
        </p:nvSpPr>
        <p:spPr>
          <a:xfrm>
            <a:off x="181857" y="324380"/>
            <a:ext cx="9518323" cy="646331"/>
          </a:xfrm>
          <a:prstGeom prst="rect">
            <a:avLst/>
          </a:prstGeom>
          <a:noFill/>
        </p:spPr>
        <p:txBody>
          <a:bodyPr wrap="square">
            <a:spAutoFit/>
          </a:bodyPr>
          <a:lstStyle/>
          <a:p>
            <a:pPr algn="l">
              <a:buNone/>
            </a:pPr>
            <a:r>
              <a:rPr lang="en-US" sz="3600" b="1" dirty="0">
                <a:solidFill>
                  <a:srgbClr val="000000"/>
                </a:solidFill>
                <a:latin typeface="Inter"/>
              </a:rPr>
              <a:t>Time value of money (TVM) is important?</a:t>
            </a:r>
            <a:endParaRPr lang="en-US" sz="3600" b="1" i="0" dirty="0">
              <a:solidFill>
                <a:srgbClr val="000000"/>
              </a:solidFill>
              <a:effectLst/>
              <a:latin typeface="Inter"/>
            </a:endParaRPr>
          </a:p>
        </p:txBody>
      </p:sp>
      <p:sp>
        <p:nvSpPr>
          <p:cNvPr id="4" name="TextBox 3">
            <a:extLst>
              <a:ext uri="{FF2B5EF4-FFF2-40B4-BE49-F238E27FC236}">
                <a16:creationId xmlns:a16="http://schemas.microsoft.com/office/drawing/2014/main" id="{E706942F-CD8F-313D-6E41-EF50F3250483}"/>
              </a:ext>
            </a:extLst>
          </p:cNvPr>
          <p:cNvSpPr txBox="1"/>
          <p:nvPr/>
        </p:nvSpPr>
        <p:spPr>
          <a:xfrm>
            <a:off x="181857" y="909155"/>
            <a:ext cx="11668028" cy="5909310"/>
          </a:xfrm>
          <a:prstGeom prst="rect">
            <a:avLst/>
          </a:prstGeom>
          <a:noFill/>
        </p:spPr>
        <p:txBody>
          <a:bodyPr wrap="square">
            <a:spAutoFit/>
          </a:bodyPr>
          <a:lstStyle/>
          <a:p>
            <a:pPr algn="just">
              <a:buNone/>
            </a:pPr>
            <a:r>
              <a:rPr lang="en-US" sz="2700" b="0" i="0" dirty="0">
                <a:solidFill>
                  <a:srgbClr val="000000"/>
                </a:solidFill>
                <a:effectLst/>
                <a:latin typeface="Inter"/>
              </a:rPr>
              <a:t>Businesses employ the Time Value of Money concept in multiple ways to make definitive choices about capital investments and to select among alternative projects. Two widely used approaches are the Net Present Value (NPV) method and the Internal Rate of Return (IRR) technique.</a:t>
            </a:r>
          </a:p>
          <a:p>
            <a:pPr algn="just">
              <a:buNone/>
            </a:pPr>
            <a:endParaRPr lang="en-US" sz="2700" b="0" i="0" dirty="0">
              <a:solidFill>
                <a:srgbClr val="000000"/>
              </a:solidFill>
              <a:effectLst/>
              <a:latin typeface="Inter"/>
            </a:endParaRPr>
          </a:p>
          <a:p>
            <a:pPr algn="just">
              <a:buNone/>
            </a:pPr>
            <a:r>
              <a:rPr lang="en-US" sz="2700" b="0" i="0" dirty="0">
                <a:solidFill>
                  <a:srgbClr val="000000"/>
                </a:solidFill>
                <a:effectLst/>
                <a:latin typeface="Inter"/>
              </a:rPr>
              <a:t>With the NPV approach, you calculate the sum of the present values of all cash inflows and outflows related to a project. A positive total indicates that the project is financially viable and should be pursued.</a:t>
            </a:r>
          </a:p>
          <a:p>
            <a:pPr algn="just">
              <a:buNone/>
            </a:pPr>
            <a:endParaRPr lang="en-US" sz="2700" b="0" i="0" dirty="0">
              <a:solidFill>
                <a:srgbClr val="000000"/>
              </a:solidFill>
              <a:effectLst/>
              <a:latin typeface="Inter"/>
            </a:endParaRPr>
          </a:p>
          <a:p>
            <a:pPr algn="just">
              <a:buNone/>
            </a:pPr>
            <a:r>
              <a:rPr lang="en-US" sz="2700" b="0" i="0" dirty="0">
                <a:solidFill>
                  <a:srgbClr val="000000"/>
                </a:solidFill>
                <a:effectLst/>
                <a:latin typeface="Inter"/>
              </a:rPr>
              <a:t>The IRR method involves identifying the discount rate that equates the present value of expected future cash flows to the initial investment cost. If this internal rate of return exceeds the company’s required discount rate, the project is considered worthwhile. Generally, a higher IRR signals a more attractive investment opportunity.</a:t>
            </a:r>
          </a:p>
        </p:txBody>
      </p:sp>
    </p:spTree>
    <p:extLst>
      <p:ext uri="{BB962C8B-B14F-4D97-AF65-F5344CB8AC3E}">
        <p14:creationId xmlns:p14="http://schemas.microsoft.com/office/powerpoint/2010/main" val="3444727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CC80F-9D9C-1EA9-1730-9DDD9194C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4262C2-B72A-7AEB-7350-0E59634DC39D}"/>
              </a:ext>
            </a:extLst>
          </p:cNvPr>
          <p:cNvSpPr txBox="1"/>
          <p:nvPr/>
        </p:nvSpPr>
        <p:spPr>
          <a:xfrm>
            <a:off x="210139" y="1228397"/>
            <a:ext cx="11771722" cy="4401205"/>
          </a:xfrm>
          <a:prstGeom prst="rect">
            <a:avLst/>
          </a:prstGeom>
          <a:noFill/>
        </p:spPr>
        <p:txBody>
          <a:bodyPr wrap="square">
            <a:spAutoFit/>
          </a:bodyPr>
          <a:lstStyle/>
          <a:p>
            <a:pPr algn="just"/>
            <a:r>
              <a:rPr lang="en-US" sz="2800" b="0" i="0" dirty="0">
                <a:solidFill>
                  <a:srgbClr val="000000"/>
                </a:solidFill>
                <a:effectLst/>
                <a:latin typeface="Inter"/>
              </a:rPr>
              <a:t>There are two primary approaches to managing the time value of money:</a:t>
            </a:r>
          </a:p>
          <a:p>
            <a:pPr algn="just"/>
            <a:endParaRPr lang="en-US" sz="2800" b="0" i="0" dirty="0">
              <a:solidFill>
                <a:srgbClr val="000000"/>
              </a:solidFill>
              <a:effectLst/>
              <a:latin typeface="Inter"/>
            </a:endParaRPr>
          </a:p>
          <a:p>
            <a:pPr algn="just"/>
            <a:r>
              <a:rPr lang="en-US" sz="2800" b="1" i="0" dirty="0">
                <a:solidFill>
                  <a:srgbClr val="000000"/>
                </a:solidFill>
                <a:effectLst/>
                <a:latin typeface="Inter"/>
              </a:rPr>
              <a:t>Compounding (Future Value) Method</a:t>
            </a:r>
            <a:r>
              <a:rPr lang="en-US" sz="2800" b="0" i="0" dirty="0">
                <a:solidFill>
                  <a:srgbClr val="000000"/>
                </a:solidFill>
                <a:effectLst/>
                <a:latin typeface="Inter"/>
              </a:rPr>
              <a:t> This technique involves determining the future worth of cash flows. It works by adding the interest earned on the original principal back into the principal at the end of each compounding period, allowing the investment to grow exponentially over time.</a:t>
            </a:r>
          </a:p>
          <a:p>
            <a:pPr algn="just"/>
            <a:endParaRPr lang="en-US" sz="2800" b="0" i="0" dirty="0">
              <a:solidFill>
                <a:srgbClr val="000000"/>
              </a:solidFill>
              <a:effectLst/>
              <a:latin typeface="Inter"/>
            </a:endParaRPr>
          </a:p>
          <a:p>
            <a:pPr algn="just"/>
            <a:r>
              <a:rPr lang="en-US" sz="2800" b="1" i="0" dirty="0">
                <a:solidFill>
                  <a:srgbClr val="000000"/>
                </a:solidFill>
                <a:effectLst/>
                <a:latin typeface="Inter"/>
              </a:rPr>
              <a:t>Discounting (Present Value) Method</a:t>
            </a:r>
            <a:r>
              <a:rPr lang="en-US" sz="2800" b="0" i="0" dirty="0">
                <a:solidFill>
                  <a:srgbClr val="000000"/>
                </a:solidFill>
                <a:effectLst/>
                <a:latin typeface="Inter"/>
              </a:rPr>
              <a:t> This approach calculates the current value of future cash flows by reversing the compounding process, effectively determining what those future amounts are worth in today’s terms.</a:t>
            </a:r>
          </a:p>
        </p:txBody>
      </p:sp>
      <p:sp>
        <p:nvSpPr>
          <p:cNvPr id="4" name="TextBox 3">
            <a:extLst>
              <a:ext uri="{FF2B5EF4-FFF2-40B4-BE49-F238E27FC236}">
                <a16:creationId xmlns:a16="http://schemas.microsoft.com/office/drawing/2014/main" id="{6962E3E1-9C60-E34A-A1F0-908E57E6AA8A}"/>
              </a:ext>
            </a:extLst>
          </p:cNvPr>
          <p:cNvSpPr txBox="1"/>
          <p:nvPr/>
        </p:nvSpPr>
        <p:spPr>
          <a:xfrm>
            <a:off x="181857" y="324380"/>
            <a:ext cx="9518323" cy="646331"/>
          </a:xfrm>
          <a:prstGeom prst="rect">
            <a:avLst/>
          </a:prstGeom>
          <a:noFill/>
        </p:spPr>
        <p:txBody>
          <a:bodyPr wrap="square">
            <a:spAutoFit/>
          </a:bodyPr>
          <a:lstStyle/>
          <a:p>
            <a:pPr algn="l">
              <a:buNone/>
            </a:pPr>
            <a:r>
              <a:rPr lang="en-US" sz="3600" b="1" dirty="0">
                <a:solidFill>
                  <a:srgbClr val="000000"/>
                </a:solidFill>
                <a:latin typeface="Inter"/>
              </a:rPr>
              <a:t>Techniques of time value of money</a:t>
            </a:r>
            <a:endParaRPr lang="en-US" sz="3600" b="1" i="0" dirty="0">
              <a:solidFill>
                <a:srgbClr val="000000"/>
              </a:solidFill>
              <a:effectLst/>
              <a:latin typeface="Inter"/>
            </a:endParaRPr>
          </a:p>
        </p:txBody>
      </p:sp>
    </p:spTree>
    <p:extLst>
      <p:ext uri="{BB962C8B-B14F-4D97-AF65-F5344CB8AC3E}">
        <p14:creationId xmlns:p14="http://schemas.microsoft.com/office/powerpoint/2010/main" val="1285029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C1767-51EA-A68C-F7E3-FC54AF97D6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1A6503-E887-7C65-51F6-1F7510F552CF}"/>
              </a:ext>
            </a:extLst>
          </p:cNvPr>
          <p:cNvSpPr txBox="1"/>
          <p:nvPr/>
        </p:nvSpPr>
        <p:spPr>
          <a:xfrm>
            <a:off x="266307" y="1356271"/>
            <a:ext cx="11498344" cy="3970318"/>
          </a:xfrm>
          <a:prstGeom prst="rect">
            <a:avLst/>
          </a:prstGeom>
          <a:noFill/>
        </p:spPr>
        <p:txBody>
          <a:bodyPr wrap="square">
            <a:spAutoFit/>
          </a:bodyPr>
          <a:lstStyle/>
          <a:p>
            <a:pPr algn="just">
              <a:buFont typeface="Arial" panose="020B0604020202020204" pitchFamily="34" charset="0"/>
              <a:buChar char="•"/>
            </a:pPr>
            <a:r>
              <a:rPr lang="en-US" sz="2800" b="1" i="0" dirty="0">
                <a:solidFill>
                  <a:srgbClr val="000000"/>
                </a:solidFill>
                <a:effectLst/>
                <a:latin typeface="Inter"/>
              </a:rPr>
              <a:t>Compounding:</a:t>
            </a:r>
            <a:r>
              <a:rPr lang="en-US" sz="2800" b="0" i="0" dirty="0">
                <a:solidFill>
                  <a:srgbClr val="000000"/>
                </a:solidFill>
                <a:effectLst/>
                <a:latin typeface="Inter"/>
              </a:rPr>
              <a:t> This refers to the technique of determining the future worth of cash flows by utilizing </a:t>
            </a:r>
            <a:r>
              <a:rPr lang="en-US" sz="2800" b="1" i="0" dirty="0">
                <a:solidFill>
                  <a:srgbClr val="000000"/>
                </a:solidFill>
                <a:effectLst/>
                <a:latin typeface="Inter"/>
              </a:rPr>
              <a:t>compound interest </a:t>
            </a:r>
            <a:r>
              <a:rPr lang="en-US" sz="2800" b="0" i="0" dirty="0">
                <a:solidFill>
                  <a:srgbClr val="000000"/>
                </a:solidFill>
                <a:effectLst/>
                <a:latin typeface="Inter"/>
              </a:rPr>
              <a:t>principles.</a:t>
            </a:r>
          </a:p>
          <a:p>
            <a:pPr algn="just">
              <a:buFont typeface="Arial" panose="020B0604020202020204" pitchFamily="34" charset="0"/>
              <a:buChar char="•"/>
            </a:pPr>
            <a:endParaRPr lang="en-US" sz="2800" b="0" i="0" dirty="0">
              <a:solidFill>
                <a:srgbClr val="000000"/>
              </a:solidFill>
              <a:effectLst/>
              <a:latin typeface="Inter"/>
            </a:endParaRPr>
          </a:p>
          <a:p>
            <a:pPr algn="just">
              <a:buFont typeface="Arial" panose="020B0604020202020204" pitchFamily="34" charset="0"/>
              <a:buChar char="•"/>
            </a:pPr>
            <a:r>
              <a:rPr lang="en-US" sz="2800" b="1" i="0" dirty="0">
                <a:solidFill>
                  <a:srgbClr val="000000"/>
                </a:solidFill>
                <a:effectLst/>
                <a:latin typeface="Inter"/>
              </a:rPr>
              <a:t>Compound Interest:</a:t>
            </a:r>
            <a:r>
              <a:rPr lang="en-US" sz="2800" b="0" i="0" dirty="0">
                <a:solidFill>
                  <a:srgbClr val="000000"/>
                </a:solidFill>
                <a:effectLst/>
                <a:latin typeface="Inter"/>
              </a:rPr>
              <a:t> This type of interest accumulates not only on the initial principal but also on the interest that has been earned and retained from previous periods.</a:t>
            </a:r>
          </a:p>
          <a:p>
            <a:pPr algn="just">
              <a:buFont typeface="Arial" panose="020B0604020202020204" pitchFamily="34" charset="0"/>
              <a:buChar char="•"/>
            </a:pPr>
            <a:endParaRPr lang="en-US" sz="2800" b="0" i="0" dirty="0">
              <a:solidFill>
                <a:srgbClr val="000000"/>
              </a:solidFill>
              <a:effectLst/>
              <a:latin typeface="Inter"/>
            </a:endParaRPr>
          </a:p>
          <a:p>
            <a:pPr algn="just">
              <a:buFont typeface="Arial" panose="020B0604020202020204" pitchFamily="34" charset="0"/>
              <a:buChar char="•"/>
            </a:pPr>
            <a:r>
              <a:rPr lang="en-US" sz="2800" b="1" i="0" dirty="0">
                <a:solidFill>
                  <a:srgbClr val="000000"/>
                </a:solidFill>
                <a:effectLst/>
                <a:latin typeface="Inter"/>
              </a:rPr>
              <a:t>Simple Interest:</a:t>
            </a:r>
            <a:r>
              <a:rPr lang="en-US" sz="2800" b="0" i="0" dirty="0">
                <a:solidFill>
                  <a:srgbClr val="000000"/>
                </a:solidFill>
                <a:effectLst/>
                <a:latin typeface="Inter"/>
              </a:rPr>
              <a:t> This interest is calculated solely on the original principal amount, meaning no interest is earned on previously accrued interest.</a:t>
            </a:r>
          </a:p>
        </p:txBody>
      </p:sp>
      <p:sp>
        <p:nvSpPr>
          <p:cNvPr id="4" name="TextBox 3">
            <a:extLst>
              <a:ext uri="{FF2B5EF4-FFF2-40B4-BE49-F238E27FC236}">
                <a16:creationId xmlns:a16="http://schemas.microsoft.com/office/drawing/2014/main" id="{50347B83-14FC-E410-C7ED-D16CE79D708E}"/>
              </a:ext>
            </a:extLst>
          </p:cNvPr>
          <p:cNvSpPr txBox="1"/>
          <p:nvPr/>
        </p:nvSpPr>
        <p:spPr>
          <a:xfrm>
            <a:off x="181857" y="324380"/>
            <a:ext cx="9518323" cy="646331"/>
          </a:xfrm>
          <a:prstGeom prst="rect">
            <a:avLst/>
          </a:prstGeom>
          <a:noFill/>
        </p:spPr>
        <p:txBody>
          <a:bodyPr wrap="square">
            <a:spAutoFit/>
          </a:bodyPr>
          <a:lstStyle/>
          <a:p>
            <a:pPr algn="l">
              <a:buNone/>
            </a:pPr>
            <a:r>
              <a:rPr lang="en-US" sz="3600" b="1" dirty="0">
                <a:solidFill>
                  <a:srgbClr val="000000"/>
                </a:solidFill>
                <a:latin typeface="Inter"/>
              </a:rPr>
              <a:t>Methods of calculating future value</a:t>
            </a:r>
            <a:endParaRPr lang="en-US" sz="3600" b="1" i="0" dirty="0">
              <a:solidFill>
                <a:srgbClr val="000000"/>
              </a:solidFill>
              <a:effectLst/>
              <a:latin typeface="Inter"/>
            </a:endParaRPr>
          </a:p>
        </p:txBody>
      </p:sp>
    </p:spTree>
    <p:extLst>
      <p:ext uri="{BB962C8B-B14F-4D97-AF65-F5344CB8AC3E}">
        <p14:creationId xmlns:p14="http://schemas.microsoft.com/office/powerpoint/2010/main" val="3973084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76447-01C2-6464-CE45-167849C85BE6}"/>
            </a:ext>
          </a:extLst>
        </p:cNvPr>
        <p:cNvGrpSpPr/>
        <p:nvPr/>
      </p:nvGrpSpPr>
      <p:grpSpPr>
        <a:xfrm>
          <a:off x="0" y="0"/>
          <a:ext cx="0" cy="0"/>
          <a:chOff x="0" y="0"/>
          <a:chExt cx="0" cy="0"/>
        </a:xfrm>
      </p:grpSpPr>
      <p:pic>
        <p:nvPicPr>
          <p:cNvPr id="2050" name="Picture 2" descr="Future Value of a Single Cash Flow | Finance Train">
            <a:extLst>
              <a:ext uri="{FF2B5EF4-FFF2-40B4-BE49-F238E27FC236}">
                <a16:creationId xmlns:a16="http://schemas.microsoft.com/office/drawing/2014/main" id="{904D81E4-A034-4E0B-24C7-EA7A91262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7538" y="1140889"/>
            <a:ext cx="8106020" cy="40430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583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53FEF-A9E2-F086-6AF2-FF9F74465B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FA5A7C-A641-F0DC-7D83-A2345F1E3C4B}"/>
              </a:ext>
            </a:extLst>
          </p:cNvPr>
          <p:cNvSpPr txBox="1"/>
          <p:nvPr/>
        </p:nvSpPr>
        <p:spPr>
          <a:xfrm>
            <a:off x="360576" y="873001"/>
            <a:ext cx="11499429" cy="3539430"/>
          </a:xfrm>
          <a:prstGeom prst="rect">
            <a:avLst/>
          </a:prstGeom>
          <a:noFill/>
        </p:spPr>
        <p:txBody>
          <a:bodyPr wrap="square">
            <a:spAutoFit/>
          </a:bodyPr>
          <a:lstStyle/>
          <a:p>
            <a:pPr algn="just"/>
            <a:r>
              <a:rPr lang="en-US" sz="3100" dirty="0"/>
              <a:t>The frequency of compounding affects the future and present values of cash flows. The stated interest rate can deviate significantly from the true interest rate – ¤ </a:t>
            </a:r>
          </a:p>
          <a:p>
            <a:pPr algn="just"/>
            <a:endParaRPr lang="en-US" sz="3100" dirty="0"/>
          </a:p>
          <a:p>
            <a:pPr algn="just"/>
            <a:r>
              <a:rPr lang="en-US" sz="3100" dirty="0"/>
              <a:t>For instance, a 10% annual interest rate, if there is semiannual compounding, works out to- Effective Interest Rate = 1.052 - 1 = .10125 or 10.25% </a:t>
            </a:r>
          </a:p>
        </p:txBody>
      </p:sp>
      <p:pic>
        <p:nvPicPr>
          <p:cNvPr id="5" name="Picture 4">
            <a:extLst>
              <a:ext uri="{FF2B5EF4-FFF2-40B4-BE49-F238E27FC236}">
                <a16:creationId xmlns:a16="http://schemas.microsoft.com/office/drawing/2014/main" id="{C4C9F77A-97E2-A974-A2C2-12093B3F64FA}"/>
              </a:ext>
            </a:extLst>
          </p:cNvPr>
          <p:cNvPicPr>
            <a:picLocks noChangeAspect="1"/>
          </p:cNvPicPr>
          <p:nvPr/>
        </p:nvPicPr>
        <p:blipFill>
          <a:blip r:embed="rId2"/>
          <a:stretch>
            <a:fillRect/>
          </a:stretch>
        </p:blipFill>
        <p:spPr>
          <a:xfrm>
            <a:off x="3604667" y="4096298"/>
            <a:ext cx="7773485" cy="2124371"/>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FF01FB95-037F-C71C-8884-A0E7ECB514FB}"/>
              </a:ext>
            </a:extLst>
          </p:cNvPr>
          <p:cNvSpPr txBox="1"/>
          <p:nvPr/>
        </p:nvSpPr>
        <p:spPr>
          <a:xfrm>
            <a:off x="236940" y="79463"/>
            <a:ext cx="11499429" cy="646331"/>
          </a:xfrm>
          <a:prstGeom prst="rect">
            <a:avLst/>
          </a:prstGeom>
          <a:noFill/>
        </p:spPr>
        <p:txBody>
          <a:bodyPr wrap="square">
            <a:spAutoFit/>
          </a:bodyPr>
          <a:lstStyle/>
          <a:p>
            <a:r>
              <a:rPr lang="en-US" sz="3600" b="1" dirty="0">
                <a:solidFill>
                  <a:srgbClr val="000000"/>
                </a:solidFill>
                <a:latin typeface="Inter"/>
              </a:rPr>
              <a:t>The Frequency of Compounding</a:t>
            </a:r>
          </a:p>
        </p:txBody>
      </p:sp>
    </p:spTree>
    <p:extLst>
      <p:ext uri="{BB962C8B-B14F-4D97-AF65-F5344CB8AC3E}">
        <p14:creationId xmlns:p14="http://schemas.microsoft.com/office/powerpoint/2010/main" val="2799022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D25DC-36AC-7AF6-23CC-0F365A689C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7C0BDA-3A8A-8280-8CF9-8287E8A71BE5}"/>
              </a:ext>
            </a:extLst>
          </p:cNvPr>
          <p:cNvSpPr txBox="1"/>
          <p:nvPr/>
        </p:nvSpPr>
        <p:spPr>
          <a:xfrm>
            <a:off x="756501" y="1480256"/>
            <a:ext cx="9217058" cy="3139321"/>
          </a:xfrm>
          <a:prstGeom prst="rect">
            <a:avLst/>
          </a:prstGeom>
          <a:noFill/>
        </p:spPr>
        <p:txBody>
          <a:bodyPr wrap="square">
            <a:spAutoFit/>
          </a:bodyPr>
          <a:lstStyle/>
          <a:p>
            <a:endParaRPr lang="en-US" dirty="0"/>
          </a:p>
          <a:p>
            <a:r>
              <a:rPr lang="en-US" sz="3600" dirty="0"/>
              <a:t>• Simple cash flows,  </a:t>
            </a:r>
          </a:p>
          <a:p>
            <a:r>
              <a:rPr lang="en-US" sz="3600" dirty="0"/>
              <a:t>• Annuities,  </a:t>
            </a:r>
          </a:p>
          <a:p>
            <a:r>
              <a:rPr lang="en-US" sz="3600" dirty="0"/>
              <a:t>• Growing annuities </a:t>
            </a:r>
          </a:p>
          <a:p>
            <a:r>
              <a:rPr lang="en-US" sz="3600" dirty="0"/>
              <a:t>• Perpetuities and  </a:t>
            </a:r>
          </a:p>
          <a:p>
            <a:r>
              <a:rPr lang="en-US" sz="3600" dirty="0"/>
              <a:t>• Growing perpetuities </a:t>
            </a:r>
          </a:p>
        </p:txBody>
      </p:sp>
      <p:sp>
        <p:nvSpPr>
          <p:cNvPr id="5" name="TextBox 4">
            <a:extLst>
              <a:ext uri="{FF2B5EF4-FFF2-40B4-BE49-F238E27FC236}">
                <a16:creationId xmlns:a16="http://schemas.microsoft.com/office/drawing/2014/main" id="{3124F7D7-CCF3-BBCE-023D-2B27102D1694}"/>
              </a:ext>
            </a:extLst>
          </p:cNvPr>
          <p:cNvSpPr txBox="1"/>
          <p:nvPr/>
        </p:nvSpPr>
        <p:spPr>
          <a:xfrm>
            <a:off x="530258" y="522344"/>
            <a:ext cx="6094428" cy="646331"/>
          </a:xfrm>
          <a:prstGeom prst="rect">
            <a:avLst/>
          </a:prstGeom>
          <a:noFill/>
        </p:spPr>
        <p:txBody>
          <a:bodyPr wrap="square">
            <a:spAutoFit/>
          </a:bodyPr>
          <a:lstStyle/>
          <a:p>
            <a:r>
              <a:rPr lang="en-US" sz="3600" b="1" dirty="0">
                <a:solidFill>
                  <a:srgbClr val="000000"/>
                </a:solidFill>
                <a:latin typeface="Inter"/>
              </a:rPr>
              <a:t>Types of Cashflows</a:t>
            </a:r>
          </a:p>
        </p:txBody>
      </p:sp>
    </p:spTree>
    <p:extLst>
      <p:ext uri="{BB962C8B-B14F-4D97-AF65-F5344CB8AC3E}">
        <p14:creationId xmlns:p14="http://schemas.microsoft.com/office/powerpoint/2010/main" val="1679655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168D8-6F88-49FB-B2E5-BE0B0EDB0A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F5511C-612B-DE6E-70B4-9B92B6BEB757}"/>
              </a:ext>
            </a:extLst>
          </p:cNvPr>
          <p:cNvSpPr txBox="1"/>
          <p:nvPr/>
        </p:nvSpPr>
        <p:spPr>
          <a:xfrm>
            <a:off x="181857" y="324380"/>
            <a:ext cx="11837318" cy="769441"/>
          </a:xfrm>
          <a:prstGeom prst="rect">
            <a:avLst/>
          </a:prstGeom>
          <a:noFill/>
        </p:spPr>
        <p:txBody>
          <a:bodyPr wrap="square">
            <a:spAutoFit/>
          </a:bodyPr>
          <a:lstStyle/>
          <a:p>
            <a:pPr algn="l">
              <a:buNone/>
            </a:pPr>
            <a:r>
              <a:rPr lang="en-US" sz="3600" b="1" dirty="0">
                <a:solidFill>
                  <a:srgbClr val="000000"/>
                </a:solidFill>
                <a:latin typeface="Inter"/>
              </a:rPr>
              <a:t>TVM based on lumpsum </a:t>
            </a:r>
            <a:r>
              <a:rPr lang="en-US" sz="4400" b="1" dirty="0">
                <a:solidFill>
                  <a:srgbClr val="000000"/>
                </a:solidFill>
                <a:latin typeface="Inter"/>
              </a:rPr>
              <a:t>Vs</a:t>
            </a:r>
            <a:r>
              <a:rPr lang="en-US" sz="3600" b="1" dirty="0">
                <a:solidFill>
                  <a:srgbClr val="000000"/>
                </a:solidFill>
                <a:latin typeface="Inter"/>
              </a:rPr>
              <a:t> Installment/Annuity/Cashflow</a:t>
            </a:r>
            <a:endParaRPr lang="en-US" sz="3600" b="1" i="0" dirty="0">
              <a:solidFill>
                <a:srgbClr val="000000"/>
              </a:solidFill>
              <a:effectLst/>
              <a:latin typeface="Inter"/>
            </a:endParaRPr>
          </a:p>
        </p:txBody>
      </p:sp>
      <p:sp>
        <p:nvSpPr>
          <p:cNvPr id="3" name="TextBox 2">
            <a:extLst>
              <a:ext uri="{FF2B5EF4-FFF2-40B4-BE49-F238E27FC236}">
                <a16:creationId xmlns:a16="http://schemas.microsoft.com/office/drawing/2014/main" id="{2D46A8AA-CDEA-73DF-7EDA-76936E9185A9}"/>
              </a:ext>
            </a:extLst>
          </p:cNvPr>
          <p:cNvSpPr txBox="1"/>
          <p:nvPr/>
        </p:nvSpPr>
        <p:spPr>
          <a:xfrm>
            <a:off x="181857" y="1537542"/>
            <a:ext cx="11498344" cy="954107"/>
          </a:xfrm>
          <a:prstGeom prst="rect">
            <a:avLst/>
          </a:prstGeom>
          <a:noFill/>
        </p:spPr>
        <p:txBody>
          <a:bodyPr wrap="square">
            <a:spAutoFit/>
          </a:bodyPr>
          <a:lstStyle/>
          <a:p>
            <a:pPr algn="just"/>
            <a:r>
              <a:rPr lang="en-US" sz="2800" b="1" i="0" dirty="0">
                <a:solidFill>
                  <a:srgbClr val="000000"/>
                </a:solidFill>
                <a:effectLst/>
                <a:latin typeface="Inter"/>
              </a:rPr>
              <a:t>Total lumpsum of BDT 100 </a:t>
            </a:r>
            <a:r>
              <a:rPr lang="en-US" sz="2800" b="1" dirty="0">
                <a:solidFill>
                  <a:srgbClr val="000000"/>
                </a:solidFill>
                <a:latin typeface="Inter"/>
              </a:rPr>
              <a:t>investment today for next 2 years @ 10% simple rate </a:t>
            </a:r>
            <a:endParaRPr lang="en-US" sz="2800" b="0" i="0" dirty="0">
              <a:solidFill>
                <a:srgbClr val="000000"/>
              </a:solidFill>
              <a:effectLst/>
              <a:latin typeface="Inter"/>
            </a:endParaRPr>
          </a:p>
        </p:txBody>
      </p:sp>
      <p:sp>
        <p:nvSpPr>
          <p:cNvPr id="4" name="TextBox 3">
            <a:extLst>
              <a:ext uri="{FF2B5EF4-FFF2-40B4-BE49-F238E27FC236}">
                <a16:creationId xmlns:a16="http://schemas.microsoft.com/office/drawing/2014/main" id="{85DF9410-E27E-A0FB-4C77-054B20B65485}"/>
              </a:ext>
            </a:extLst>
          </p:cNvPr>
          <p:cNvSpPr txBox="1"/>
          <p:nvPr/>
        </p:nvSpPr>
        <p:spPr>
          <a:xfrm>
            <a:off x="271414" y="4256365"/>
            <a:ext cx="11498344" cy="954107"/>
          </a:xfrm>
          <a:prstGeom prst="rect">
            <a:avLst/>
          </a:prstGeom>
          <a:noFill/>
        </p:spPr>
        <p:txBody>
          <a:bodyPr wrap="square">
            <a:spAutoFit/>
          </a:bodyPr>
          <a:lstStyle/>
          <a:p>
            <a:pPr algn="just"/>
            <a:r>
              <a:rPr lang="en-US" sz="2800" b="1" i="0" dirty="0">
                <a:solidFill>
                  <a:srgbClr val="000000"/>
                </a:solidFill>
                <a:effectLst/>
                <a:latin typeface="Inter"/>
              </a:rPr>
              <a:t>Total lumpsum of BDT 100 investment </a:t>
            </a:r>
            <a:r>
              <a:rPr lang="en-US" sz="2800" b="1" i="0" dirty="0">
                <a:solidFill>
                  <a:srgbClr val="FF0000"/>
                </a:solidFill>
                <a:effectLst/>
                <a:latin typeface="Inter"/>
              </a:rPr>
              <a:t>every year </a:t>
            </a:r>
            <a:r>
              <a:rPr lang="en-US" sz="2800" b="1" dirty="0">
                <a:solidFill>
                  <a:srgbClr val="000000"/>
                </a:solidFill>
                <a:latin typeface="Inter"/>
              </a:rPr>
              <a:t>for next 3 years @ 10% simple rate </a:t>
            </a:r>
            <a:endParaRPr lang="en-US" sz="2800" b="0" i="0" dirty="0">
              <a:solidFill>
                <a:srgbClr val="000000"/>
              </a:solidFill>
              <a:effectLst/>
              <a:latin typeface="Inter"/>
            </a:endParaRPr>
          </a:p>
        </p:txBody>
      </p:sp>
      <p:grpSp>
        <p:nvGrpSpPr>
          <p:cNvPr id="6" name="Group 31" descr="Scale from 0-2 showing $100 lump sum due in 2 years. " title="Timeline 1">
            <a:extLst>
              <a:ext uri="{FF2B5EF4-FFF2-40B4-BE49-F238E27FC236}">
                <a16:creationId xmlns:a16="http://schemas.microsoft.com/office/drawing/2014/main" id="{CF1833D3-19FD-8708-E626-20C510621E57}"/>
              </a:ext>
            </a:extLst>
          </p:cNvPr>
          <p:cNvGrpSpPr>
            <a:grpSpLocks/>
          </p:cNvGrpSpPr>
          <p:nvPr/>
        </p:nvGrpSpPr>
        <p:grpSpPr bwMode="auto">
          <a:xfrm>
            <a:off x="2810004" y="2276707"/>
            <a:ext cx="6242050" cy="1841547"/>
            <a:chOff x="712637" y="1459714"/>
            <a:chExt cx="6700345" cy="2177518"/>
          </a:xfrm>
        </p:grpSpPr>
        <p:sp>
          <p:nvSpPr>
            <p:cNvPr id="7" name="Rectangle 35">
              <a:extLst>
                <a:ext uri="{FF2B5EF4-FFF2-40B4-BE49-F238E27FC236}">
                  <a16:creationId xmlns:a16="http://schemas.microsoft.com/office/drawing/2014/main" id="{BF081CD9-7D67-7BA7-0983-EFA4F7FC1030}"/>
                </a:ext>
              </a:extLst>
            </p:cNvPr>
            <p:cNvSpPr>
              <a:spLocks noChangeArrowheads="1"/>
            </p:cNvSpPr>
            <p:nvPr/>
          </p:nvSpPr>
          <p:spPr bwMode="auto">
            <a:xfrm>
              <a:off x="5363689" y="3205763"/>
              <a:ext cx="705485" cy="431469"/>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100</a:t>
              </a:r>
            </a:p>
          </p:txBody>
        </p:sp>
        <p:sp>
          <p:nvSpPr>
            <p:cNvPr id="8" name="Rectangle 36">
              <a:extLst>
                <a:ext uri="{FF2B5EF4-FFF2-40B4-BE49-F238E27FC236}">
                  <a16:creationId xmlns:a16="http://schemas.microsoft.com/office/drawing/2014/main" id="{D28E5A1A-B5CE-2847-2AF9-BC23A1ABFA02}"/>
                </a:ext>
              </a:extLst>
            </p:cNvPr>
            <p:cNvSpPr>
              <a:spLocks noChangeArrowheads="1"/>
            </p:cNvSpPr>
            <p:nvPr/>
          </p:nvSpPr>
          <p:spPr bwMode="auto">
            <a:xfrm>
              <a:off x="958705" y="2394665"/>
              <a:ext cx="368229" cy="431469"/>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0</a:t>
              </a:r>
            </a:p>
          </p:txBody>
        </p:sp>
        <p:sp>
          <p:nvSpPr>
            <p:cNvPr id="9" name="Rectangle 37">
              <a:extLst>
                <a:ext uri="{FF2B5EF4-FFF2-40B4-BE49-F238E27FC236}">
                  <a16:creationId xmlns:a16="http://schemas.microsoft.com/office/drawing/2014/main" id="{17E6BF96-7A98-7F4F-2CFC-AA465001ED2E}"/>
                </a:ext>
              </a:extLst>
            </p:cNvPr>
            <p:cNvSpPr>
              <a:spLocks noChangeArrowheads="1"/>
            </p:cNvSpPr>
            <p:nvPr/>
          </p:nvSpPr>
          <p:spPr bwMode="auto">
            <a:xfrm>
              <a:off x="3240436" y="2394665"/>
              <a:ext cx="368229" cy="431469"/>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a:t>
              </a:r>
            </a:p>
          </p:txBody>
        </p:sp>
        <p:sp>
          <p:nvSpPr>
            <p:cNvPr id="10" name="Rectangle 38">
              <a:extLst>
                <a:ext uri="{FF2B5EF4-FFF2-40B4-BE49-F238E27FC236}">
                  <a16:creationId xmlns:a16="http://schemas.microsoft.com/office/drawing/2014/main" id="{9D362114-E5DF-6E6E-FF27-5916972C2EA4}"/>
                </a:ext>
              </a:extLst>
            </p:cNvPr>
            <p:cNvSpPr>
              <a:spLocks noChangeArrowheads="1"/>
            </p:cNvSpPr>
            <p:nvPr/>
          </p:nvSpPr>
          <p:spPr bwMode="auto">
            <a:xfrm>
              <a:off x="5522165" y="2394665"/>
              <a:ext cx="368229" cy="431469"/>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2</a:t>
              </a:r>
            </a:p>
          </p:txBody>
        </p:sp>
        <p:sp>
          <p:nvSpPr>
            <p:cNvPr id="11" name="Line 39">
              <a:extLst>
                <a:ext uri="{FF2B5EF4-FFF2-40B4-BE49-F238E27FC236}">
                  <a16:creationId xmlns:a16="http://schemas.microsoft.com/office/drawing/2014/main" id="{67B56EB5-9F41-DFF3-F141-0E4DACCB4380}"/>
                </a:ext>
              </a:extLst>
            </p:cNvPr>
            <p:cNvSpPr>
              <a:spLocks noChangeShapeType="1"/>
            </p:cNvSpPr>
            <p:nvPr/>
          </p:nvSpPr>
          <p:spPr bwMode="auto">
            <a:xfrm flipH="1">
              <a:off x="1137632" y="2962911"/>
              <a:ext cx="4548123" cy="0"/>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12" name="Rectangle 40">
              <a:extLst>
                <a:ext uri="{FF2B5EF4-FFF2-40B4-BE49-F238E27FC236}">
                  <a16:creationId xmlns:a16="http://schemas.microsoft.com/office/drawing/2014/main" id="{9E4815DD-51A7-F6B6-02EE-33F9C19CA9A2}"/>
                </a:ext>
              </a:extLst>
            </p:cNvPr>
            <p:cNvSpPr>
              <a:spLocks noChangeArrowheads="1"/>
            </p:cNvSpPr>
            <p:nvPr/>
          </p:nvSpPr>
          <p:spPr bwMode="auto">
            <a:xfrm>
              <a:off x="1775870" y="2551497"/>
              <a:ext cx="750223" cy="473865"/>
            </a:xfrm>
            <a:prstGeom prst="rect">
              <a:avLst/>
            </a:prstGeom>
            <a:noFill/>
            <a:ln w="9525">
              <a:noFill/>
              <a:miter lim="800000"/>
              <a:headEnd/>
              <a:tailEnd/>
            </a:ln>
          </p:spPr>
          <p:txBody>
            <a:bodyPr wrap="none" lIns="92075" tIns="46038" rIns="92075" bIns="46038">
              <a:spAutoFit/>
            </a:bodyPr>
            <a:lstStyle/>
            <a:p>
              <a:pPr>
                <a:defRPr/>
              </a:pPr>
              <a:r>
                <a:rPr lang="en-US" sz="2000" dirty="0">
                  <a:latin typeface="Arial" panose="020B0604020202020204" pitchFamily="34" charset="0"/>
                  <a:cs typeface="Arial" panose="020B0604020202020204" pitchFamily="34" charset="0"/>
                </a:rPr>
                <a:t>10%</a:t>
              </a:r>
            </a:p>
          </p:txBody>
        </p:sp>
        <p:sp>
          <p:nvSpPr>
            <p:cNvPr id="13" name="Line 41">
              <a:extLst>
                <a:ext uri="{FF2B5EF4-FFF2-40B4-BE49-F238E27FC236}">
                  <a16:creationId xmlns:a16="http://schemas.microsoft.com/office/drawing/2014/main" id="{BDD8AA4B-A154-7B7B-729B-161D5C02A04D}"/>
                </a:ext>
              </a:extLst>
            </p:cNvPr>
            <p:cNvSpPr>
              <a:spLocks noChangeShapeType="1"/>
            </p:cNvSpPr>
            <p:nvPr/>
          </p:nvSpPr>
          <p:spPr bwMode="auto">
            <a:xfrm>
              <a:off x="1130816" y="2824817"/>
              <a:ext cx="0" cy="274600"/>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14" name="Line 42">
              <a:extLst>
                <a:ext uri="{FF2B5EF4-FFF2-40B4-BE49-F238E27FC236}">
                  <a16:creationId xmlns:a16="http://schemas.microsoft.com/office/drawing/2014/main" id="{DD1264E2-7844-2C3D-0D96-A2E71043B8A8}"/>
                </a:ext>
              </a:extLst>
            </p:cNvPr>
            <p:cNvSpPr>
              <a:spLocks noChangeShapeType="1"/>
            </p:cNvSpPr>
            <p:nvPr/>
          </p:nvSpPr>
          <p:spPr bwMode="auto">
            <a:xfrm>
              <a:off x="5689163" y="2824817"/>
              <a:ext cx="0" cy="274600"/>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15" name="Line 43">
              <a:extLst>
                <a:ext uri="{FF2B5EF4-FFF2-40B4-BE49-F238E27FC236}">
                  <a16:creationId xmlns:a16="http://schemas.microsoft.com/office/drawing/2014/main" id="{A4BE41FD-68CB-66B6-BD40-6CB6E117283D}"/>
                </a:ext>
              </a:extLst>
            </p:cNvPr>
            <p:cNvSpPr>
              <a:spLocks noChangeShapeType="1"/>
            </p:cNvSpPr>
            <p:nvPr/>
          </p:nvSpPr>
          <p:spPr bwMode="auto">
            <a:xfrm>
              <a:off x="3412545" y="2824817"/>
              <a:ext cx="0" cy="274600"/>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16" name="Text Box 46">
              <a:extLst>
                <a:ext uri="{FF2B5EF4-FFF2-40B4-BE49-F238E27FC236}">
                  <a16:creationId xmlns:a16="http://schemas.microsoft.com/office/drawing/2014/main" id="{C6FE6B65-CE6C-D948-882C-F1E734A88AD3}"/>
                </a:ext>
              </a:extLst>
            </p:cNvPr>
            <p:cNvSpPr txBox="1">
              <a:spLocks noChangeArrowheads="1"/>
            </p:cNvSpPr>
            <p:nvPr/>
          </p:nvSpPr>
          <p:spPr bwMode="auto">
            <a:xfrm>
              <a:off x="712637" y="1459714"/>
              <a:ext cx="6700345" cy="492056"/>
            </a:xfrm>
            <a:prstGeom prst="rect">
              <a:avLst/>
            </a:prstGeom>
            <a:noFill/>
            <a:ln w="9525">
              <a:noFill/>
              <a:miter lim="800000"/>
              <a:headEnd/>
              <a:tailEnd/>
            </a:ln>
          </p:spPr>
          <p:txBody>
            <a:bodyPr>
              <a:spAutoFit/>
            </a:bodyPr>
            <a:lstStyle/>
            <a:p>
              <a:pPr>
                <a:spcBef>
                  <a:spcPct val="50000"/>
                </a:spcBef>
                <a:defRPr/>
              </a:pPr>
              <a:r>
                <a:rPr lang="en-US" sz="2600" dirty="0">
                  <a:latin typeface="Arial" panose="020B0604020202020204" pitchFamily="34" charset="0"/>
                  <a:cs typeface="Arial" panose="020B0604020202020204" pitchFamily="34" charset="0"/>
                </a:rPr>
                <a:t>BDT100 lumpsum due in 2 years</a:t>
              </a:r>
            </a:p>
          </p:txBody>
        </p:sp>
      </p:grpSp>
      <p:grpSp>
        <p:nvGrpSpPr>
          <p:cNvPr id="17" name="Group 49" descr="Scale from 0-3 showing 3-year $100 annuity." title="Timeline 2">
            <a:extLst>
              <a:ext uri="{FF2B5EF4-FFF2-40B4-BE49-F238E27FC236}">
                <a16:creationId xmlns:a16="http://schemas.microsoft.com/office/drawing/2014/main" id="{A4402ECE-51F3-4C2C-7E43-AEC914CD2F4F}"/>
              </a:ext>
            </a:extLst>
          </p:cNvPr>
          <p:cNvGrpSpPr>
            <a:grpSpLocks/>
          </p:cNvGrpSpPr>
          <p:nvPr/>
        </p:nvGrpSpPr>
        <p:grpSpPr bwMode="auto">
          <a:xfrm>
            <a:off x="2830427" y="4666093"/>
            <a:ext cx="7080251" cy="1995487"/>
            <a:chOff x="576" y="2640"/>
            <a:chExt cx="4460" cy="1257"/>
          </a:xfrm>
        </p:grpSpPr>
        <p:sp>
          <p:nvSpPr>
            <p:cNvPr id="18" name="Rectangle 5">
              <a:extLst>
                <a:ext uri="{FF2B5EF4-FFF2-40B4-BE49-F238E27FC236}">
                  <a16:creationId xmlns:a16="http://schemas.microsoft.com/office/drawing/2014/main" id="{5577EE1F-1101-C80A-0B70-488ECD9169C8}"/>
                </a:ext>
              </a:extLst>
            </p:cNvPr>
            <p:cNvSpPr>
              <a:spLocks noChangeArrowheads="1"/>
            </p:cNvSpPr>
            <p:nvPr/>
          </p:nvSpPr>
          <p:spPr bwMode="auto">
            <a:xfrm>
              <a:off x="1930" y="3625"/>
              <a:ext cx="414"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100</a:t>
              </a:r>
            </a:p>
          </p:txBody>
        </p:sp>
        <p:sp>
          <p:nvSpPr>
            <p:cNvPr id="19" name="Rectangle 6">
              <a:extLst>
                <a:ext uri="{FF2B5EF4-FFF2-40B4-BE49-F238E27FC236}">
                  <a16:creationId xmlns:a16="http://schemas.microsoft.com/office/drawing/2014/main" id="{1B87E8D1-998A-EA8B-3583-A7175AFBF08E}"/>
                </a:ext>
              </a:extLst>
            </p:cNvPr>
            <p:cNvSpPr>
              <a:spLocks noChangeArrowheads="1"/>
            </p:cNvSpPr>
            <p:nvPr/>
          </p:nvSpPr>
          <p:spPr bwMode="auto">
            <a:xfrm>
              <a:off x="4622" y="3625"/>
              <a:ext cx="414"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100</a:t>
              </a:r>
            </a:p>
          </p:txBody>
        </p:sp>
        <p:grpSp>
          <p:nvGrpSpPr>
            <p:cNvPr id="20" name="Group 7">
              <a:extLst>
                <a:ext uri="{FF2B5EF4-FFF2-40B4-BE49-F238E27FC236}">
                  <a16:creationId xmlns:a16="http://schemas.microsoft.com/office/drawing/2014/main" id="{223C3DF5-E1B5-636B-B683-97331580E8EB}"/>
                </a:ext>
              </a:extLst>
            </p:cNvPr>
            <p:cNvGrpSpPr>
              <a:grpSpLocks/>
            </p:cNvGrpSpPr>
            <p:nvPr/>
          </p:nvGrpSpPr>
          <p:grpSpPr bwMode="auto">
            <a:xfrm>
              <a:off x="730" y="3380"/>
              <a:ext cx="4080" cy="173"/>
              <a:chOff x="768" y="2287"/>
              <a:chExt cx="4080" cy="173"/>
            </a:xfrm>
          </p:grpSpPr>
          <p:sp>
            <p:nvSpPr>
              <p:cNvPr id="28" name="Line 8">
                <a:extLst>
                  <a:ext uri="{FF2B5EF4-FFF2-40B4-BE49-F238E27FC236}">
                    <a16:creationId xmlns:a16="http://schemas.microsoft.com/office/drawing/2014/main" id="{B2E2DDD3-1C8A-3DD4-0877-AFE91B51187F}"/>
                  </a:ext>
                </a:extLst>
              </p:cNvPr>
              <p:cNvSpPr>
                <a:spLocks noChangeShapeType="1"/>
              </p:cNvSpPr>
              <p:nvPr/>
            </p:nvSpPr>
            <p:spPr bwMode="auto">
              <a:xfrm>
                <a:off x="768" y="2287"/>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29" name="Line 9">
                <a:extLst>
                  <a:ext uri="{FF2B5EF4-FFF2-40B4-BE49-F238E27FC236}">
                    <a16:creationId xmlns:a16="http://schemas.microsoft.com/office/drawing/2014/main" id="{78E4BF46-1AC2-5358-3247-32B90553A056}"/>
                  </a:ext>
                </a:extLst>
              </p:cNvPr>
              <p:cNvSpPr>
                <a:spLocks noChangeShapeType="1"/>
              </p:cNvSpPr>
              <p:nvPr/>
            </p:nvSpPr>
            <p:spPr bwMode="auto">
              <a:xfrm>
                <a:off x="2160" y="2287"/>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30" name="Line 10">
                <a:extLst>
                  <a:ext uri="{FF2B5EF4-FFF2-40B4-BE49-F238E27FC236}">
                    <a16:creationId xmlns:a16="http://schemas.microsoft.com/office/drawing/2014/main" id="{C6567B47-34E8-C91D-854D-322F0E75E7CE}"/>
                  </a:ext>
                </a:extLst>
              </p:cNvPr>
              <p:cNvSpPr>
                <a:spLocks noChangeShapeType="1"/>
              </p:cNvSpPr>
              <p:nvPr/>
            </p:nvSpPr>
            <p:spPr bwMode="auto">
              <a:xfrm>
                <a:off x="3408" y="2287"/>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31" name="Line 11">
                <a:extLst>
                  <a:ext uri="{FF2B5EF4-FFF2-40B4-BE49-F238E27FC236}">
                    <a16:creationId xmlns:a16="http://schemas.microsoft.com/office/drawing/2014/main" id="{11B6EDBB-EB99-4CFD-2BBE-BC573E925941}"/>
                  </a:ext>
                </a:extLst>
              </p:cNvPr>
              <p:cNvSpPr>
                <a:spLocks noChangeShapeType="1"/>
              </p:cNvSpPr>
              <p:nvPr/>
            </p:nvSpPr>
            <p:spPr bwMode="auto">
              <a:xfrm>
                <a:off x="4848" y="2287"/>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32" name="Line 12">
                <a:extLst>
                  <a:ext uri="{FF2B5EF4-FFF2-40B4-BE49-F238E27FC236}">
                    <a16:creationId xmlns:a16="http://schemas.microsoft.com/office/drawing/2014/main" id="{2214AA76-6245-2957-6958-65527C4B1B19}"/>
                  </a:ext>
                </a:extLst>
              </p:cNvPr>
              <p:cNvSpPr>
                <a:spLocks noChangeShapeType="1"/>
              </p:cNvSpPr>
              <p:nvPr/>
            </p:nvSpPr>
            <p:spPr bwMode="auto">
              <a:xfrm>
                <a:off x="769" y="2373"/>
                <a:ext cx="4079" cy="0"/>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grpSp>
        <p:sp>
          <p:nvSpPr>
            <p:cNvPr id="21" name="Rectangle 13">
              <a:extLst>
                <a:ext uri="{FF2B5EF4-FFF2-40B4-BE49-F238E27FC236}">
                  <a16:creationId xmlns:a16="http://schemas.microsoft.com/office/drawing/2014/main" id="{3D3C5691-319D-DDDB-F705-1CCBAD07D1E3}"/>
                </a:ext>
              </a:extLst>
            </p:cNvPr>
            <p:cNvSpPr>
              <a:spLocks noChangeArrowheads="1"/>
            </p:cNvSpPr>
            <p:nvPr/>
          </p:nvSpPr>
          <p:spPr bwMode="auto">
            <a:xfrm>
              <a:off x="3178" y="3625"/>
              <a:ext cx="414"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100</a:t>
              </a:r>
            </a:p>
          </p:txBody>
        </p:sp>
        <p:sp>
          <p:nvSpPr>
            <p:cNvPr id="22" name="Rectangle 14">
              <a:extLst>
                <a:ext uri="{FF2B5EF4-FFF2-40B4-BE49-F238E27FC236}">
                  <a16:creationId xmlns:a16="http://schemas.microsoft.com/office/drawing/2014/main" id="{48860ECE-35B4-3BC2-D012-6E778FF5C9E8}"/>
                </a:ext>
              </a:extLst>
            </p:cNvPr>
            <p:cNvSpPr>
              <a:spLocks noChangeArrowheads="1"/>
            </p:cNvSpPr>
            <p:nvPr/>
          </p:nvSpPr>
          <p:spPr bwMode="auto">
            <a:xfrm>
              <a:off x="634" y="310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0</a:t>
              </a:r>
            </a:p>
          </p:txBody>
        </p:sp>
        <p:sp>
          <p:nvSpPr>
            <p:cNvPr id="23" name="Rectangle 15">
              <a:extLst>
                <a:ext uri="{FF2B5EF4-FFF2-40B4-BE49-F238E27FC236}">
                  <a16:creationId xmlns:a16="http://schemas.microsoft.com/office/drawing/2014/main" id="{DD075E20-7681-FB56-C054-BB7582BE2459}"/>
                </a:ext>
              </a:extLst>
            </p:cNvPr>
            <p:cNvSpPr>
              <a:spLocks noChangeArrowheads="1"/>
            </p:cNvSpPr>
            <p:nvPr/>
          </p:nvSpPr>
          <p:spPr bwMode="auto">
            <a:xfrm>
              <a:off x="2019" y="310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a:t>
              </a:r>
            </a:p>
          </p:txBody>
        </p:sp>
        <p:sp>
          <p:nvSpPr>
            <p:cNvPr id="24" name="Rectangle 16">
              <a:extLst>
                <a:ext uri="{FF2B5EF4-FFF2-40B4-BE49-F238E27FC236}">
                  <a16:creationId xmlns:a16="http://schemas.microsoft.com/office/drawing/2014/main" id="{AF09D6DB-BA38-8AC0-8125-FD208FC32719}"/>
                </a:ext>
              </a:extLst>
            </p:cNvPr>
            <p:cNvSpPr>
              <a:spLocks noChangeArrowheads="1"/>
            </p:cNvSpPr>
            <p:nvPr/>
          </p:nvSpPr>
          <p:spPr bwMode="auto">
            <a:xfrm>
              <a:off x="3273" y="310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2</a:t>
              </a:r>
            </a:p>
          </p:txBody>
        </p:sp>
        <p:sp>
          <p:nvSpPr>
            <p:cNvPr id="25" name="Rectangle 17">
              <a:extLst>
                <a:ext uri="{FF2B5EF4-FFF2-40B4-BE49-F238E27FC236}">
                  <a16:creationId xmlns:a16="http://schemas.microsoft.com/office/drawing/2014/main" id="{38438382-D5C1-1700-CEA2-368393C4AC43}"/>
                </a:ext>
              </a:extLst>
            </p:cNvPr>
            <p:cNvSpPr>
              <a:spLocks noChangeArrowheads="1"/>
            </p:cNvSpPr>
            <p:nvPr/>
          </p:nvSpPr>
          <p:spPr bwMode="auto">
            <a:xfrm>
              <a:off x="4705" y="310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3</a:t>
              </a:r>
            </a:p>
          </p:txBody>
        </p:sp>
        <p:sp>
          <p:nvSpPr>
            <p:cNvPr id="26" name="Rectangle 18">
              <a:extLst>
                <a:ext uri="{FF2B5EF4-FFF2-40B4-BE49-F238E27FC236}">
                  <a16:creationId xmlns:a16="http://schemas.microsoft.com/office/drawing/2014/main" id="{3EF7D40D-AD40-070A-8CF4-0F09A19CD03D}"/>
                </a:ext>
              </a:extLst>
            </p:cNvPr>
            <p:cNvSpPr>
              <a:spLocks noChangeArrowheads="1"/>
            </p:cNvSpPr>
            <p:nvPr/>
          </p:nvSpPr>
          <p:spPr bwMode="auto">
            <a:xfrm>
              <a:off x="1104" y="3250"/>
              <a:ext cx="440" cy="252"/>
            </a:xfrm>
            <a:prstGeom prst="rect">
              <a:avLst/>
            </a:prstGeom>
            <a:noFill/>
            <a:ln w="9525">
              <a:noFill/>
              <a:miter lim="800000"/>
              <a:headEnd/>
              <a:tailEnd/>
            </a:ln>
          </p:spPr>
          <p:txBody>
            <a:bodyPr wrap="none" lIns="92075" tIns="46038" rIns="92075" bIns="46038">
              <a:spAutoFit/>
            </a:bodyPr>
            <a:lstStyle/>
            <a:p>
              <a:pPr>
                <a:defRPr/>
              </a:pPr>
              <a:r>
                <a:rPr lang="en-US" sz="2000" dirty="0">
                  <a:latin typeface="Arial" panose="020B0604020202020204" pitchFamily="34" charset="0"/>
                  <a:cs typeface="Arial" panose="020B0604020202020204" pitchFamily="34" charset="0"/>
                </a:rPr>
                <a:t>10%</a:t>
              </a:r>
            </a:p>
          </p:txBody>
        </p:sp>
        <p:sp>
          <p:nvSpPr>
            <p:cNvPr id="27" name="Text Box 44">
              <a:extLst>
                <a:ext uri="{FF2B5EF4-FFF2-40B4-BE49-F238E27FC236}">
                  <a16:creationId xmlns:a16="http://schemas.microsoft.com/office/drawing/2014/main" id="{91D1112B-1524-8C23-E05D-715F4CEBA425}"/>
                </a:ext>
              </a:extLst>
            </p:cNvPr>
            <p:cNvSpPr txBox="1">
              <a:spLocks noChangeArrowheads="1"/>
            </p:cNvSpPr>
            <p:nvPr/>
          </p:nvSpPr>
          <p:spPr bwMode="auto">
            <a:xfrm>
              <a:off x="576" y="2640"/>
              <a:ext cx="3168" cy="310"/>
            </a:xfrm>
            <a:prstGeom prst="rect">
              <a:avLst/>
            </a:prstGeom>
            <a:noFill/>
            <a:ln w="9525">
              <a:noFill/>
              <a:miter lim="800000"/>
              <a:headEnd/>
              <a:tailEnd/>
            </a:ln>
          </p:spPr>
          <p:txBody>
            <a:bodyPr>
              <a:spAutoFit/>
            </a:bodyPr>
            <a:lstStyle/>
            <a:p>
              <a:pPr>
                <a:spcBef>
                  <a:spcPct val="50000"/>
                </a:spcBef>
                <a:defRPr/>
              </a:pPr>
              <a:r>
                <a:rPr lang="en-US" sz="2600" dirty="0">
                  <a:latin typeface="Arial" panose="020B0604020202020204" pitchFamily="34" charset="0"/>
                  <a:cs typeface="Arial" panose="020B0604020202020204" pitchFamily="34" charset="0"/>
                </a:rPr>
                <a:t>3-year BDT100 ordinary annuity</a:t>
              </a:r>
            </a:p>
          </p:txBody>
        </p:sp>
      </p:grpSp>
    </p:spTree>
    <p:extLst>
      <p:ext uri="{BB962C8B-B14F-4D97-AF65-F5344CB8AC3E}">
        <p14:creationId xmlns:p14="http://schemas.microsoft.com/office/powerpoint/2010/main" val="425011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44EB8-B566-FA49-031B-09C16AA5BD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F11DD0-DCEB-38A3-2C66-AFFAD3A3C897}"/>
              </a:ext>
            </a:extLst>
          </p:cNvPr>
          <p:cNvSpPr txBox="1"/>
          <p:nvPr/>
        </p:nvSpPr>
        <p:spPr>
          <a:xfrm>
            <a:off x="370002" y="314954"/>
            <a:ext cx="8792852" cy="646331"/>
          </a:xfrm>
          <a:prstGeom prst="rect">
            <a:avLst/>
          </a:prstGeom>
          <a:noFill/>
        </p:spPr>
        <p:txBody>
          <a:bodyPr wrap="square">
            <a:spAutoFit/>
          </a:bodyPr>
          <a:lstStyle/>
          <a:p>
            <a:r>
              <a:rPr lang="en-US" sz="3600" b="1" dirty="0">
                <a:solidFill>
                  <a:srgbClr val="000000"/>
                </a:solidFill>
                <a:latin typeface="Inter"/>
              </a:rPr>
              <a:t>Time lines for cash flows/Annuity</a:t>
            </a:r>
          </a:p>
        </p:txBody>
      </p:sp>
      <p:sp>
        <p:nvSpPr>
          <p:cNvPr id="5" name="TextBox 4">
            <a:extLst>
              <a:ext uri="{FF2B5EF4-FFF2-40B4-BE49-F238E27FC236}">
                <a16:creationId xmlns:a16="http://schemas.microsoft.com/office/drawing/2014/main" id="{0994732B-7B10-1EA8-0BFD-54BDAB8EEE40}"/>
              </a:ext>
            </a:extLst>
          </p:cNvPr>
          <p:cNvSpPr txBox="1"/>
          <p:nvPr/>
        </p:nvSpPr>
        <p:spPr>
          <a:xfrm>
            <a:off x="370002" y="1376561"/>
            <a:ext cx="11545478" cy="2554545"/>
          </a:xfrm>
          <a:prstGeom prst="rect">
            <a:avLst/>
          </a:prstGeom>
          <a:noFill/>
        </p:spPr>
        <p:txBody>
          <a:bodyPr wrap="square">
            <a:spAutoFit/>
          </a:bodyPr>
          <a:lstStyle/>
          <a:p>
            <a:pPr algn="just"/>
            <a:r>
              <a:rPr lang="en-US" sz="3200" dirty="0"/>
              <a:t>The best way to visualize cash flows is on a time line, where you list out how much you get and when. ¨ </a:t>
            </a:r>
          </a:p>
          <a:p>
            <a:pPr algn="just"/>
            <a:endParaRPr lang="en-US" sz="3200" dirty="0"/>
          </a:p>
          <a:p>
            <a:pPr algn="just"/>
            <a:r>
              <a:rPr lang="en-US" sz="3200" dirty="0"/>
              <a:t>In a time line, today is specified as “time 0” and each year is shown as a period. </a:t>
            </a:r>
          </a:p>
        </p:txBody>
      </p:sp>
      <p:pic>
        <p:nvPicPr>
          <p:cNvPr id="7" name="Picture 6">
            <a:extLst>
              <a:ext uri="{FF2B5EF4-FFF2-40B4-BE49-F238E27FC236}">
                <a16:creationId xmlns:a16="http://schemas.microsoft.com/office/drawing/2014/main" id="{A39901C5-0CFB-273A-7E07-87656C7C4D64}"/>
              </a:ext>
            </a:extLst>
          </p:cNvPr>
          <p:cNvPicPr>
            <a:picLocks noChangeAspect="1"/>
          </p:cNvPicPr>
          <p:nvPr/>
        </p:nvPicPr>
        <p:blipFill>
          <a:blip r:embed="rId2"/>
          <a:stretch>
            <a:fillRect/>
          </a:stretch>
        </p:blipFill>
        <p:spPr>
          <a:xfrm>
            <a:off x="3196186" y="3793333"/>
            <a:ext cx="8326012" cy="24387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07458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CCB10-837B-3550-4CAB-C84ACA90B932}"/>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6085598D-C595-EC3F-4581-1DBFAEA981CB}"/>
              </a:ext>
            </a:extLst>
          </p:cNvPr>
          <p:cNvSpPr txBox="1"/>
          <p:nvPr/>
        </p:nvSpPr>
        <p:spPr>
          <a:xfrm>
            <a:off x="370002" y="314954"/>
            <a:ext cx="8792852" cy="646331"/>
          </a:xfrm>
          <a:prstGeom prst="rect">
            <a:avLst/>
          </a:prstGeom>
          <a:noFill/>
        </p:spPr>
        <p:txBody>
          <a:bodyPr wrap="square">
            <a:spAutoFit/>
          </a:bodyPr>
          <a:lstStyle/>
          <a:p>
            <a:r>
              <a:rPr lang="en-US" sz="3600" b="1" dirty="0">
                <a:solidFill>
                  <a:srgbClr val="000000"/>
                </a:solidFill>
                <a:latin typeface="Inter"/>
              </a:rPr>
              <a:t>Uneven Cashflow/Annuity/Installment</a:t>
            </a:r>
          </a:p>
        </p:txBody>
      </p:sp>
      <p:sp>
        <p:nvSpPr>
          <p:cNvPr id="20" name="Text Box 19">
            <a:extLst>
              <a:ext uri="{FF2B5EF4-FFF2-40B4-BE49-F238E27FC236}">
                <a16:creationId xmlns:a16="http://schemas.microsoft.com/office/drawing/2014/main" id="{95B3BE27-FBC1-29F0-2456-3B2178146930}"/>
              </a:ext>
            </a:extLst>
          </p:cNvPr>
          <p:cNvSpPr txBox="1">
            <a:spLocks noChangeArrowheads="1"/>
          </p:cNvSpPr>
          <p:nvPr/>
        </p:nvSpPr>
        <p:spPr bwMode="auto">
          <a:xfrm>
            <a:off x="1316954" y="1510514"/>
            <a:ext cx="5029201" cy="492125"/>
          </a:xfrm>
          <a:prstGeom prst="rect">
            <a:avLst/>
          </a:prstGeom>
          <a:noFill/>
          <a:ln w="9525">
            <a:noFill/>
            <a:miter lim="800000"/>
            <a:headEnd/>
            <a:tailEnd/>
          </a:ln>
        </p:spPr>
        <p:txBody>
          <a:bodyPr>
            <a:spAutoFit/>
          </a:bodyPr>
          <a:lstStyle/>
          <a:p>
            <a:pPr>
              <a:spcBef>
                <a:spcPct val="50000"/>
              </a:spcBef>
              <a:defRPr/>
            </a:pPr>
            <a:r>
              <a:rPr lang="en-US" sz="2600" dirty="0">
                <a:latin typeface="Arial" panose="020B0604020202020204" pitchFamily="34" charset="0"/>
                <a:cs typeface="Arial" panose="020B0604020202020204" pitchFamily="34" charset="0"/>
              </a:rPr>
              <a:t>Uneven cash flow stream</a:t>
            </a:r>
          </a:p>
        </p:txBody>
      </p:sp>
      <p:grpSp>
        <p:nvGrpSpPr>
          <p:cNvPr id="21" name="Group 20" descr="Image 1 and Image 2 that, together, show the PV of an uneven cash flow stream." title="PV of Uneven Cash Flow Stream">
            <a:extLst>
              <a:ext uri="{FF2B5EF4-FFF2-40B4-BE49-F238E27FC236}">
                <a16:creationId xmlns:a16="http://schemas.microsoft.com/office/drawing/2014/main" id="{83CC54A5-4C06-9043-67F2-DF784269B846}"/>
              </a:ext>
            </a:extLst>
          </p:cNvPr>
          <p:cNvGrpSpPr>
            <a:grpSpLocks/>
          </p:cNvGrpSpPr>
          <p:nvPr/>
        </p:nvGrpSpPr>
        <p:grpSpPr bwMode="auto">
          <a:xfrm>
            <a:off x="1541496" y="2798762"/>
            <a:ext cx="6958012" cy="1260475"/>
            <a:chOff x="973" y="1374"/>
            <a:chExt cx="4383" cy="794"/>
          </a:xfrm>
        </p:grpSpPr>
        <p:sp>
          <p:nvSpPr>
            <p:cNvPr id="22" name="Line 4">
              <a:extLst>
                <a:ext uri="{FF2B5EF4-FFF2-40B4-BE49-F238E27FC236}">
                  <a16:creationId xmlns:a16="http://schemas.microsoft.com/office/drawing/2014/main" id="{D978625B-AD14-F356-48F8-45E07EB2E55A}"/>
                </a:ext>
              </a:extLst>
            </p:cNvPr>
            <p:cNvSpPr>
              <a:spLocks noChangeShapeType="1"/>
            </p:cNvSpPr>
            <p:nvPr/>
          </p:nvSpPr>
          <p:spPr bwMode="auto">
            <a:xfrm>
              <a:off x="1075"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23" name="Line 5">
              <a:extLst>
                <a:ext uri="{FF2B5EF4-FFF2-40B4-BE49-F238E27FC236}">
                  <a16:creationId xmlns:a16="http://schemas.microsoft.com/office/drawing/2014/main" id="{7E88E5CE-DFC3-6669-14AF-AB2FE6062EE7}"/>
                </a:ext>
              </a:extLst>
            </p:cNvPr>
            <p:cNvSpPr>
              <a:spLocks noChangeShapeType="1"/>
            </p:cNvSpPr>
            <p:nvPr/>
          </p:nvSpPr>
          <p:spPr bwMode="auto">
            <a:xfrm>
              <a:off x="1076" y="1745"/>
              <a:ext cx="4079" cy="0"/>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93A616D9-3CD0-8A64-8314-3CFF4DA89166}"/>
                </a:ext>
              </a:extLst>
            </p:cNvPr>
            <p:cNvSpPr>
              <a:spLocks noChangeArrowheads="1"/>
            </p:cNvSpPr>
            <p:nvPr/>
          </p:nvSpPr>
          <p:spPr bwMode="auto">
            <a:xfrm>
              <a:off x="973" y="138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0</a:t>
              </a:r>
            </a:p>
          </p:txBody>
        </p:sp>
        <p:sp>
          <p:nvSpPr>
            <p:cNvPr id="25" name="Rectangle 24">
              <a:extLst>
                <a:ext uri="{FF2B5EF4-FFF2-40B4-BE49-F238E27FC236}">
                  <a16:creationId xmlns:a16="http://schemas.microsoft.com/office/drawing/2014/main" id="{9A102B2D-E904-387C-2510-834FE8FABE59}"/>
                </a:ext>
              </a:extLst>
            </p:cNvPr>
            <p:cNvSpPr>
              <a:spLocks noChangeArrowheads="1"/>
            </p:cNvSpPr>
            <p:nvPr/>
          </p:nvSpPr>
          <p:spPr bwMode="auto">
            <a:xfrm>
              <a:off x="1860" y="1896"/>
              <a:ext cx="414"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100</a:t>
              </a:r>
            </a:p>
          </p:txBody>
        </p:sp>
        <p:sp>
          <p:nvSpPr>
            <p:cNvPr id="26" name="Line 8">
              <a:extLst>
                <a:ext uri="{FF2B5EF4-FFF2-40B4-BE49-F238E27FC236}">
                  <a16:creationId xmlns:a16="http://schemas.microsoft.com/office/drawing/2014/main" id="{01459484-793F-7ED8-0959-ECA948A380B2}"/>
                </a:ext>
              </a:extLst>
            </p:cNvPr>
            <p:cNvSpPr>
              <a:spLocks noChangeShapeType="1"/>
            </p:cNvSpPr>
            <p:nvPr/>
          </p:nvSpPr>
          <p:spPr bwMode="auto">
            <a:xfrm>
              <a:off x="2051"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E27BF738-FE29-BD6E-71A9-D186C272C02E}"/>
                </a:ext>
              </a:extLst>
            </p:cNvPr>
            <p:cNvSpPr>
              <a:spLocks noChangeArrowheads="1"/>
            </p:cNvSpPr>
            <p:nvPr/>
          </p:nvSpPr>
          <p:spPr bwMode="auto">
            <a:xfrm>
              <a:off x="1957" y="138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a:t>
              </a:r>
            </a:p>
          </p:txBody>
        </p:sp>
        <p:sp>
          <p:nvSpPr>
            <p:cNvPr id="28" name="Line 10">
              <a:extLst>
                <a:ext uri="{FF2B5EF4-FFF2-40B4-BE49-F238E27FC236}">
                  <a16:creationId xmlns:a16="http://schemas.microsoft.com/office/drawing/2014/main" id="{87EDF0FF-CA18-173A-8F42-7DC555744CA4}"/>
                </a:ext>
              </a:extLst>
            </p:cNvPr>
            <p:cNvSpPr>
              <a:spLocks noChangeShapeType="1"/>
            </p:cNvSpPr>
            <p:nvPr/>
          </p:nvSpPr>
          <p:spPr bwMode="auto">
            <a:xfrm>
              <a:off x="3028"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15735E5D-6AE8-FD74-DA36-5D6B3B440931}"/>
                </a:ext>
              </a:extLst>
            </p:cNvPr>
            <p:cNvSpPr>
              <a:spLocks noChangeArrowheads="1"/>
            </p:cNvSpPr>
            <p:nvPr/>
          </p:nvSpPr>
          <p:spPr bwMode="auto">
            <a:xfrm>
              <a:off x="2842" y="1896"/>
              <a:ext cx="414"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300</a:t>
              </a:r>
            </a:p>
          </p:txBody>
        </p:sp>
        <p:sp>
          <p:nvSpPr>
            <p:cNvPr id="30" name="Rectangle 29">
              <a:extLst>
                <a:ext uri="{FF2B5EF4-FFF2-40B4-BE49-F238E27FC236}">
                  <a16:creationId xmlns:a16="http://schemas.microsoft.com/office/drawing/2014/main" id="{3E372C02-3F3D-A556-BE15-7E8E44619BB6}"/>
                </a:ext>
              </a:extLst>
            </p:cNvPr>
            <p:cNvSpPr>
              <a:spLocks noChangeArrowheads="1"/>
            </p:cNvSpPr>
            <p:nvPr/>
          </p:nvSpPr>
          <p:spPr bwMode="auto">
            <a:xfrm>
              <a:off x="2929" y="138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2</a:t>
              </a:r>
            </a:p>
          </p:txBody>
        </p:sp>
        <p:sp>
          <p:nvSpPr>
            <p:cNvPr id="31" name="Rectangle 30">
              <a:extLst>
                <a:ext uri="{FF2B5EF4-FFF2-40B4-BE49-F238E27FC236}">
                  <a16:creationId xmlns:a16="http://schemas.microsoft.com/office/drawing/2014/main" id="{C2A514A7-55C5-B0E8-0754-5841D0F94EFF}"/>
                </a:ext>
              </a:extLst>
            </p:cNvPr>
            <p:cNvSpPr>
              <a:spLocks noChangeArrowheads="1"/>
            </p:cNvSpPr>
            <p:nvPr/>
          </p:nvSpPr>
          <p:spPr bwMode="auto">
            <a:xfrm>
              <a:off x="3917" y="1896"/>
              <a:ext cx="414"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300</a:t>
              </a:r>
            </a:p>
          </p:txBody>
        </p:sp>
        <p:sp>
          <p:nvSpPr>
            <p:cNvPr id="32" name="Line 14">
              <a:extLst>
                <a:ext uri="{FF2B5EF4-FFF2-40B4-BE49-F238E27FC236}">
                  <a16:creationId xmlns:a16="http://schemas.microsoft.com/office/drawing/2014/main" id="{472DC36B-E5A4-1E51-DDED-58511E34B8BE}"/>
                </a:ext>
              </a:extLst>
            </p:cNvPr>
            <p:cNvSpPr>
              <a:spLocks noChangeShapeType="1"/>
            </p:cNvSpPr>
            <p:nvPr/>
          </p:nvSpPr>
          <p:spPr bwMode="auto">
            <a:xfrm>
              <a:off x="4111"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131ABA60-0822-76E3-EFF2-F610A2939F73}"/>
                </a:ext>
              </a:extLst>
            </p:cNvPr>
            <p:cNvSpPr>
              <a:spLocks noChangeArrowheads="1"/>
            </p:cNvSpPr>
            <p:nvPr/>
          </p:nvSpPr>
          <p:spPr bwMode="auto">
            <a:xfrm>
              <a:off x="4009" y="138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3</a:t>
              </a:r>
            </a:p>
          </p:txBody>
        </p:sp>
        <p:sp>
          <p:nvSpPr>
            <p:cNvPr id="34" name="Rectangle 33">
              <a:extLst>
                <a:ext uri="{FF2B5EF4-FFF2-40B4-BE49-F238E27FC236}">
                  <a16:creationId xmlns:a16="http://schemas.microsoft.com/office/drawing/2014/main" id="{1D142091-55EF-0A63-9E6E-5BBF85B64F3F}"/>
                </a:ext>
              </a:extLst>
            </p:cNvPr>
            <p:cNvSpPr>
              <a:spLocks noChangeArrowheads="1"/>
            </p:cNvSpPr>
            <p:nvPr/>
          </p:nvSpPr>
          <p:spPr bwMode="auto">
            <a:xfrm>
              <a:off x="1300" y="1535"/>
              <a:ext cx="350" cy="252"/>
            </a:xfrm>
            <a:prstGeom prst="rect">
              <a:avLst/>
            </a:prstGeom>
            <a:noFill/>
            <a:ln w="9525">
              <a:noFill/>
              <a:miter lim="800000"/>
              <a:headEnd/>
              <a:tailEnd/>
            </a:ln>
          </p:spPr>
          <p:txBody>
            <a:bodyPr wrap="none" lIns="92075" tIns="46038" rIns="92075" bIns="46038">
              <a:spAutoFit/>
            </a:bodyPr>
            <a:lstStyle/>
            <a:p>
              <a:pPr>
                <a:defRPr/>
              </a:pPr>
              <a:r>
                <a:rPr lang="en-US" sz="2000" dirty="0">
                  <a:latin typeface="Arial" panose="020B0604020202020204" pitchFamily="34" charset="0"/>
                  <a:cs typeface="Arial" panose="020B0604020202020204" pitchFamily="34" charset="0"/>
                </a:rPr>
                <a:t>4%</a:t>
              </a:r>
            </a:p>
          </p:txBody>
        </p:sp>
        <p:sp>
          <p:nvSpPr>
            <p:cNvPr id="35" name="Line 17">
              <a:extLst>
                <a:ext uri="{FF2B5EF4-FFF2-40B4-BE49-F238E27FC236}">
                  <a16:creationId xmlns:a16="http://schemas.microsoft.com/office/drawing/2014/main" id="{8DD502A6-91F7-DA3E-E2B1-DEA0D08274A5}"/>
                </a:ext>
              </a:extLst>
            </p:cNvPr>
            <p:cNvSpPr>
              <a:spLocks noChangeShapeType="1"/>
            </p:cNvSpPr>
            <p:nvPr/>
          </p:nvSpPr>
          <p:spPr bwMode="auto">
            <a:xfrm>
              <a:off x="5155"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06FE3C6C-A7D4-5F73-8396-45C46F186A16}"/>
                </a:ext>
              </a:extLst>
            </p:cNvPr>
            <p:cNvSpPr>
              <a:spLocks noChangeArrowheads="1"/>
            </p:cNvSpPr>
            <p:nvPr/>
          </p:nvSpPr>
          <p:spPr bwMode="auto">
            <a:xfrm>
              <a:off x="4981" y="1896"/>
              <a:ext cx="375"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-50</a:t>
              </a:r>
            </a:p>
          </p:txBody>
        </p:sp>
        <p:sp>
          <p:nvSpPr>
            <p:cNvPr id="37" name="Rectangle 36">
              <a:extLst>
                <a:ext uri="{FF2B5EF4-FFF2-40B4-BE49-F238E27FC236}">
                  <a16:creationId xmlns:a16="http://schemas.microsoft.com/office/drawing/2014/main" id="{DDE398C7-CA44-78E4-6FBB-14CBEACE21B5}"/>
                </a:ext>
              </a:extLst>
            </p:cNvPr>
            <p:cNvSpPr>
              <a:spLocks noChangeArrowheads="1"/>
            </p:cNvSpPr>
            <p:nvPr/>
          </p:nvSpPr>
          <p:spPr bwMode="auto">
            <a:xfrm>
              <a:off x="5047" y="1374"/>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4</a:t>
              </a:r>
            </a:p>
          </p:txBody>
        </p:sp>
      </p:grpSp>
    </p:spTree>
    <p:extLst>
      <p:ext uri="{BB962C8B-B14F-4D97-AF65-F5344CB8AC3E}">
        <p14:creationId xmlns:p14="http://schemas.microsoft.com/office/powerpoint/2010/main" val="217989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dirty="0">
                <a:solidFill>
                  <a:srgbClr val="000000"/>
                </a:solidFill>
                <a:latin typeface="Inter"/>
                <a:ea typeface="+mn-ea"/>
                <a:cs typeface="+mn-cs"/>
              </a:rPr>
              <a:t>What is the PV of this uneven cash flow stream?</a:t>
            </a:r>
          </a:p>
        </p:txBody>
      </p:sp>
      <p:grpSp>
        <p:nvGrpSpPr>
          <p:cNvPr id="4" name="Group 3" descr="Image 1 and Image 2 that, together, show the PV of an uneven cash flow stream." title="PV of Uneven Cash Flow Stream"/>
          <p:cNvGrpSpPr>
            <a:grpSpLocks/>
          </p:cNvGrpSpPr>
          <p:nvPr/>
        </p:nvGrpSpPr>
        <p:grpSpPr bwMode="auto">
          <a:xfrm>
            <a:off x="3068638" y="1666876"/>
            <a:ext cx="6958012" cy="1260475"/>
            <a:chOff x="973" y="1374"/>
            <a:chExt cx="4383" cy="794"/>
          </a:xfrm>
        </p:grpSpPr>
        <p:sp>
          <p:nvSpPr>
            <p:cNvPr id="5" name="Line 4"/>
            <p:cNvSpPr>
              <a:spLocks noChangeShapeType="1"/>
            </p:cNvSpPr>
            <p:nvPr/>
          </p:nvSpPr>
          <p:spPr bwMode="auto">
            <a:xfrm>
              <a:off x="1075"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6" name="Line 5"/>
            <p:cNvSpPr>
              <a:spLocks noChangeShapeType="1"/>
            </p:cNvSpPr>
            <p:nvPr/>
          </p:nvSpPr>
          <p:spPr bwMode="auto">
            <a:xfrm>
              <a:off x="1076" y="1745"/>
              <a:ext cx="4079" cy="0"/>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7" name="Rectangle 6"/>
            <p:cNvSpPr>
              <a:spLocks noChangeArrowheads="1"/>
            </p:cNvSpPr>
            <p:nvPr/>
          </p:nvSpPr>
          <p:spPr bwMode="auto">
            <a:xfrm>
              <a:off x="973" y="138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0</a:t>
              </a:r>
            </a:p>
          </p:txBody>
        </p:sp>
        <p:sp>
          <p:nvSpPr>
            <p:cNvPr id="8" name="Rectangle 7"/>
            <p:cNvSpPr>
              <a:spLocks noChangeArrowheads="1"/>
            </p:cNvSpPr>
            <p:nvPr/>
          </p:nvSpPr>
          <p:spPr bwMode="auto">
            <a:xfrm>
              <a:off x="1860" y="1896"/>
              <a:ext cx="414"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100</a:t>
              </a:r>
            </a:p>
          </p:txBody>
        </p:sp>
        <p:sp>
          <p:nvSpPr>
            <p:cNvPr id="9" name="Line 8"/>
            <p:cNvSpPr>
              <a:spLocks noChangeShapeType="1"/>
            </p:cNvSpPr>
            <p:nvPr/>
          </p:nvSpPr>
          <p:spPr bwMode="auto">
            <a:xfrm>
              <a:off x="2051"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10" name="Rectangle 9"/>
            <p:cNvSpPr>
              <a:spLocks noChangeArrowheads="1"/>
            </p:cNvSpPr>
            <p:nvPr/>
          </p:nvSpPr>
          <p:spPr bwMode="auto">
            <a:xfrm>
              <a:off x="1957" y="138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a:t>
              </a:r>
            </a:p>
          </p:txBody>
        </p:sp>
        <p:sp>
          <p:nvSpPr>
            <p:cNvPr id="11" name="Line 10"/>
            <p:cNvSpPr>
              <a:spLocks noChangeShapeType="1"/>
            </p:cNvSpPr>
            <p:nvPr/>
          </p:nvSpPr>
          <p:spPr bwMode="auto">
            <a:xfrm>
              <a:off x="3028"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12" name="Rectangle 11"/>
            <p:cNvSpPr>
              <a:spLocks noChangeArrowheads="1"/>
            </p:cNvSpPr>
            <p:nvPr/>
          </p:nvSpPr>
          <p:spPr bwMode="auto">
            <a:xfrm>
              <a:off x="2842" y="1896"/>
              <a:ext cx="414"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300</a:t>
              </a:r>
            </a:p>
          </p:txBody>
        </p:sp>
        <p:sp>
          <p:nvSpPr>
            <p:cNvPr id="13" name="Rectangle 12"/>
            <p:cNvSpPr>
              <a:spLocks noChangeArrowheads="1"/>
            </p:cNvSpPr>
            <p:nvPr/>
          </p:nvSpPr>
          <p:spPr bwMode="auto">
            <a:xfrm>
              <a:off x="2929" y="138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2</a:t>
              </a:r>
            </a:p>
          </p:txBody>
        </p:sp>
        <p:sp>
          <p:nvSpPr>
            <p:cNvPr id="14" name="Rectangle 13"/>
            <p:cNvSpPr>
              <a:spLocks noChangeArrowheads="1"/>
            </p:cNvSpPr>
            <p:nvPr/>
          </p:nvSpPr>
          <p:spPr bwMode="auto">
            <a:xfrm>
              <a:off x="3917" y="1896"/>
              <a:ext cx="414"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300</a:t>
              </a:r>
            </a:p>
          </p:txBody>
        </p:sp>
        <p:sp>
          <p:nvSpPr>
            <p:cNvPr id="15" name="Line 14"/>
            <p:cNvSpPr>
              <a:spLocks noChangeShapeType="1"/>
            </p:cNvSpPr>
            <p:nvPr/>
          </p:nvSpPr>
          <p:spPr bwMode="auto">
            <a:xfrm>
              <a:off x="4111"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16" name="Rectangle 15"/>
            <p:cNvSpPr>
              <a:spLocks noChangeArrowheads="1"/>
            </p:cNvSpPr>
            <p:nvPr/>
          </p:nvSpPr>
          <p:spPr bwMode="auto">
            <a:xfrm>
              <a:off x="4009" y="138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3</a:t>
              </a:r>
            </a:p>
          </p:txBody>
        </p:sp>
        <p:sp>
          <p:nvSpPr>
            <p:cNvPr id="17" name="Rectangle 16"/>
            <p:cNvSpPr>
              <a:spLocks noChangeArrowheads="1"/>
            </p:cNvSpPr>
            <p:nvPr/>
          </p:nvSpPr>
          <p:spPr bwMode="auto">
            <a:xfrm>
              <a:off x="1300" y="1535"/>
              <a:ext cx="350" cy="252"/>
            </a:xfrm>
            <a:prstGeom prst="rect">
              <a:avLst/>
            </a:prstGeom>
            <a:noFill/>
            <a:ln w="9525">
              <a:noFill/>
              <a:miter lim="800000"/>
              <a:headEnd/>
              <a:tailEnd/>
            </a:ln>
          </p:spPr>
          <p:txBody>
            <a:bodyPr wrap="none" lIns="92075" tIns="46038" rIns="92075" bIns="46038">
              <a:spAutoFit/>
            </a:bodyPr>
            <a:lstStyle/>
            <a:p>
              <a:pPr>
                <a:defRPr/>
              </a:pPr>
              <a:r>
                <a:rPr lang="en-US" sz="2000" dirty="0">
                  <a:latin typeface="Arial" panose="020B0604020202020204" pitchFamily="34" charset="0"/>
                  <a:cs typeface="Arial" panose="020B0604020202020204" pitchFamily="34" charset="0"/>
                </a:rPr>
                <a:t>4%</a:t>
              </a:r>
            </a:p>
          </p:txBody>
        </p:sp>
        <p:sp>
          <p:nvSpPr>
            <p:cNvPr id="18" name="Line 17"/>
            <p:cNvSpPr>
              <a:spLocks noChangeShapeType="1"/>
            </p:cNvSpPr>
            <p:nvPr/>
          </p:nvSpPr>
          <p:spPr bwMode="auto">
            <a:xfrm>
              <a:off x="5155" y="165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200" dirty="0">
                <a:latin typeface="Arial" panose="020B0604020202020204" pitchFamily="34" charset="0"/>
                <a:cs typeface="Arial" panose="020B0604020202020204" pitchFamily="34" charset="0"/>
              </a:endParaRPr>
            </a:p>
          </p:txBody>
        </p:sp>
        <p:sp>
          <p:nvSpPr>
            <p:cNvPr id="19" name="Rectangle 18"/>
            <p:cNvSpPr>
              <a:spLocks noChangeArrowheads="1"/>
            </p:cNvSpPr>
            <p:nvPr/>
          </p:nvSpPr>
          <p:spPr bwMode="auto">
            <a:xfrm>
              <a:off x="4981" y="1896"/>
              <a:ext cx="375"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-50</a:t>
              </a:r>
            </a:p>
          </p:txBody>
        </p:sp>
        <p:sp>
          <p:nvSpPr>
            <p:cNvPr id="20" name="Rectangle 19"/>
            <p:cNvSpPr>
              <a:spLocks noChangeArrowheads="1"/>
            </p:cNvSpPr>
            <p:nvPr/>
          </p:nvSpPr>
          <p:spPr bwMode="auto">
            <a:xfrm>
              <a:off x="5047" y="1374"/>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4</a:t>
              </a:r>
            </a:p>
          </p:txBody>
        </p:sp>
      </p:grpSp>
      <p:grpSp>
        <p:nvGrpSpPr>
          <p:cNvPr id="21" name="Group 20" descr="Image 1 and Image 2 that, together, show the PV of an uneven cash flow stream." title="PV of Uneven Cash Flow Stream"/>
          <p:cNvGrpSpPr>
            <a:grpSpLocks/>
          </p:cNvGrpSpPr>
          <p:nvPr/>
        </p:nvGrpSpPr>
        <p:grpSpPr bwMode="auto">
          <a:xfrm>
            <a:off x="2260601" y="2838451"/>
            <a:ext cx="7446963" cy="2562225"/>
            <a:chOff x="464" y="2208"/>
            <a:chExt cx="4691" cy="1614"/>
          </a:xfrm>
        </p:grpSpPr>
        <p:sp>
          <p:nvSpPr>
            <p:cNvPr id="22" name="Line 21"/>
            <p:cNvSpPr>
              <a:spLocks noChangeShapeType="1"/>
            </p:cNvSpPr>
            <p:nvPr/>
          </p:nvSpPr>
          <p:spPr bwMode="auto">
            <a:xfrm>
              <a:off x="2035" y="2235"/>
              <a:ext cx="0" cy="136"/>
            </a:xfrm>
            <a:prstGeom prst="line">
              <a:avLst/>
            </a:prstGeom>
            <a:noFill/>
            <a:ln w="25400">
              <a:solidFill>
                <a:schemeClr val="tx1"/>
              </a:solidFill>
              <a:round/>
              <a:headEnd type="none" w="sm" len="sm"/>
              <a:tailEnd type="none" w="sm" len="sm"/>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23" name="Line 22"/>
            <p:cNvSpPr>
              <a:spLocks noChangeShapeType="1"/>
            </p:cNvSpPr>
            <p:nvPr/>
          </p:nvSpPr>
          <p:spPr bwMode="auto">
            <a:xfrm flipH="1">
              <a:off x="1397" y="2368"/>
              <a:ext cx="638" cy="0"/>
            </a:xfrm>
            <a:prstGeom prst="line">
              <a:avLst/>
            </a:prstGeom>
            <a:noFill/>
            <a:ln w="25400">
              <a:solidFill>
                <a:schemeClr val="tx1"/>
              </a:solidFill>
              <a:round/>
              <a:headEnd type="none" w="sm" len="sm"/>
              <a:tailEnd type="stealth" w="med" len="lg"/>
            </a:ln>
          </p:spPr>
          <p:txBody>
            <a:bodyPr wrap="none" anchor="ctr"/>
            <a:lstStyle/>
            <a:p>
              <a:pPr>
                <a:defRPr/>
              </a:pPr>
              <a:endParaRPr lang="en-US" sz="2600" dirty="0">
                <a:latin typeface="Arial" panose="020B0604020202020204" pitchFamily="34" charset="0"/>
                <a:cs typeface="Arial" panose="020B0604020202020204" pitchFamily="34" charset="0"/>
              </a:endParaRPr>
            </a:p>
          </p:txBody>
        </p:sp>
        <p:grpSp>
          <p:nvGrpSpPr>
            <p:cNvPr id="24" name="Group 23"/>
            <p:cNvGrpSpPr>
              <a:grpSpLocks/>
            </p:cNvGrpSpPr>
            <p:nvPr/>
          </p:nvGrpSpPr>
          <p:grpSpPr bwMode="auto">
            <a:xfrm>
              <a:off x="464" y="2208"/>
              <a:ext cx="4691" cy="1614"/>
              <a:chOff x="464" y="2208"/>
              <a:chExt cx="4691" cy="1614"/>
            </a:xfrm>
          </p:grpSpPr>
          <p:sp>
            <p:nvSpPr>
              <p:cNvPr id="25" name="Line 24"/>
              <p:cNvSpPr>
                <a:spLocks noChangeShapeType="1"/>
              </p:cNvSpPr>
              <p:nvPr/>
            </p:nvSpPr>
            <p:spPr bwMode="auto">
              <a:xfrm>
                <a:off x="3043" y="2235"/>
                <a:ext cx="0" cy="463"/>
              </a:xfrm>
              <a:prstGeom prst="line">
                <a:avLst/>
              </a:prstGeom>
              <a:noFill/>
              <a:ln w="25400">
                <a:solidFill>
                  <a:schemeClr val="tx1"/>
                </a:solidFill>
                <a:round/>
                <a:headEnd type="none" w="sm" len="sm"/>
                <a:tailEnd type="none" w="sm" len="sm"/>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26" name="Line 25"/>
              <p:cNvSpPr>
                <a:spLocks noChangeShapeType="1"/>
              </p:cNvSpPr>
              <p:nvPr/>
            </p:nvSpPr>
            <p:spPr bwMode="auto">
              <a:xfrm>
                <a:off x="4099" y="2235"/>
                <a:ext cx="0" cy="790"/>
              </a:xfrm>
              <a:prstGeom prst="line">
                <a:avLst/>
              </a:prstGeom>
              <a:noFill/>
              <a:ln w="25400">
                <a:solidFill>
                  <a:schemeClr val="tx1"/>
                </a:solidFill>
                <a:round/>
                <a:headEnd type="none" w="sm" len="sm"/>
                <a:tailEnd type="none" w="sm" len="sm"/>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27" name="Line 26"/>
              <p:cNvSpPr>
                <a:spLocks noChangeShapeType="1"/>
              </p:cNvSpPr>
              <p:nvPr/>
            </p:nvSpPr>
            <p:spPr bwMode="auto">
              <a:xfrm>
                <a:off x="5155" y="2235"/>
                <a:ext cx="0" cy="1128"/>
              </a:xfrm>
              <a:prstGeom prst="line">
                <a:avLst/>
              </a:prstGeom>
              <a:noFill/>
              <a:ln w="25400">
                <a:solidFill>
                  <a:schemeClr val="tx1"/>
                </a:solidFill>
                <a:round/>
                <a:headEnd type="none" w="sm" len="sm"/>
                <a:tailEnd type="none" w="sm" len="sm"/>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28" name="Line 27"/>
              <p:cNvSpPr>
                <a:spLocks noChangeShapeType="1"/>
              </p:cNvSpPr>
              <p:nvPr/>
            </p:nvSpPr>
            <p:spPr bwMode="auto">
              <a:xfrm flipH="1">
                <a:off x="1397" y="2693"/>
                <a:ext cx="1646" cy="0"/>
              </a:xfrm>
              <a:prstGeom prst="line">
                <a:avLst/>
              </a:prstGeom>
              <a:noFill/>
              <a:ln w="25400">
                <a:solidFill>
                  <a:schemeClr val="tx1"/>
                </a:solidFill>
                <a:round/>
                <a:headEnd type="none" w="sm" len="sm"/>
                <a:tailEnd type="stealth" w="med" len="lg"/>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29" name="Line 28"/>
              <p:cNvSpPr>
                <a:spLocks noChangeShapeType="1"/>
              </p:cNvSpPr>
              <p:nvPr/>
            </p:nvSpPr>
            <p:spPr bwMode="auto">
              <a:xfrm flipH="1">
                <a:off x="1397" y="3029"/>
                <a:ext cx="2702" cy="0"/>
              </a:xfrm>
              <a:prstGeom prst="line">
                <a:avLst/>
              </a:prstGeom>
              <a:noFill/>
              <a:ln w="25400">
                <a:solidFill>
                  <a:schemeClr val="tx1"/>
                </a:solidFill>
                <a:round/>
                <a:headEnd type="none" w="sm" len="sm"/>
                <a:tailEnd type="stealth" w="med" len="lg"/>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30" name="Line 29"/>
              <p:cNvSpPr>
                <a:spLocks noChangeShapeType="1"/>
              </p:cNvSpPr>
              <p:nvPr/>
            </p:nvSpPr>
            <p:spPr bwMode="auto">
              <a:xfrm flipH="1">
                <a:off x="1397" y="3365"/>
                <a:ext cx="3758" cy="0"/>
              </a:xfrm>
              <a:prstGeom prst="line">
                <a:avLst/>
              </a:prstGeom>
              <a:noFill/>
              <a:ln w="25400">
                <a:solidFill>
                  <a:schemeClr val="tx1"/>
                </a:solidFill>
                <a:round/>
                <a:headEnd type="none" w="sm" len="sm"/>
                <a:tailEnd type="stealth" w="med" len="lg"/>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31" name="Rectangle 30"/>
              <p:cNvSpPr>
                <a:spLocks noChangeArrowheads="1"/>
              </p:cNvSpPr>
              <p:nvPr/>
            </p:nvSpPr>
            <p:spPr bwMode="auto">
              <a:xfrm>
                <a:off x="489" y="2208"/>
                <a:ext cx="761" cy="311"/>
              </a:xfrm>
              <a:prstGeom prst="rect">
                <a:avLst/>
              </a:prstGeom>
              <a:noFill/>
              <a:ln w="9525">
                <a:noFill/>
                <a:miter lim="800000"/>
                <a:headEnd/>
                <a:tailEnd/>
              </a:ln>
            </p:spPr>
            <p:txBody>
              <a:bodyPr wrap="none" lIns="92075" tIns="46038" rIns="92075" bIns="46038">
                <a:spAutoFit/>
              </a:bodyPr>
              <a:lstStyle/>
              <a:p>
                <a:pPr>
                  <a:defRPr/>
                </a:pPr>
                <a:r>
                  <a:rPr lang="en-US" sz="2600" dirty="0">
                    <a:latin typeface="Arial" panose="020B0604020202020204" pitchFamily="34" charset="0"/>
                    <a:cs typeface="Arial" panose="020B0604020202020204" pitchFamily="34" charset="0"/>
                  </a:rPr>
                  <a:t>  96.15</a:t>
                </a:r>
              </a:p>
            </p:txBody>
          </p:sp>
          <p:sp>
            <p:nvSpPr>
              <p:cNvPr id="32" name="Rectangle 31"/>
              <p:cNvSpPr>
                <a:spLocks noChangeArrowheads="1"/>
              </p:cNvSpPr>
              <p:nvPr/>
            </p:nvSpPr>
            <p:spPr bwMode="auto">
              <a:xfrm>
                <a:off x="489" y="2544"/>
                <a:ext cx="761" cy="311"/>
              </a:xfrm>
              <a:prstGeom prst="rect">
                <a:avLst/>
              </a:prstGeom>
              <a:noFill/>
              <a:ln w="9525">
                <a:noFill/>
                <a:miter lim="800000"/>
                <a:headEnd/>
                <a:tailEnd/>
              </a:ln>
            </p:spPr>
            <p:txBody>
              <a:bodyPr wrap="none" lIns="92075" tIns="46038" rIns="92075" bIns="46038">
                <a:spAutoFit/>
              </a:bodyPr>
              <a:lstStyle/>
              <a:p>
                <a:pPr>
                  <a:defRPr/>
                </a:pPr>
                <a:r>
                  <a:rPr lang="en-US" sz="2600" dirty="0">
                    <a:latin typeface="Arial" panose="020B0604020202020204" pitchFamily="34" charset="0"/>
                    <a:cs typeface="Arial" panose="020B0604020202020204" pitchFamily="34" charset="0"/>
                  </a:rPr>
                  <a:t>277.37</a:t>
                </a:r>
              </a:p>
            </p:txBody>
          </p:sp>
          <p:sp>
            <p:nvSpPr>
              <p:cNvPr id="33" name="Rectangle 32"/>
              <p:cNvSpPr>
                <a:spLocks noChangeArrowheads="1"/>
              </p:cNvSpPr>
              <p:nvPr/>
            </p:nvSpPr>
            <p:spPr bwMode="auto">
              <a:xfrm>
                <a:off x="489" y="2880"/>
                <a:ext cx="761" cy="311"/>
              </a:xfrm>
              <a:prstGeom prst="rect">
                <a:avLst/>
              </a:prstGeom>
              <a:noFill/>
              <a:ln w="9525">
                <a:noFill/>
                <a:miter lim="800000"/>
                <a:headEnd/>
                <a:tailEnd/>
              </a:ln>
            </p:spPr>
            <p:txBody>
              <a:bodyPr wrap="none" lIns="92075" tIns="46038" rIns="92075" bIns="46038">
                <a:spAutoFit/>
              </a:bodyPr>
              <a:lstStyle/>
              <a:p>
                <a:pPr>
                  <a:defRPr/>
                </a:pPr>
                <a:r>
                  <a:rPr lang="en-US" sz="2600" dirty="0">
                    <a:latin typeface="Arial" panose="020B0604020202020204" pitchFamily="34" charset="0"/>
                    <a:cs typeface="Arial" panose="020B0604020202020204" pitchFamily="34" charset="0"/>
                  </a:rPr>
                  <a:t>266.70</a:t>
                </a:r>
              </a:p>
            </p:txBody>
          </p:sp>
          <p:sp>
            <p:nvSpPr>
              <p:cNvPr id="34" name="Rectangle 33"/>
              <p:cNvSpPr>
                <a:spLocks noChangeArrowheads="1"/>
              </p:cNvSpPr>
              <p:nvPr/>
            </p:nvSpPr>
            <p:spPr bwMode="auto">
              <a:xfrm>
                <a:off x="464" y="3216"/>
                <a:ext cx="772" cy="311"/>
              </a:xfrm>
              <a:prstGeom prst="rect">
                <a:avLst/>
              </a:prstGeom>
              <a:noFill/>
              <a:ln w="9525">
                <a:noFill/>
                <a:miter lim="800000"/>
                <a:headEnd/>
                <a:tailEnd/>
              </a:ln>
            </p:spPr>
            <p:txBody>
              <a:bodyPr wrap="none" lIns="92075" tIns="46038" rIns="92075" bIns="46038">
                <a:spAutoFit/>
              </a:bodyPr>
              <a:lstStyle/>
              <a:p>
                <a:pPr>
                  <a:defRPr/>
                </a:pPr>
                <a:r>
                  <a:rPr lang="en-US" sz="2600" dirty="0">
                    <a:latin typeface="Arial" panose="020B0604020202020204" pitchFamily="34" charset="0"/>
                    <a:cs typeface="Arial" panose="020B0604020202020204" pitchFamily="34" charset="0"/>
                  </a:rPr>
                  <a:t> </a:t>
                </a:r>
                <a:r>
                  <a:rPr lang="en-US" sz="2600" u="sng" dirty="0">
                    <a:latin typeface="Arial" panose="020B0604020202020204" pitchFamily="34" charset="0"/>
                    <a:cs typeface="Arial" panose="020B0604020202020204" pitchFamily="34" charset="0"/>
                  </a:rPr>
                  <a:t>-42.74</a:t>
                </a:r>
              </a:p>
            </p:txBody>
          </p:sp>
          <p:sp>
            <p:nvSpPr>
              <p:cNvPr id="35" name="Rectangle 34"/>
              <p:cNvSpPr>
                <a:spLocks noChangeArrowheads="1"/>
              </p:cNvSpPr>
              <p:nvPr/>
            </p:nvSpPr>
            <p:spPr bwMode="auto">
              <a:xfrm>
                <a:off x="489" y="3511"/>
                <a:ext cx="1340" cy="311"/>
              </a:xfrm>
              <a:prstGeom prst="rect">
                <a:avLst/>
              </a:prstGeom>
              <a:noFill/>
              <a:ln w="9525">
                <a:noFill/>
                <a:miter lim="800000"/>
                <a:headEnd/>
                <a:tailEnd/>
              </a:ln>
            </p:spPr>
            <p:txBody>
              <a:bodyPr wrap="none" lIns="92075" tIns="46038" rIns="92075" bIns="46038">
                <a:spAutoFit/>
              </a:bodyPr>
              <a:lstStyle/>
              <a:p>
                <a:pPr>
                  <a:defRPr/>
                </a:pPr>
                <a:r>
                  <a:rPr lang="en-US" sz="2600" u="dbl" dirty="0">
                    <a:latin typeface="Arial" panose="020B0604020202020204" pitchFamily="34" charset="0"/>
                    <a:cs typeface="Arial" panose="020B0604020202020204" pitchFamily="34" charset="0"/>
                  </a:rPr>
                  <a:t>597.48</a:t>
                </a:r>
                <a:r>
                  <a:rPr lang="en-US" sz="2600" dirty="0">
                    <a:latin typeface="Arial" panose="020B0604020202020204" pitchFamily="34" charset="0"/>
                    <a:cs typeface="Arial" panose="020B0604020202020204" pitchFamily="34" charset="0"/>
                  </a:rPr>
                  <a:t>  = PV</a:t>
                </a:r>
              </a:p>
            </p:txBody>
          </p:sp>
        </p:grpSp>
      </p:grpSp>
    </p:spTree>
    <p:extLst>
      <p:ext uri="{BB962C8B-B14F-4D97-AF65-F5344CB8AC3E}">
        <p14:creationId xmlns:p14="http://schemas.microsoft.com/office/powerpoint/2010/main" val="360208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21CB0-B84C-229F-1573-7CF401319F9B}"/>
            </a:ext>
          </a:extLst>
        </p:cNvPr>
        <p:cNvGrpSpPr/>
        <p:nvPr/>
      </p:nvGrpSpPr>
      <p:grpSpPr>
        <a:xfrm>
          <a:off x="0" y="0"/>
          <a:ext cx="0" cy="0"/>
          <a:chOff x="0" y="0"/>
          <a:chExt cx="0" cy="0"/>
        </a:xfrm>
      </p:grpSpPr>
      <p:sp>
        <p:nvSpPr>
          <p:cNvPr id="2" name="Title 40">
            <a:extLst>
              <a:ext uri="{FF2B5EF4-FFF2-40B4-BE49-F238E27FC236}">
                <a16:creationId xmlns:a16="http://schemas.microsoft.com/office/drawing/2014/main" id="{6242B483-361A-092B-C083-F746DE435684}"/>
              </a:ext>
            </a:extLst>
          </p:cNvPr>
          <p:cNvSpPr txBox="1">
            <a:spLocks/>
          </p:cNvSpPr>
          <p:nvPr/>
        </p:nvSpPr>
        <p:spPr>
          <a:xfrm>
            <a:off x="158261" y="222463"/>
            <a:ext cx="12033740" cy="677008"/>
          </a:xfrm>
          <a:prstGeom prst="rect">
            <a:avLst/>
          </a:prstGeom>
        </p:spPr>
        <p:txBody>
          <a:bodyPr vert="horz" lIns="91440" tIns="45720" rIns="91440" bIns="45720" rtlCol="0" anchor="b">
            <a:normAutofit fontScale="8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rgbClr val="000000"/>
                </a:solidFill>
                <a:latin typeface="Inter"/>
                <a:ea typeface="+mn-ea"/>
                <a:cs typeface="+mn-cs"/>
              </a:rPr>
              <a:t>What is the difference between an ordinary annuity and an annuity due? </a:t>
            </a:r>
          </a:p>
        </p:txBody>
      </p:sp>
      <p:grpSp>
        <p:nvGrpSpPr>
          <p:cNvPr id="3" name="Group 41" descr="Scale from 0-3 showing how to chart ordinary annuity" title="Ordinary Annuity">
            <a:extLst>
              <a:ext uri="{FF2B5EF4-FFF2-40B4-BE49-F238E27FC236}">
                <a16:creationId xmlns:a16="http://schemas.microsoft.com/office/drawing/2014/main" id="{CEAF58F9-DF53-4235-2946-BBD92B261FA9}"/>
              </a:ext>
            </a:extLst>
          </p:cNvPr>
          <p:cNvGrpSpPr>
            <a:grpSpLocks/>
          </p:cNvGrpSpPr>
          <p:nvPr/>
        </p:nvGrpSpPr>
        <p:grpSpPr bwMode="auto">
          <a:xfrm>
            <a:off x="849313" y="1725613"/>
            <a:ext cx="7610475" cy="1909762"/>
            <a:chOff x="336" y="1296"/>
            <a:chExt cx="4794" cy="1203"/>
          </a:xfrm>
        </p:grpSpPr>
        <p:sp>
          <p:nvSpPr>
            <p:cNvPr id="4" name="Rectangle 3">
              <a:extLst>
                <a:ext uri="{FF2B5EF4-FFF2-40B4-BE49-F238E27FC236}">
                  <a16:creationId xmlns:a16="http://schemas.microsoft.com/office/drawing/2014/main" id="{E10BCBE1-85D3-8A06-6DD8-4942729727D7}"/>
                </a:ext>
              </a:extLst>
            </p:cNvPr>
            <p:cNvSpPr>
              <a:spLocks noChangeArrowheads="1"/>
            </p:cNvSpPr>
            <p:nvPr/>
          </p:nvSpPr>
          <p:spPr bwMode="auto">
            <a:xfrm>
              <a:off x="336" y="1296"/>
              <a:ext cx="1672" cy="311"/>
            </a:xfrm>
            <a:prstGeom prst="rect">
              <a:avLst/>
            </a:prstGeom>
            <a:noFill/>
            <a:ln w="9525">
              <a:noFill/>
              <a:miter lim="800000"/>
              <a:headEnd/>
              <a:tailEnd/>
            </a:ln>
          </p:spPr>
          <p:txBody>
            <a:bodyPr wrap="none" lIns="92075" tIns="46038" rIns="92075" bIns="46038">
              <a:spAutoFit/>
            </a:bodyPr>
            <a:lstStyle/>
            <a:p>
              <a:pPr>
                <a:defRPr/>
              </a:pPr>
              <a:r>
                <a:rPr lang="en-US" sz="2600" dirty="0">
                  <a:latin typeface="Arial" panose="020B0604020202020204" pitchFamily="34" charset="0"/>
                  <a:cs typeface="Arial" panose="020B0604020202020204" pitchFamily="34" charset="0"/>
                </a:rPr>
                <a:t>Ordinary Annuity</a:t>
              </a:r>
            </a:p>
          </p:txBody>
        </p:sp>
        <p:sp>
          <p:nvSpPr>
            <p:cNvPr id="5" name="Rectangle 4">
              <a:extLst>
                <a:ext uri="{FF2B5EF4-FFF2-40B4-BE49-F238E27FC236}">
                  <a16:creationId xmlns:a16="http://schemas.microsoft.com/office/drawing/2014/main" id="{8EE3CDC9-8AC9-75EF-9153-574FCFBD995B}"/>
                </a:ext>
              </a:extLst>
            </p:cNvPr>
            <p:cNvSpPr>
              <a:spLocks noChangeArrowheads="1"/>
            </p:cNvSpPr>
            <p:nvPr/>
          </p:nvSpPr>
          <p:spPr bwMode="auto">
            <a:xfrm>
              <a:off x="1951" y="2227"/>
              <a:ext cx="493"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PMT</a:t>
              </a:r>
            </a:p>
          </p:txBody>
        </p:sp>
        <p:sp>
          <p:nvSpPr>
            <p:cNvPr id="6" name="Rectangle 5">
              <a:extLst>
                <a:ext uri="{FF2B5EF4-FFF2-40B4-BE49-F238E27FC236}">
                  <a16:creationId xmlns:a16="http://schemas.microsoft.com/office/drawing/2014/main" id="{2706FAE5-7542-C313-A0DF-B8695CE1105A}"/>
                </a:ext>
              </a:extLst>
            </p:cNvPr>
            <p:cNvSpPr>
              <a:spLocks noChangeArrowheads="1"/>
            </p:cNvSpPr>
            <p:nvPr/>
          </p:nvSpPr>
          <p:spPr bwMode="auto">
            <a:xfrm>
              <a:off x="4637" y="2227"/>
              <a:ext cx="493"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PMT</a:t>
              </a:r>
            </a:p>
          </p:txBody>
        </p:sp>
        <p:grpSp>
          <p:nvGrpSpPr>
            <p:cNvPr id="7" name="Group 6">
              <a:extLst>
                <a:ext uri="{FF2B5EF4-FFF2-40B4-BE49-F238E27FC236}">
                  <a16:creationId xmlns:a16="http://schemas.microsoft.com/office/drawing/2014/main" id="{9C22631F-460F-F16D-31B2-E842223DF142}"/>
                </a:ext>
              </a:extLst>
            </p:cNvPr>
            <p:cNvGrpSpPr>
              <a:grpSpLocks/>
            </p:cNvGrpSpPr>
            <p:nvPr/>
          </p:nvGrpSpPr>
          <p:grpSpPr bwMode="auto">
            <a:xfrm>
              <a:off x="779" y="1984"/>
              <a:ext cx="4080" cy="173"/>
              <a:chOff x="779" y="1984"/>
              <a:chExt cx="4080" cy="173"/>
            </a:xfrm>
          </p:grpSpPr>
          <p:sp>
            <p:nvSpPr>
              <p:cNvPr id="14" name="Line 9">
                <a:extLst>
                  <a:ext uri="{FF2B5EF4-FFF2-40B4-BE49-F238E27FC236}">
                    <a16:creationId xmlns:a16="http://schemas.microsoft.com/office/drawing/2014/main" id="{35C86735-FF9E-204F-C4FA-65C3B11BF485}"/>
                  </a:ext>
                </a:extLst>
              </p:cNvPr>
              <p:cNvSpPr>
                <a:spLocks noChangeShapeType="1"/>
              </p:cNvSpPr>
              <p:nvPr/>
            </p:nvSpPr>
            <p:spPr bwMode="auto">
              <a:xfrm>
                <a:off x="779" y="1984"/>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15" name="Line 10">
                <a:extLst>
                  <a:ext uri="{FF2B5EF4-FFF2-40B4-BE49-F238E27FC236}">
                    <a16:creationId xmlns:a16="http://schemas.microsoft.com/office/drawing/2014/main" id="{D82FA5F7-2F83-3C57-9774-0EF6D8306727}"/>
                  </a:ext>
                </a:extLst>
              </p:cNvPr>
              <p:cNvSpPr>
                <a:spLocks noChangeShapeType="1"/>
              </p:cNvSpPr>
              <p:nvPr/>
            </p:nvSpPr>
            <p:spPr bwMode="auto">
              <a:xfrm>
                <a:off x="2171" y="1984"/>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16" name="Line 11">
                <a:extLst>
                  <a:ext uri="{FF2B5EF4-FFF2-40B4-BE49-F238E27FC236}">
                    <a16:creationId xmlns:a16="http://schemas.microsoft.com/office/drawing/2014/main" id="{3352F8A9-467F-4524-6128-FBDB9DCFA577}"/>
                  </a:ext>
                </a:extLst>
              </p:cNvPr>
              <p:cNvSpPr>
                <a:spLocks noChangeShapeType="1"/>
              </p:cNvSpPr>
              <p:nvPr/>
            </p:nvSpPr>
            <p:spPr bwMode="auto">
              <a:xfrm>
                <a:off x="3419" y="1984"/>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17" name="Line 12">
                <a:extLst>
                  <a:ext uri="{FF2B5EF4-FFF2-40B4-BE49-F238E27FC236}">
                    <a16:creationId xmlns:a16="http://schemas.microsoft.com/office/drawing/2014/main" id="{94400780-46A6-0E3F-F94F-116CCB044D1D}"/>
                  </a:ext>
                </a:extLst>
              </p:cNvPr>
              <p:cNvSpPr>
                <a:spLocks noChangeShapeType="1"/>
              </p:cNvSpPr>
              <p:nvPr/>
            </p:nvSpPr>
            <p:spPr bwMode="auto">
              <a:xfrm>
                <a:off x="4859" y="1984"/>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sp>
            <p:nvSpPr>
              <p:cNvPr id="18" name="Line 13">
                <a:extLst>
                  <a:ext uri="{FF2B5EF4-FFF2-40B4-BE49-F238E27FC236}">
                    <a16:creationId xmlns:a16="http://schemas.microsoft.com/office/drawing/2014/main" id="{B15C2B05-0E15-F859-0E05-29F7A85966AA}"/>
                  </a:ext>
                </a:extLst>
              </p:cNvPr>
              <p:cNvSpPr>
                <a:spLocks noChangeShapeType="1"/>
              </p:cNvSpPr>
              <p:nvPr/>
            </p:nvSpPr>
            <p:spPr bwMode="auto">
              <a:xfrm>
                <a:off x="780" y="2070"/>
                <a:ext cx="4079" cy="0"/>
              </a:xfrm>
              <a:prstGeom prst="line">
                <a:avLst/>
              </a:prstGeom>
              <a:noFill/>
              <a:ln w="25400">
                <a:solidFill>
                  <a:schemeClr val="tx1"/>
                </a:solidFill>
                <a:round/>
                <a:headEnd type="none" w="sm" len="sm"/>
                <a:tailEnd type="none" w="sm" len="sm"/>
              </a:ln>
            </p:spPr>
            <p:txBody>
              <a:bodyPr wrap="none" anchor="ctr"/>
              <a:lstStyle/>
              <a:p>
                <a:pPr>
                  <a:defRPr/>
                </a:pPr>
                <a:endParaRPr lang="en-US" sz="2900" dirty="0">
                  <a:latin typeface="Arial" panose="020B0604020202020204" pitchFamily="34" charset="0"/>
                  <a:cs typeface="Arial" panose="020B0604020202020204" pitchFamily="34" charset="0"/>
                </a:endParaRPr>
              </a:p>
            </p:txBody>
          </p:sp>
        </p:grpSp>
        <p:sp>
          <p:nvSpPr>
            <p:cNvPr id="8" name="Rectangle 14">
              <a:extLst>
                <a:ext uri="{FF2B5EF4-FFF2-40B4-BE49-F238E27FC236}">
                  <a16:creationId xmlns:a16="http://schemas.microsoft.com/office/drawing/2014/main" id="{938B90A7-D28F-02AB-EFF4-8E8B62022835}"/>
                </a:ext>
              </a:extLst>
            </p:cNvPr>
            <p:cNvSpPr>
              <a:spLocks noChangeArrowheads="1"/>
            </p:cNvSpPr>
            <p:nvPr/>
          </p:nvSpPr>
          <p:spPr bwMode="auto">
            <a:xfrm>
              <a:off x="3199" y="2227"/>
              <a:ext cx="493"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PMT</a:t>
              </a:r>
            </a:p>
          </p:txBody>
        </p:sp>
        <p:sp>
          <p:nvSpPr>
            <p:cNvPr id="9" name="Rectangle 15">
              <a:extLst>
                <a:ext uri="{FF2B5EF4-FFF2-40B4-BE49-F238E27FC236}">
                  <a16:creationId xmlns:a16="http://schemas.microsoft.com/office/drawing/2014/main" id="{020B24FC-9EEA-5E90-45F2-E52BB4C93B5C}"/>
                </a:ext>
              </a:extLst>
            </p:cNvPr>
            <p:cNvSpPr>
              <a:spLocks noChangeArrowheads="1"/>
            </p:cNvSpPr>
            <p:nvPr/>
          </p:nvSpPr>
          <p:spPr bwMode="auto">
            <a:xfrm>
              <a:off x="673" y="171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0</a:t>
              </a:r>
            </a:p>
          </p:txBody>
        </p:sp>
        <p:sp>
          <p:nvSpPr>
            <p:cNvPr id="10" name="Rectangle 16">
              <a:extLst>
                <a:ext uri="{FF2B5EF4-FFF2-40B4-BE49-F238E27FC236}">
                  <a16:creationId xmlns:a16="http://schemas.microsoft.com/office/drawing/2014/main" id="{0D4735C0-26FA-E68A-E835-AE42D11DDB2C}"/>
                </a:ext>
              </a:extLst>
            </p:cNvPr>
            <p:cNvSpPr>
              <a:spLocks noChangeArrowheads="1"/>
            </p:cNvSpPr>
            <p:nvPr/>
          </p:nvSpPr>
          <p:spPr bwMode="auto">
            <a:xfrm>
              <a:off x="2065" y="171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a:t>
              </a:r>
            </a:p>
          </p:txBody>
        </p:sp>
        <p:sp>
          <p:nvSpPr>
            <p:cNvPr id="11" name="Rectangle 17">
              <a:extLst>
                <a:ext uri="{FF2B5EF4-FFF2-40B4-BE49-F238E27FC236}">
                  <a16:creationId xmlns:a16="http://schemas.microsoft.com/office/drawing/2014/main" id="{B2F5EA2D-6EE9-0494-5172-6353DBF4DD13}"/>
                </a:ext>
              </a:extLst>
            </p:cNvPr>
            <p:cNvSpPr>
              <a:spLocks noChangeArrowheads="1"/>
            </p:cNvSpPr>
            <p:nvPr/>
          </p:nvSpPr>
          <p:spPr bwMode="auto">
            <a:xfrm>
              <a:off x="3313" y="171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2</a:t>
              </a:r>
            </a:p>
          </p:txBody>
        </p:sp>
        <p:sp>
          <p:nvSpPr>
            <p:cNvPr id="12" name="Rectangle 18">
              <a:extLst>
                <a:ext uri="{FF2B5EF4-FFF2-40B4-BE49-F238E27FC236}">
                  <a16:creationId xmlns:a16="http://schemas.microsoft.com/office/drawing/2014/main" id="{9ED21201-99B5-B706-ACA8-6B6DA1F4FD0D}"/>
                </a:ext>
              </a:extLst>
            </p:cNvPr>
            <p:cNvSpPr>
              <a:spLocks noChangeArrowheads="1"/>
            </p:cNvSpPr>
            <p:nvPr/>
          </p:nvSpPr>
          <p:spPr bwMode="auto">
            <a:xfrm>
              <a:off x="4753" y="1719"/>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3</a:t>
              </a:r>
            </a:p>
          </p:txBody>
        </p:sp>
        <p:sp>
          <p:nvSpPr>
            <p:cNvPr id="13" name="Rectangle 19">
              <a:extLst>
                <a:ext uri="{FF2B5EF4-FFF2-40B4-BE49-F238E27FC236}">
                  <a16:creationId xmlns:a16="http://schemas.microsoft.com/office/drawing/2014/main" id="{473493B2-2352-177D-8FE0-E8460D4BBF53}"/>
                </a:ext>
              </a:extLst>
            </p:cNvPr>
            <p:cNvSpPr>
              <a:spLocks noChangeArrowheads="1"/>
            </p:cNvSpPr>
            <p:nvPr/>
          </p:nvSpPr>
          <p:spPr bwMode="auto">
            <a:xfrm>
              <a:off x="1296" y="1863"/>
              <a:ext cx="305" cy="252"/>
            </a:xfrm>
            <a:prstGeom prst="rect">
              <a:avLst/>
            </a:prstGeom>
            <a:noFill/>
            <a:ln w="9525">
              <a:noFill/>
              <a:miter lim="800000"/>
              <a:headEnd/>
              <a:tailEnd/>
            </a:ln>
          </p:spPr>
          <p:txBody>
            <a:bodyPr wrap="none" lIns="92075" tIns="46038" rIns="92075" bIns="46038">
              <a:spAutoFit/>
            </a:bodyPr>
            <a:lstStyle/>
            <a:p>
              <a:pPr>
                <a:defRPr/>
              </a:pPr>
              <a:r>
                <a:rPr lang="en-US" sz="2000" dirty="0">
                  <a:latin typeface="Arial" panose="020B0604020202020204" pitchFamily="34" charset="0"/>
                  <a:cs typeface="Arial" panose="020B0604020202020204" pitchFamily="34" charset="0"/>
                </a:rPr>
                <a:t>I%</a:t>
              </a:r>
            </a:p>
          </p:txBody>
        </p:sp>
      </p:grpSp>
      <p:grpSp>
        <p:nvGrpSpPr>
          <p:cNvPr id="19" name="Group 42" descr="Scale from 0-3 showing how to chart annuity due" title="Annuity Due">
            <a:extLst>
              <a:ext uri="{FF2B5EF4-FFF2-40B4-BE49-F238E27FC236}">
                <a16:creationId xmlns:a16="http://schemas.microsoft.com/office/drawing/2014/main" id="{127275BE-5B06-A720-E566-03F5A1046DA9}"/>
              </a:ext>
            </a:extLst>
          </p:cNvPr>
          <p:cNvGrpSpPr>
            <a:grpSpLocks/>
          </p:cNvGrpSpPr>
          <p:nvPr/>
        </p:nvGrpSpPr>
        <p:grpSpPr bwMode="auto">
          <a:xfrm>
            <a:off x="849313" y="4010025"/>
            <a:ext cx="7627937" cy="2393950"/>
            <a:chOff x="336" y="2424"/>
            <a:chExt cx="4805" cy="1508"/>
          </a:xfrm>
        </p:grpSpPr>
        <p:sp>
          <p:nvSpPr>
            <p:cNvPr id="20" name="Rectangle 19">
              <a:extLst>
                <a:ext uri="{FF2B5EF4-FFF2-40B4-BE49-F238E27FC236}">
                  <a16:creationId xmlns:a16="http://schemas.microsoft.com/office/drawing/2014/main" id="{ADE93231-DB1B-B99A-4D17-853E54372445}"/>
                </a:ext>
              </a:extLst>
            </p:cNvPr>
            <p:cNvSpPr>
              <a:spLocks noChangeArrowheads="1"/>
            </p:cNvSpPr>
            <p:nvPr/>
          </p:nvSpPr>
          <p:spPr bwMode="auto">
            <a:xfrm>
              <a:off x="1951" y="3424"/>
              <a:ext cx="493"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PMT</a:t>
              </a:r>
            </a:p>
          </p:txBody>
        </p:sp>
        <p:sp>
          <p:nvSpPr>
            <p:cNvPr id="21" name="Rectangle 20">
              <a:extLst>
                <a:ext uri="{FF2B5EF4-FFF2-40B4-BE49-F238E27FC236}">
                  <a16:creationId xmlns:a16="http://schemas.microsoft.com/office/drawing/2014/main" id="{7F615EE4-A88F-DA5E-FC05-C6E5B4F762C6}"/>
                </a:ext>
              </a:extLst>
            </p:cNvPr>
            <p:cNvSpPr>
              <a:spLocks noChangeArrowheads="1"/>
            </p:cNvSpPr>
            <p:nvPr/>
          </p:nvSpPr>
          <p:spPr bwMode="auto">
            <a:xfrm>
              <a:off x="4705" y="3644"/>
              <a:ext cx="436" cy="288"/>
            </a:xfrm>
            <a:prstGeom prst="rect">
              <a:avLst/>
            </a:prstGeom>
            <a:noFill/>
            <a:ln w="9525">
              <a:noFill/>
              <a:miter lim="800000"/>
              <a:headEnd/>
              <a:tailEnd/>
            </a:ln>
          </p:spPr>
          <p:txBody>
            <a:bodyPr wrap="none" anchor="ctr"/>
            <a:lstStyle/>
            <a:p>
              <a:pPr>
                <a:defRPr/>
              </a:pPr>
              <a:endParaRPr lang="en-US" sz="2600" dirty="0">
                <a:latin typeface="Arial" panose="020B0604020202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0700BB6A-6E52-BBDC-6D09-4F15C2D4EC85}"/>
                </a:ext>
              </a:extLst>
            </p:cNvPr>
            <p:cNvGrpSpPr>
              <a:grpSpLocks/>
            </p:cNvGrpSpPr>
            <p:nvPr/>
          </p:nvGrpSpPr>
          <p:grpSpPr bwMode="auto">
            <a:xfrm>
              <a:off x="779" y="3189"/>
              <a:ext cx="4080" cy="173"/>
              <a:chOff x="779" y="3189"/>
              <a:chExt cx="4080" cy="173"/>
            </a:xfrm>
          </p:grpSpPr>
          <p:sp>
            <p:nvSpPr>
              <p:cNvPr id="34" name="Line 24">
                <a:extLst>
                  <a:ext uri="{FF2B5EF4-FFF2-40B4-BE49-F238E27FC236}">
                    <a16:creationId xmlns:a16="http://schemas.microsoft.com/office/drawing/2014/main" id="{A003708B-0AF5-2B24-240C-D41B0FEF1BB7}"/>
                  </a:ext>
                </a:extLst>
              </p:cNvPr>
              <p:cNvSpPr>
                <a:spLocks noChangeShapeType="1"/>
              </p:cNvSpPr>
              <p:nvPr/>
            </p:nvSpPr>
            <p:spPr bwMode="auto">
              <a:xfrm>
                <a:off x="779" y="318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35" name="Line 25">
                <a:extLst>
                  <a:ext uri="{FF2B5EF4-FFF2-40B4-BE49-F238E27FC236}">
                    <a16:creationId xmlns:a16="http://schemas.microsoft.com/office/drawing/2014/main" id="{108C6118-EDAD-5D6F-2738-FD997F8D20C9}"/>
                  </a:ext>
                </a:extLst>
              </p:cNvPr>
              <p:cNvSpPr>
                <a:spLocks noChangeShapeType="1"/>
              </p:cNvSpPr>
              <p:nvPr/>
            </p:nvSpPr>
            <p:spPr bwMode="auto">
              <a:xfrm>
                <a:off x="2171" y="318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36" name="Line 26">
                <a:extLst>
                  <a:ext uri="{FF2B5EF4-FFF2-40B4-BE49-F238E27FC236}">
                    <a16:creationId xmlns:a16="http://schemas.microsoft.com/office/drawing/2014/main" id="{B5E63005-D932-E673-CCB0-94E909940C3F}"/>
                  </a:ext>
                </a:extLst>
              </p:cNvPr>
              <p:cNvSpPr>
                <a:spLocks noChangeShapeType="1"/>
              </p:cNvSpPr>
              <p:nvPr/>
            </p:nvSpPr>
            <p:spPr bwMode="auto">
              <a:xfrm>
                <a:off x="3419" y="318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37" name="Line 27">
                <a:extLst>
                  <a:ext uri="{FF2B5EF4-FFF2-40B4-BE49-F238E27FC236}">
                    <a16:creationId xmlns:a16="http://schemas.microsoft.com/office/drawing/2014/main" id="{30A17800-2267-2B8C-B224-BC85EAB0FACD}"/>
                  </a:ext>
                </a:extLst>
              </p:cNvPr>
              <p:cNvSpPr>
                <a:spLocks noChangeShapeType="1"/>
              </p:cNvSpPr>
              <p:nvPr/>
            </p:nvSpPr>
            <p:spPr bwMode="auto">
              <a:xfrm>
                <a:off x="4859" y="3189"/>
                <a:ext cx="0" cy="173"/>
              </a:xfrm>
              <a:prstGeom prst="line">
                <a:avLst/>
              </a:prstGeom>
              <a:noFill/>
              <a:ln w="25400">
                <a:solidFill>
                  <a:schemeClr val="tx1"/>
                </a:solidFill>
                <a:round/>
                <a:headEnd type="none" w="sm" len="sm"/>
                <a:tailEnd type="none" w="sm" len="sm"/>
              </a:ln>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38" name="Line 28">
                <a:extLst>
                  <a:ext uri="{FF2B5EF4-FFF2-40B4-BE49-F238E27FC236}">
                    <a16:creationId xmlns:a16="http://schemas.microsoft.com/office/drawing/2014/main" id="{F4A340CC-D7C9-B8A4-7572-6870523FBBA5}"/>
                  </a:ext>
                </a:extLst>
              </p:cNvPr>
              <p:cNvSpPr>
                <a:spLocks noChangeShapeType="1"/>
              </p:cNvSpPr>
              <p:nvPr/>
            </p:nvSpPr>
            <p:spPr bwMode="auto">
              <a:xfrm>
                <a:off x="780" y="3275"/>
                <a:ext cx="4079" cy="0"/>
              </a:xfrm>
              <a:prstGeom prst="line">
                <a:avLst/>
              </a:prstGeom>
              <a:noFill/>
              <a:ln w="25400">
                <a:solidFill>
                  <a:schemeClr val="tx1"/>
                </a:solidFill>
                <a:round/>
                <a:headEnd type="none" w="sm" len="sm"/>
                <a:tailEnd type="none" w="sm" len="sm"/>
              </a:ln>
            </p:spPr>
            <p:txBody>
              <a:bodyPr wrap="none" anchor="ctr"/>
              <a:lstStyle/>
              <a:p>
                <a:pPr>
                  <a:defRPr/>
                </a:pPr>
                <a:endParaRPr lang="en-US" sz="2600" dirty="0">
                  <a:latin typeface="Arial" panose="020B0604020202020204" pitchFamily="34" charset="0"/>
                  <a:cs typeface="Arial" panose="020B0604020202020204" pitchFamily="34" charset="0"/>
                </a:endParaRPr>
              </a:p>
            </p:txBody>
          </p:sp>
        </p:grpSp>
        <p:sp>
          <p:nvSpPr>
            <p:cNvPr id="23" name="Rectangle 29">
              <a:extLst>
                <a:ext uri="{FF2B5EF4-FFF2-40B4-BE49-F238E27FC236}">
                  <a16:creationId xmlns:a16="http://schemas.microsoft.com/office/drawing/2014/main" id="{CAD9A279-6F39-0B5C-DD97-4DD9251A408A}"/>
                </a:ext>
              </a:extLst>
            </p:cNvPr>
            <p:cNvSpPr>
              <a:spLocks noChangeArrowheads="1"/>
            </p:cNvSpPr>
            <p:nvPr/>
          </p:nvSpPr>
          <p:spPr bwMode="auto">
            <a:xfrm>
              <a:off x="3199" y="3424"/>
              <a:ext cx="493"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PMT</a:t>
              </a:r>
            </a:p>
          </p:txBody>
        </p:sp>
        <p:sp>
          <p:nvSpPr>
            <p:cNvPr id="24" name="Rectangle 30">
              <a:extLst>
                <a:ext uri="{FF2B5EF4-FFF2-40B4-BE49-F238E27FC236}">
                  <a16:creationId xmlns:a16="http://schemas.microsoft.com/office/drawing/2014/main" id="{7BDA0691-CE8C-BA9E-FE88-7FBC47B10436}"/>
                </a:ext>
              </a:extLst>
            </p:cNvPr>
            <p:cNvSpPr>
              <a:spLocks noChangeArrowheads="1"/>
            </p:cNvSpPr>
            <p:nvPr/>
          </p:nvSpPr>
          <p:spPr bwMode="auto">
            <a:xfrm>
              <a:off x="673" y="2906"/>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0</a:t>
              </a:r>
            </a:p>
          </p:txBody>
        </p:sp>
        <p:sp>
          <p:nvSpPr>
            <p:cNvPr id="25" name="Rectangle 31">
              <a:extLst>
                <a:ext uri="{FF2B5EF4-FFF2-40B4-BE49-F238E27FC236}">
                  <a16:creationId xmlns:a16="http://schemas.microsoft.com/office/drawing/2014/main" id="{983CB533-36A8-3DFE-B7E2-2313A92205C4}"/>
                </a:ext>
              </a:extLst>
            </p:cNvPr>
            <p:cNvSpPr>
              <a:spLocks noChangeArrowheads="1"/>
            </p:cNvSpPr>
            <p:nvPr/>
          </p:nvSpPr>
          <p:spPr bwMode="auto">
            <a:xfrm>
              <a:off x="2065" y="2906"/>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1</a:t>
              </a:r>
            </a:p>
          </p:txBody>
        </p:sp>
        <p:sp>
          <p:nvSpPr>
            <p:cNvPr id="26" name="Rectangle 32">
              <a:extLst>
                <a:ext uri="{FF2B5EF4-FFF2-40B4-BE49-F238E27FC236}">
                  <a16:creationId xmlns:a16="http://schemas.microsoft.com/office/drawing/2014/main" id="{F52E4CA0-6281-5C5D-6A83-9F6A73980468}"/>
                </a:ext>
              </a:extLst>
            </p:cNvPr>
            <p:cNvSpPr>
              <a:spLocks noChangeArrowheads="1"/>
            </p:cNvSpPr>
            <p:nvPr/>
          </p:nvSpPr>
          <p:spPr bwMode="auto">
            <a:xfrm>
              <a:off x="3313" y="2906"/>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2</a:t>
              </a:r>
            </a:p>
          </p:txBody>
        </p:sp>
        <p:sp>
          <p:nvSpPr>
            <p:cNvPr id="27" name="Rectangle 33">
              <a:extLst>
                <a:ext uri="{FF2B5EF4-FFF2-40B4-BE49-F238E27FC236}">
                  <a16:creationId xmlns:a16="http://schemas.microsoft.com/office/drawing/2014/main" id="{33A73D71-8235-F4BA-3F6B-03E53D801DCD}"/>
                </a:ext>
              </a:extLst>
            </p:cNvPr>
            <p:cNvSpPr>
              <a:spLocks noChangeArrowheads="1"/>
            </p:cNvSpPr>
            <p:nvPr/>
          </p:nvSpPr>
          <p:spPr bwMode="auto">
            <a:xfrm>
              <a:off x="4753" y="2906"/>
              <a:ext cx="216"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3</a:t>
              </a:r>
            </a:p>
          </p:txBody>
        </p:sp>
        <p:sp>
          <p:nvSpPr>
            <p:cNvPr id="28" name="Rectangle 34">
              <a:extLst>
                <a:ext uri="{FF2B5EF4-FFF2-40B4-BE49-F238E27FC236}">
                  <a16:creationId xmlns:a16="http://schemas.microsoft.com/office/drawing/2014/main" id="{36C36376-CFCE-A019-C74E-C62BFAA6FD38}"/>
                </a:ext>
              </a:extLst>
            </p:cNvPr>
            <p:cNvSpPr>
              <a:spLocks noChangeArrowheads="1"/>
            </p:cNvSpPr>
            <p:nvPr/>
          </p:nvSpPr>
          <p:spPr bwMode="auto">
            <a:xfrm>
              <a:off x="1296" y="3060"/>
              <a:ext cx="305" cy="252"/>
            </a:xfrm>
            <a:prstGeom prst="rect">
              <a:avLst/>
            </a:prstGeom>
            <a:noFill/>
            <a:ln w="9525">
              <a:noFill/>
              <a:miter lim="800000"/>
              <a:headEnd/>
              <a:tailEnd/>
            </a:ln>
          </p:spPr>
          <p:txBody>
            <a:bodyPr wrap="none" lIns="92075" tIns="46038" rIns="92075" bIns="46038">
              <a:spAutoFit/>
            </a:bodyPr>
            <a:lstStyle/>
            <a:p>
              <a:pPr>
                <a:defRPr/>
              </a:pPr>
              <a:r>
                <a:rPr lang="en-US" sz="2000" dirty="0">
                  <a:latin typeface="Arial" panose="020B0604020202020204" pitchFamily="34" charset="0"/>
                  <a:cs typeface="Arial" panose="020B0604020202020204" pitchFamily="34" charset="0"/>
                </a:rPr>
                <a:t>I%</a:t>
              </a:r>
            </a:p>
          </p:txBody>
        </p:sp>
        <p:sp>
          <p:nvSpPr>
            <p:cNvPr id="29" name="Rectangle 35">
              <a:extLst>
                <a:ext uri="{FF2B5EF4-FFF2-40B4-BE49-F238E27FC236}">
                  <a16:creationId xmlns:a16="http://schemas.microsoft.com/office/drawing/2014/main" id="{365194FF-7266-9FBF-AC26-4547D0A25033}"/>
                </a:ext>
              </a:extLst>
            </p:cNvPr>
            <p:cNvSpPr>
              <a:spLocks noChangeArrowheads="1"/>
            </p:cNvSpPr>
            <p:nvPr/>
          </p:nvSpPr>
          <p:spPr bwMode="auto">
            <a:xfrm>
              <a:off x="559" y="3424"/>
              <a:ext cx="493" cy="272"/>
            </a:xfrm>
            <a:prstGeom prst="rect">
              <a:avLst/>
            </a:prstGeom>
            <a:noFill/>
            <a:ln w="9525">
              <a:noFill/>
              <a:miter lim="800000"/>
              <a:headEnd/>
              <a:tailEnd/>
            </a:ln>
          </p:spPr>
          <p:txBody>
            <a:bodyPr wrap="none" lIns="92075" tIns="46038" rIns="92075" bIns="46038">
              <a:spAutoFit/>
            </a:bodyPr>
            <a:lstStyle/>
            <a:p>
              <a:pPr>
                <a:defRPr/>
              </a:pPr>
              <a:r>
                <a:rPr lang="en-US" sz="2200" dirty="0">
                  <a:latin typeface="Arial" panose="020B0604020202020204" pitchFamily="34" charset="0"/>
                  <a:cs typeface="Arial" panose="020B0604020202020204" pitchFamily="34" charset="0"/>
                </a:rPr>
                <a:t>PMT</a:t>
              </a:r>
            </a:p>
          </p:txBody>
        </p:sp>
        <p:sp>
          <p:nvSpPr>
            <p:cNvPr id="30" name="Line 36">
              <a:extLst>
                <a:ext uri="{FF2B5EF4-FFF2-40B4-BE49-F238E27FC236}">
                  <a16:creationId xmlns:a16="http://schemas.microsoft.com/office/drawing/2014/main" id="{DE3B33E6-06A8-4EA1-4B11-693606F16968}"/>
                </a:ext>
              </a:extLst>
            </p:cNvPr>
            <p:cNvSpPr>
              <a:spLocks noChangeShapeType="1"/>
            </p:cNvSpPr>
            <p:nvPr/>
          </p:nvSpPr>
          <p:spPr bwMode="auto">
            <a:xfrm flipH="1">
              <a:off x="827" y="2424"/>
              <a:ext cx="1385" cy="807"/>
            </a:xfrm>
            <a:prstGeom prst="line">
              <a:avLst/>
            </a:prstGeom>
            <a:noFill/>
            <a:ln w="31750">
              <a:solidFill>
                <a:schemeClr val="accent5">
                  <a:alpha val="75000"/>
                </a:schemeClr>
              </a:solidFill>
              <a:round/>
              <a:headEnd type="none" w="sm" len="sm"/>
              <a:tailEnd type="stealth" w="med" len="lg"/>
            </a:ln>
            <a:effectLst>
              <a:outerShdw blurRad="50800" dist="38100" dir="2700000" algn="tl" rotWithShape="0">
                <a:prstClr val="black">
                  <a:alpha val="40000"/>
                </a:prstClr>
              </a:outerShdw>
            </a:effectLst>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31" name="Line 37">
              <a:extLst>
                <a:ext uri="{FF2B5EF4-FFF2-40B4-BE49-F238E27FC236}">
                  <a16:creationId xmlns:a16="http://schemas.microsoft.com/office/drawing/2014/main" id="{BCCBC022-505E-067F-BFB9-38A40A43F282}"/>
                </a:ext>
              </a:extLst>
            </p:cNvPr>
            <p:cNvSpPr>
              <a:spLocks noChangeShapeType="1"/>
            </p:cNvSpPr>
            <p:nvPr/>
          </p:nvSpPr>
          <p:spPr bwMode="auto">
            <a:xfrm flipH="1">
              <a:off x="2246" y="2424"/>
              <a:ext cx="1199" cy="785"/>
            </a:xfrm>
            <a:prstGeom prst="line">
              <a:avLst/>
            </a:prstGeom>
            <a:noFill/>
            <a:ln w="31750">
              <a:solidFill>
                <a:schemeClr val="accent5">
                  <a:alpha val="75000"/>
                </a:schemeClr>
              </a:solidFill>
              <a:round/>
              <a:headEnd type="none" w="sm" len="sm"/>
              <a:tailEnd type="stealth" w="med" len="lg"/>
            </a:ln>
            <a:effectLst>
              <a:outerShdw blurRad="50800" dist="38100" dir="2700000" algn="tl" rotWithShape="0">
                <a:prstClr val="black">
                  <a:alpha val="40000"/>
                </a:prstClr>
              </a:outerShdw>
            </a:effectLst>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32" name="Line 38">
              <a:extLst>
                <a:ext uri="{FF2B5EF4-FFF2-40B4-BE49-F238E27FC236}">
                  <a16:creationId xmlns:a16="http://schemas.microsoft.com/office/drawing/2014/main" id="{E2B3CDF6-02E9-4580-FE26-113C24B2CB3D}"/>
                </a:ext>
              </a:extLst>
            </p:cNvPr>
            <p:cNvSpPr>
              <a:spLocks noChangeShapeType="1"/>
            </p:cNvSpPr>
            <p:nvPr/>
          </p:nvSpPr>
          <p:spPr bwMode="auto">
            <a:xfrm flipH="1">
              <a:off x="3489" y="2424"/>
              <a:ext cx="1385" cy="796"/>
            </a:xfrm>
            <a:prstGeom prst="line">
              <a:avLst/>
            </a:prstGeom>
            <a:noFill/>
            <a:ln w="31750">
              <a:solidFill>
                <a:schemeClr val="accent5">
                  <a:alpha val="75000"/>
                </a:schemeClr>
              </a:solidFill>
              <a:round/>
              <a:headEnd type="none" w="sm" len="sm"/>
              <a:tailEnd type="stealth" w="med" len="lg"/>
            </a:ln>
            <a:effectLst>
              <a:outerShdw blurRad="50800" dist="38100" dir="2700000" algn="tl" rotWithShape="0">
                <a:prstClr val="black">
                  <a:alpha val="40000"/>
                </a:prstClr>
              </a:outerShdw>
            </a:effectLst>
          </p:spPr>
          <p:txBody>
            <a:bodyPr wrap="none" anchor="ctr"/>
            <a:lstStyle/>
            <a:p>
              <a:pPr>
                <a:defRPr/>
              </a:pPr>
              <a:endParaRPr lang="en-US" sz="2600" dirty="0">
                <a:latin typeface="Arial" panose="020B0604020202020204" pitchFamily="34" charset="0"/>
                <a:cs typeface="Arial" panose="020B0604020202020204" pitchFamily="34" charset="0"/>
              </a:endParaRPr>
            </a:p>
          </p:txBody>
        </p:sp>
        <p:sp>
          <p:nvSpPr>
            <p:cNvPr id="33" name="Rectangle 39">
              <a:extLst>
                <a:ext uri="{FF2B5EF4-FFF2-40B4-BE49-F238E27FC236}">
                  <a16:creationId xmlns:a16="http://schemas.microsoft.com/office/drawing/2014/main" id="{DDD10942-241F-E0DD-3218-3ECFFCBC706C}"/>
                </a:ext>
              </a:extLst>
            </p:cNvPr>
            <p:cNvSpPr>
              <a:spLocks noChangeArrowheads="1"/>
            </p:cNvSpPr>
            <p:nvPr/>
          </p:nvSpPr>
          <p:spPr bwMode="auto">
            <a:xfrm>
              <a:off x="336" y="2544"/>
              <a:ext cx="1263" cy="311"/>
            </a:xfrm>
            <a:prstGeom prst="rect">
              <a:avLst/>
            </a:prstGeom>
            <a:noFill/>
            <a:ln w="9525">
              <a:noFill/>
              <a:miter lim="800000"/>
              <a:headEnd/>
              <a:tailEnd/>
            </a:ln>
          </p:spPr>
          <p:txBody>
            <a:bodyPr wrap="none" lIns="92075" tIns="46038" rIns="92075" bIns="46038">
              <a:spAutoFit/>
            </a:bodyPr>
            <a:lstStyle/>
            <a:p>
              <a:pPr>
                <a:defRPr/>
              </a:pPr>
              <a:r>
                <a:rPr lang="en-US" sz="2600" dirty="0">
                  <a:latin typeface="Arial" panose="020B0604020202020204" pitchFamily="34" charset="0"/>
                  <a:cs typeface="Arial" panose="020B0604020202020204" pitchFamily="34" charset="0"/>
                </a:rPr>
                <a:t>Annuity Due</a:t>
              </a:r>
            </a:p>
          </p:txBody>
        </p:sp>
      </p:grpSp>
    </p:spTree>
    <p:extLst>
      <p:ext uri="{BB962C8B-B14F-4D97-AF65-F5344CB8AC3E}">
        <p14:creationId xmlns:p14="http://schemas.microsoft.com/office/powerpoint/2010/main" val="275553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3F9A5-0DE2-BB93-85C8-2ED3A33B569C}"/>
            </a:ext>
          </a:extLst>
        </p:cNvPr>
        <p:cNvGrpSpPr/>
        <p:nvPr/>
      </p:nvGrpSpPr>
      <p:grpSpPr>
        <a:xfrm>
          <a:off x="0" y="0"/>
          <a:ext cx="0" cy="0"/>
          <a:chOff x="0" y="0"/>
          <a:chExt cx="0" cy="0"/>
        </a:xfrm>
      </p:grpSpPr>
      <p:sp>
        <p:nvSpPr>
          <p:cNvPr id="2" name="Title 40">
            <a:extLst>
              <a:ext uri="{FF2B5EF4-FFF2-40B4-BE49-F238E27FC236}">
                <a16:creationId xmlns:a16="http://schemas.microsoft.com/office/drawing/2014/main" id="{C4FC99DB-C868-BEAC-9EB1-A9FE0105665D}"/>
              </a:ext>
            </a:extLst>
          </p:cNvPr>
          <p:cNvSpPr txBox="1">
            <a:spLocks/>
          </p:cNvSpPr>
          <p:nvPr/>
        </p:nvSpPr>
        <p:spPr>
          <a:xfrm>
            <a:off x="158261" y="222463"/>
            <a:ext cx="12033740" cy="67700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rgbClr val="000000"/>
                </a:solidFill>
                <a:latin typeface="Inter"/>
                <a:ea typeface="+mn-ea"/>
                <a:cs typeface="+mn-cs"/>
              </a:rPr>
              <a:t>Present value of an annuity </a:t>
            </a:r>
          </a:p>
        </p:txBody>
      </p:sp>
      <p:pic>
        <p:nvPicPr>
          <p:cNvPr id="4" name="Picture 3">
            <a:extLst>
              <a:ext uri="{FF2B5EF4-FFF2-40B4-BE49-F238E27FC236}">
                <a16:creationId xmlns:a16="http://schemas.microsoft.com/office/drawing/2014/main" id="{53C311A8-3C0B-03B0-BFA8-4C7ABB3986E0}"/>
              </a:ext>
            </a:extLst>
          </p:cNvPr>
          <p:cNvPicPr>
            <a:picLocks noChangeAspect="1"/>
          </p:cNvPicPr>
          <p:nvPr/>
        </p:nvPicPr>
        <p:blipFill>
          <a:blip r:embed="rId2"/>
          <a:stretch>
            <a:fillRect/>
          </a:stretch>
        </p:blipFill>
        <p:spPr>
          <a:xfrm>
            <a:off x="2442382" y="1291472"/>
            <a:ext cx="5553850" cy="1901189"/>
          </a:xfrm>
          <a:prstGeom prst="rect">
            <a:avLst/>
          </a:prstGeom>
        </p:spPr>
      </p:pic>
      <p:sp>
        <p:nvSpPr>
          <p:cNvPr id="6" name="TextBox 5">
            <a:extLst>
              <a:ext uri="{FF2B5EF4-FFF2-40B4-BE49-F238E27FC236}">
                <a16:creationId xmlns:a16="http://schemas.microsoft.com/office/drawing/2014/main" id="{FAC9F15B-9E41-EFDA-9ED4-FC2F87F09897}"/>
              </a:ext>
            </a:extLst>
          </p:cNvPr>
          <p:cNvSpPr txBox="1"/>
          <p:nvPr/>
        </p:nvSpPr>
        <p:spPr>
          <a:xfrm>
            <a:off x="461915" y="3162886"/>
            <a:ext cx="10661714" cy="830997"/>
          </a:xfrm>
          <a:prstGeom prst="rect">
            <a:avLst/>
          </a:prstGeom>
          <a:noFill/>
        </p:spPr>
        <p:txBody>
          <a:bodyPr wrap="square">
            <a:spAutoFit/>
          </a:bodyPr>
          <a:lstStyle/>
          <a:p>
            <a:r>
              <a:rPr lang="en-US" sz="2400" dirty="0"/>
              <a:t>Example: The present value of an annuity of $1,000 at the end of each year for the next five years, assuming a discount rate of 10% is -</a:t>
            </a:r>
          </a:p>
        </p:txBody>
      </p:sp>
      <p:pic>
        <p:nvPicPr>
          <p:cNvPr id="8" name="Picture 7">
            <a:extLst>
              <a:ext uri="{FF2B5EF4-FFF2-40B4-BE49-F238E27FC236}">
                <a16:creationId xmlns:a16="http://schemas.microsoft.com/office/drawing/2014/main" id="{9B45EDB7-913B-6B50-3385-5BE6E54DD366}"/>
              </a:ext>
            </a:extLst>
          </p:cNvPr>
          <p:cNvPicPr>
            <a:picLocks noChangeAspect="1"/>
          </p:cNvPicPr>
          <p:nvPr/>
        </p:nvPicPr>
        <p:blipFill>
          <a:blip r:embed="rId3"/>
          <a:stretch>
            <a:fillRect/>
          </a:stretch>
        </p:blipFill>
        <p:spPr>
          <a:xfrm>
            <a:off x="1840332" y="4376912"/>
            <a:ext cx="7116168" cy="1705213"/>
          </a:xfrm>
          <a:prstGeom prst="rect">
            <a:avLst/>
          </a:prstGeom>
        </p:spPr>
      </p:pic>
    </p:spTree>
    <p:extLst>
      <p:ext uri="{BB962C8B-B14F-4D97-AF65-F5344CB8AC3E}">
        <p14:creationId xmlns:p14="http://schemas.microsoft.com/office/powerpoint/2010/main" val="2793591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4D2C2-84AA-A146-0847-327C90195D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1CD983-90F0-CC7C-6CD9-62254B7A04FC}"/>
              </a:ext>
            </a:extLst>
          </p:cNvPr>
          <p:cNvSpPr txBox="1"/>
          <p:nvPr/>
        </p:nvSpPr>
        <p:spPr>
          <a:xfrm>
            <a:off x="238027" y="324381"/>
            <a:ext cx="6094428" cy="630942"/>
          </a:xfrm>
          <a:prstGeom prst="rect">
            <a:avLst/>
          </a:prstGeom>
          <a:noFill/>
        </p:spPr>
        <p:txBody>
          <a:bodyPr wrap="square">
            <a:spAutoFit/>
          </a:bodyPr>
          <a:lstStyle/>
          <a:p>
            <a:r>
              <a:rPr lang="en-US" sz="3500" b="1" dirty="0">
                <a:solidFill>
                  <a:srgbClr val="000000"/>
                </a:solidFill>
                <a:latin typeface="Inter"/>
              </a:rPr>
              <a:t>Annuity, given Present Value </a:t>
            </a:r>
          </a:p>
        </p:txBody>
      </p:sp>
      <p:pic>
        <p:nvPicPr>
          <p:cNvPr id="5" name="Picture 4">
            <a:extLst>
              <a:ext uri="{FF2B5EF4-FFF2-40B4-BE49-F238E27FC236}">
                <a16:creationId xmlns:a16="http://schemas.microsoft.com/office/drawing/2014/main" id="{4C3C027D-C0D5-ACD7-DE6E-8CE9474E4751}"/>
              </a:ext>
            </a:extLst>
          </p:cNvPr>
          <p:cNvPicPr>
            <a:picLocks noChangeAspect="1"/>
          </p:cNvPicPr>
          <p:nvPr/>
        </p:nvPicPr>
        <p:blipFill>
          <a:blip r:embed="rId2"/>
          <a:stretch>
            <a:fillRect/>
          </a:stretch>
        </p:blipFill>
        <p:spPr>
          <a:xfrm>
            <a:off x="1847583" y="1332263"/>
            <a:ext cx="7249283" cy="1448002"/>
          </a:xfrm>
          <a:prstGeom prst="rect">
            <a:avLst/>
          </a:prstGeom>
        </p:spPr>
      </p:pic>
      <p:sp>
        <p:nvSpPr>
          <p:cNvPr id="7" name="TextBox 6">
            <a:extLst>
              <a:ext uri="{FF2B5EF4-FFF2-40B4-BE49-F238E27FC236}">
                <a16:creationId xmlns:a16="http://schemas.microsoft.com/office/drawing/2014/main" id="{2F298A57-D619-2B66-BFED-5CCCC9909F00}"/>
              </a:ext>
            </a:extLst>
          </p:cNvPr>
          <p:cNvSpPr txBox="1"/>
          <p:nvPr/>
        </p:nvSpPr>
        <p:spPr>
          <a:xfrm>
            <a:off x="441095" y="2780265"/>
            <a:ext cx="11549799" cy="1569660"/>
          </a:xfrm>
          <a:prstGeom prst="rect">
            <a:avLst/>
          </a:prstGeom>
          <a:noFill/>
        </p:spPr>
        <p:txBody>
          <a:bodyPr wrap="square">
            <a:spAutoFit/>
          </a:bodyPr>
          <a:lstStyle/>
          <a:p>
            <a:pPr algn="just"/>
            <a:r>
              <a:rPr lang="en-US" sz="2400" dirty="0"/>
              <a:t>Example: Suppose you borrow $200,000 to buy a house on a 30-year mortgage with monthly payments. The annual percentage rate on the loan is 8%. The monthly payments on this loan, with the payments occurring at the end of each month, can be calculated using this equation on: </a:t>
            </a:r>
          </a:p>
        </p:txBody>
      </p:sp>
      <p:pic>
        <p:nvPicPr>
          <p:cNvPr id="9" name="Picture 8">
            <a:extLst>
              <a:ext uri="{FF2B5EF4-FFF2-40B4-BE49-F238E27FC236}">
                <a16:creationId xmlns:a16="http://schemas.microsoft.com/office/drawing/2014/main" id="{82C9AD12-AABE-722D-B000-7D1812B8D44E}"/>
              </a:ext>
            </a:extLst>
          </p:cNvPr>
          <p:cNvPicPr>
            <a:picLocks noChangeAspect="1"/>
          </p:cNvPicPr>
          <p:nvPr/>
        </p:nvPicPr>
        <p:blipFill>
          <a:blip r:embed="rId3"/>
          <a:stretch>
            <a:fillRect/>
          </a:stretch>
        </p:blipFill>
        <p:spPr>
          <a:xfrm>
            <a:off x="2112928" y="4605207"/>
            <a:ext cx="6363588" cy="1305107"/>
          </a:xfrm>
          <a:prstGeom prst="rect">
            <a:avLst/>
          </a:prstGeom>
        </p:spPr>
      </p:pic>
    </p:spTree>
    <p:extLst>
      <p:ext uri="{BB962C8B-B14F-4D97-AF65-F5344CB8AC3E}">
        <p14:creationId xmlns:p14="http://schemas.microsoft.com/office/powerpoint/2010/main" val="3244249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16E46-5FED-0D5A-A077-8EB0F4ACC01A}"/>
            </a:ext>
          </a:extLst>
        </p:cNvPr>
        <p:cNvGrpSpPr/>
        <p:nvPr/>
      </p:nvGrpSpPr>
      <p:grpSpPr>
        <a:xfrm>
          <a:off x="0" y="0"/>
          <a:ext cx="0" cy="0"/>
          <a:chOff x="0" y="0"/>
          <a:chExt cx="0" cy="0"/>
        </a:xfrm>
      </p:grpSpPr>
      <p:sp>
        <p:nvSpPr>
          <p:cNvPr id="2" name="Title 40">
            <a:extLst>
              <a:ext uri="{FF2B5EF4-FFF2-40B4-BE49-F238E27FC236}">
                <a16:creationId xmlns:a16="http://schemas.microsoft.com/office/drawing/2014/main" id="{DAF62EEE-23A3-5ABF-71D5-0C0AF7281CD8}"/>
              </a:ext>
            </a:extLst>
          </p:cNvPr>
          <p:cNvSpPr txBox="1">
            <a:spLocks/>
          </p:cNvSpPr>
          <p:nvPr/>
        </p:nvSpPr>
        <p:spPr>
          <a:xfrm>
            <a:off x="158261" y="222463"/>
            <a:ext cx="12033740" cy="67700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rgbClr val="000000"/>
                </a:solidFill>
                <a:latin typeface="Inter"/>
                <a:ea typeface="+mn-ea"/>
                <a:cs typeface="+mn-cs"/>
              </a:rPr>
              <a:t>Present value of an annuity due </a:t>
            </a:r>
          </a:p>
        </p:txBody>
      </p:sp>
      <p:sp>
        <p:nvSpPr>
          <p:cNvPr id="4" name="TextBox 3">
            <a:extLst>
              <a:ext uri="{FF2B5EF4-FFF2-40B4-BE49-F238E27FC236}">
                <a16:creationId xmlns:a16="http://schemas.microsoft.com/office/drawing/2014/main" id="{028D0934-5B66-BC63-F1AE-F1CA9B4A08F9}"/>
              </a:ext>
            </a:extLst>
          </p:cNvPr>
          <p:cNvSpPr txBox="1"/>
          <p:nvPr/>
        </p:nvSpPr>
        <p:spPr>
          <a:xfrm>
            <a:off x="2479251" y="1507444"/>
            <a:ext cx="6108568" cy="584775"/>
          </a:xfrm>
          <a:prstGeom prst="rect">
            <a:avLst/>
          </a:prstGeom>
          <a:noFill/>
        </p:spPr>
        <p:txBody>
          <a:bodyPr wrap="square">
            <a:spAutoFit/>
          </a:bodyPr>
          <a:lstStyle/>
          <a:p>
            <a:r>
              <a:rPr lang="en-US" sz="3200" b="1" dirty="0" err="1"/>
              <a:t>PVA</a:t>
            </a:r>
            <a:r>
              <a:rPr lang="en-US" sz="3200" b="1" baseline="-25000" dirty="0" err="1"/>
              <a:t>due</a:t>
            </a:r>
            <a:r>
              <a:rPr lang="en-US" sz="3200" b="1" dirty="0"/>
              <a:t> = </a:t>
            </a:r>
            <a:r>
              <a:rPr lang="en-US" sz="3200" b="1" dirty="0" err="1"/>
              <a:t>PVA</a:t>
            </a:r>
            <a:r>
              <a:rPr lang="en-US" sz="3200" b="1" baseline="-25000" dirty="0" err="1"/>
              <a:t>ord</a:t>
            </a:r>
            <a:r>
              <a:rPr lang="en-US" sz="3200" b="1" dirty="0"/>
              <a:t>(1 + I) </a:t>
            </a:r>
          </a:p>
        </p:txBody>
      </p:sp>
      <p:sp>
        <p:nvSpPr>
          <p:cNvPr id="5" name="TextBox 4">
            <a:extLst>
              <a:ext uri="{FF2B5EF4-FFF2-40B4-BE49-F238E27FC236}">
                <a16:creationId xmlns:a16="http://schemas.microsoft.com/office/drawing/2014/main" id="{4C440F60-1A25-EE95-FD8F-763BFB48D347}"/>
              </a:ext>
            </a:extLst>
          </p:cNvPr>
          <p:cNvSpPr txBox="1"/>
          <p:nvPr/>
        </p:nvSpPr>
        <p:spPr>
          <a:xfrm>
            <a:off x="2554665" y="2638638"/>
            <a:ext cx="6108568" cy="1241365"/>
          </a:xfrm>
          <a:prstGeom prst="rect">
            <a:avLst/>
          </a:prstGeom>
          <a:noFill/>
        </p:spPr>
        <p:txBody>
          <a:bodyPr wrap="square">
            <a:spAutoFit/>
          </a:bodyPr>
          <a:lstStyle/>
          <a:p>
            <a:r>
              <a:rPr lang="en-US" sz="2800" dirty="0" err="1"/>
              <a:t>PVA</a:t>
            </a:r>
            <a:r>
              <a:rPr lang="en-US" sz="2800" baseline="-25000" dirty="0" err="1"/>
              <a:t>ord</a:t>
            </a:r>
            <a:r>
              <a:rPr lang="en-US" sz="2800" baseline="-25000" dirty="0"/>
              <a:t> </a:t>
            </a:r>
            <a:r>
              <a:rPr lang="en-US" sz="2800" dirty="0"/>
              <a:t>= PV of Ordinary Annuity </a:t>
            </a:r>
          </a:p>
          <a:p>
            <a:endParaRPr lang="en-US" sz="2800" baseline="-25000" dirty="0"/>
          </a:p>
          <a:p>
            <a:r>
              <a:rPr lang="en-US" sz="2800" dirty="0"/>
              <a:t>I =  Interest rate </a:t>
            </a:r>
          </a:p>
        </p:txBody>
      </p:sp>
      <p:sp>
        <p:nvSpPr>
          <p:cNvPr id="6" name="TextBox 5">
            <a:extLst>
              <a:ext uri="{FF2B5EF4-FFF2-40B4-BE49-F238E27FC236}">
                <a16:creationId xmlns:a16="http://schemas.microsoft.com/office/drawing/2014/main" id="{0D36661D-E478-3FF2-7239-D6A0C1DB8D97}"/>
              </a:ext>
            </a:extLst>
          </p:cNvPr>
          <p:cNvSpPr txBox="1"/>
          <p:nvPr/>
        </p:nvSpPr>
        <p:spPr>
          <a:xfrm>
            <a:off x="591895" y="4426422"/>
            <a:ext cx="9400518" cy="1261884"/>
          </a:xfrm>
          <a:prstGeom prst="rect">
            <a:avLst/>
          </a:prstGeom>
          <a:noFill/>
        </p:spPr>
        <p:txBody>
          <a:bodyPr wrap="square">
            <a:spAutoFit/>
          </a:bodyPr>
          <a:lstStyle/>
          <a:p>
            <a:pPr algn="just"/>
            <a:r>
              <a:rPr lang="en-US" sz="2400" dirty="0"/>
              <a:t>Referring last example:</a:t>
            </a:r>
          </a:p>
          <a:p>
            <a:pPr algn="just"/>
            <a:endParaRPr lang="en-US" sz="2400" dirty="0"/>
          </a:p>
          <a:p>
            <a:pPr algn="just"/>
            <a:r>
              <a:rPr lang="en-US" sz="2400" b="1" dirty="0" err="1"/>
              <a:t>PVA</a:t>
            </a:r>
            <a:r>
              <a:rPr lang="en-US" sz="2400" b="1" baseline="-25000" dirty="0" err="1"/>
              <a:t>due</a:t>
            </a:r>
            <a:r>
              <a:rPr lang="en-US" sz="2400" b="1" baseline="-25000" dirty="0"/>
              <a:t>    </a:t>
            </a:r>
            <a:r>
              <a:rPr lang="en-US" sz="2800" dirty="0"/>
              <a:t>= $3791 X 1.1 = $4170.10</a:t>
            </a:r>
          </a:p>
        </p:txBody>
      </p:sp>
    </p:spTree>
    <p:extLst>
      <p:ext uri="{BB962C8B-B14F-4D97-AF65-F5344CB8AC3E}">
        <p14:creationId xmlns:p14="http://schemas.microsoft.com/office/powerpoint/2010/main" val="3254930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DBFC2-906F-5BDA-A832-0C14659F6320}"/>
            </a:ext>
          </a:extLst>
        </p:cNvPr>
        <p:cNvGrpSpPr/>
        <p:nvPr/>
      </p:nvGrpSpPr>
      <p:grpSpPr>
        <a:xfrm>
          <a:off x="0" y="0"/>
          <a:ext cx="0" cy="0"/>
          <a:chOff x="0" y="0"/>
          <a:chExt cx="0" cy="0"/>
        </a:xfrm>
      </p:grpSpPr>
      <p:sp>
        <p:nvSpPr>
          <p:cNvPr id="2" name="Title 40">
            <a:extLst>
              <a:ext uri="{FF2B5EF4-FFF2-40B4-BE49-F238E27FC236}">
                <a16:creationId xmlns:a16="http://schemas.microsoft.com/office/drawing/2014/main" id="{07541D13-3071-3E10-0C20-6CC2CA12025E}"/>
              </a:ext>
            </a:extLst>
          </p:cNvPr>
          <p:cNvSpPr txBox="1">
            <a:spLocks/>
          </p:cNvSpPr>
          <p:nvPr/>
        </p:nvSpPr>
        <p:spPr>
          <a:xfrm>
            <a:off x="158261" y="222463"/>
            <a:ext cx="12033740" cy="67700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rgbClr val="000000"/>
                </a:solidFill>
                <a:latin typeface="Inter"/>
                <a:ea typeface="+mn-ea"/>
                <a:cs typeface="+mn-cs"/>
              </a:rPr>
              <a:t>Future value of an annuity </a:t>
            </a:r>
          </a:p>
        </p:txBody>
      </p:sp>
      <p:pic>
        <p:nvPicPr>
          <p:cNvPr id="4" name="Picture 3">
            <a:extLst>
              <a:ext uri="{FF2B5EF4-FFF2-40B4-BE49-F238E27FC236}">
                <a16:creationId xmlns:a16="http://schemas.microsoft.com/office/drawing/2014/main" id="{C20AE25C-4003-78A8-9ED0-42B991FD7E20}"/>
              </a:ext>
            </a:extLst>
          </p:cNvPr>
          <p:cNvPicPr>
            <a:picLocks noChangeAspect="1"/>
          </p:cNvPicPr>
          <p:nvPr/>
        </p:nvPicPr>
        <p:blipFill>
          <a:blip r:embed="rId2"/>
          <a:stretch>
            <a:fillRect/>
          </a:stretch>
        </p:blipFill>
        <p:spPr>
          <a:xfrm>
            <a:off x="2399116" y="1462492"/>
            <a:ext cx="7065396" cy="1815610"/>
          </a:xfrm>
          <a:prstGeom prst="rect">
            <a:avLst/>
          </a:prstGeom>
        </p:spPr>
      </p:pic>
      <p:sp>
        <p:nvSpPr>
          <p:cNvPr id="6" name="TextBox 5">
            <a:extLst>
              <a:ext uri="{FF2B5EF4-FFF2-40B4-BE49-F238E27FC236}">
                <a16:creationId xmlns:a16="http://schemas.microsoft.com/office/drawing/2014/main" id="{2481FB7C-4829-2502-B15B-0493FCEFAA7F}"/>
              </a:ext>
            </a:extLst>
          </p:cNvPr>
          <p:cNvSpPr txBox="1"/>
          <p:nvPr/>
        </p:nvSpPr>
        <p:spPr>
          <a:xfrm>
            <a:off x="697583" y="3841124"/>
            <a:ext cx="10642861" cy="1384995"/>
          </a:xfrm>
          <a:prstGeom prst="rect">
            <a:avLst/>
          </a:prstGeom>
          <a:noFill/>
        </p:spPr>
        <p:txBody>
          <a:bodyPr wrap="square">
            <a:spAutoFit/>
          </a:bodyPr>
          <a:lstStyle/>
          <a:p>
            <a:pPr algn="just"/>
            <a:r>
              <a:rPr lang="en-US" sz="2800" dirty="0"/>
              <a:t>This is the equation on you would use to determine how much money you will accumulate at a future point in me if you set aside a constant amount each period. </a:t>
            </a:r>
          </a:p>
        </p:txBody>
      </p:sp>
    </p:spTree>
    <p:extLst>
      <p:ext uri="{BB962C8B-B14F-4D97-AF65-F5344CB8AC3E}">
        <p14:creationId xmlns:p14="http://schemas.microsoft.com/office/powerpoint/2010/main" val="2306506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F35EA-9B3A-E509-840D-7A1029710E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B0649B-4E86-EA8A-3EDC-EBFF2D90968F}"/>
              </a:ext>
            </a:extLst>
          </p:cNvPr>
          <p:cNvSpPr txBox="1"/>
          <p:nvPr/>
        </p:nvSpPr>
        <p:spPr>
          <a:xfrm>
            <a:off x="765927" y="1112611"/>
            <a:ext cx="10895030" cy="954107"/>
          </a:xfrm>
          <a:prstGeom prst="rect">
            <a:avLst/>
          </a:prstGeom>
          <a:noFill/>
        </p:spPr>
        <p:txBody>
          <a:bodyPr wrap="square">
            <a:spAutoFit/>
          </a:bodyPr>
          <a:lstStyle/>
          <a:p>
            <a:pPr algn="just"/>
            <a:r>
              <a:rPr lang="en-US" sz="2800" dirty="0"/>
              <a:t>Thus, the future value of $1,000 at the end of each year for the next five years, at the end of the fi h year is (assuming a 10% discount rate) - </a:t>
            </a:r>
          </a:p>
        </p:txBody>
      </p:sp>
      <p:sp>
        <p:nvSpPr>
          <p:cNvPr id="4" name="Title 40">
            <a:extLst>
              <a:ext uri="{FF2B5EF4-FFF2-40B4-BE49-F238E27FC236}">
                <a16:creationId xmlns:a16="http://schemas.microsoft.com/office/drawing/2014/main" id="{1600E3AF-1A4B-1601-78B7-63192E8CEACB}"/>
              </a:ext>
            </a:extLst>
          </p:cNvPr>
          <p:cNvSpPr txBox="1">
            <a:spLocks/>
          </p:cNvSpPr>
          <p:nvPr/>
        </p:nvSpPr>
        <p:spPr>
          <a:xfrm>
            <a:off x="158261" y="222463"/>
            <a:ext cx="12033740" cy="67700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rgbClr val="000000"/>
                </a:solidFill>
                <a:latin typeface="Inter"/>
                <a:ea typeface="+mn-ea"/>
                <a:cs typeface="+mn-cs"/>
              </a:rPr>
              <a:t>Example</a:t>
            </a:r>
          </a:p>
        </p:txBody>
      </p:sp>
      <p:pic>
        <p:nvPicPr>
          <p:cNvPr id="6" name="Picture 5">
            <a:extLst>
              <a:ext uri="{FF2B5EF4-FFF2-40B4-BE49-F238E27FC236}">
                <a16:creationId xmlns:a16="http://schemas.microsoft.com/office/drawing/2014/main" id="{F37016CE-E44B-83DF-5F11-243E1084321F}"/>
              </a:ext>
            </a:extLst>
          </p:cNvPr>
          <p:cNvPicPr>
            <a:picLocks noChangeAspect="1"/>
          </p:cNvPicPr>
          <p:nvPr/>
        </p:nvPicPr>
        <p:blipFill>
          <a:blip r:embed="rId2"/>
          <a:stretch>
            <a:fillRect/>
          </a:stretch>
        </p:blipFill>
        <p:spPr>
          <a:xfrm>
            <a:off x="1236817" y="2922309"/>
            <a:ext cx="9340057" cy="2016585"/>
          </a:xfrm>
          <a:prstGeom prst="rect">
            <a:avLst/>
          </a:prstGeom>
        </p:spPr>
      </p:pic>
    </p:spTree>
    <p:extLst>
      <p:ext uri="{BB962C8B-B14F-4D97-AF65-F5344CB8AC3E}">
        <p14:creationId xmlns:p14="http://schemas.microsoft.com/office/powerpoint/2010/main" val="3655071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90A27-23FF-6F68-57A3-B335984A181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DA6F71-E447-2D2F-297A-10190276DA6C}"/>
              </a:ext>
            </a:extLst>
          </p:cNvPr>
          <p:cNvSpPr txBox="1"/>
          <p:nvPr/>
        </p:nvSpPr>
        <p:spPr>
          <a:xfrm>
            <a:off x="238027" y="324381"/>
            <a:ext cx="6094428" cy="630942"/>
          </a:xfrm>
          <a:prstGeom prst="rect">
            <a:avLst/>
          </a:prstGeom>
          <a:noFill/>
        </p:spPr>
        <p:txBody>
          <a:bodyPr wrap="square">
            <a:spAutoFit/>
          </a:bodyPr>
          <a:lstStyle/>
          <a:p>
            <a:r>
              <a:rPr lang="en-US" sz="3500" b="1" dirty="0">
                <a:solidFill>
                  <a:srgbClr val="000000"/>
                </a:solidFill>
                <a:latin typeface="Inter"/>
              </a:rPr>
              <a:t>Annuity, given Future Value </a:t>
            </a:r>
          </a:p>
        </p:txBody>
      </p:sp>
      <p:pic>
        <p:nvPicPr>
          <p:cNvPr id="4" name="Picture 3">
            <a:extLst>
              <a:ext uri="{FF2B5EF4-FFF2-40B4-BE49-F238E27FC236}">
                <a16:creationId xmlns:a16="http://schemas.microsoft.com/office/drawing/2014/main" id="{226FC13F-4068-2ED5-D9A7-32D5676BA718}"/>
              </a:ext>
            </a:extLst>
          </p:cNvPr>
          <p:cNvPicPr>
            <a:picLocks noChangeAspect="1"/>
          </p:cNvPicPr>
          <p:nvPr/>
        </p:nvPicPr>
        <p:blipFill>
          <a:blip r:embed="rId2"/>
          <a:stretch>
            <a:fillRect/>
          </a:stretch>
        </p:blipFill>
        <p:spPr>
          <a:xfrm>
            <a:off x="961533" y="2083104"/>
            <a:ext cx="9700182" cy="2375773"/>
          </a:xfrm>
          <a:prstGeom prst="rect">
            <a:avLst/>
          </a:prstGeom>
        </p:spPr>
      </p:pic>
    </p:spTree>
    <p:extLst>
      <p:ext uri="{BB962C8B-B14F-4D97-AF65-F5344CB8AC3E}">
        <p14:creationId xmlns:p14="http://schemas.microsoft.com/office/powerpoint/2010/main" val="2884716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E26DC-0584-6E8A-F419-99AF46B8287D}"/>
            </a:ext>
          </a:extLst>
        </p:cNvPr>
        <p:cNvGrpSpPr/>
        <p:nvPr/>
      </p:nvGrpSpPr>
      <p:grpSpPr>
        <a:xfrm>
          <a:off x="0" y="0"/>
          <a:ext cx="0" cy="0"/>
          <a:chOff x="0" y="0"/>
          <a:chExt cx="0" cy="0"/>
        </a:xfrm>
      </p:grpSpPr>
      <p:sp>
        <p:nvSpPr>
          <p:cNvPr id="2" name="Title 40">
            <a:extLst>
              <a:ext uri="{FF2B5EF4-FFF2-40B4-BE49-F238E27FC236}">
                <a16:creationId xmlns:a16="http://schemas.microsoft.com/office/drawing/2014/main" id="{53D4D833-E607-B699-39F5-3D0B2EA90EB9}"/>
              </a:ext>
            </a:extLst>
          </p:cNvPr>
          <p:cNvSpPr txBox="1">
            <a:spLocks/>
          </p:cNvSpPr>
          <p:nvPr/>
        </p:nvSpPr>
        <p:spPr>
          <a:xfrm>
            <a:off x="158261" y="222463"/>
            <a:ext cx="12033740" cy="67700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rgbClr val="000000"/>
                </a:solidFill>
                <a:latin typeface="Inter"/>
                <a:ea typeface="+mn-ea"/>
                <a:cs typeface="+mn-cs"/>
              </a:rPr>
              <a:t>Future value of an annuity due </a:t>
            </a:r>
          </a:p>
        </p:txBody>
      </p:sp>
      <p:sp>
        <p:nvSpPr>
          <p:cNvPr id="4" name="TextBox 3">
            <a:extLst>
              <a:ext uri="{FF2B5EF4-FFF2-40B4-BE49-F238E27FC236}">
                <a16:creationId xmlns:a16="http://schemas.microsoft.com/office/drawing/2014/main" id="{DC0F0DEF-EAAD-8AED-55B6-E605738435E9}"/>
              </a:ext>
            </a:extLst>
          </p:cNvPr>
          <p:cNvSpPr txBox="1"/>
          <p:nvPr/>
        </p:nvSpPr>
        <p:spPr>
          <a:xfrm>
            <a:off x="2479251" y="1507444"/>
            <a:ext cx="6108568" cy="584775"/>
          </a:xfrm>
          <a:prstGeom prst="rect">
            <a:avLst/>
          </a:prstGeom>
          <a:noFill/>
        </p:spPr>
        <p:txBody>
          <a:bodyPr wrap="square">
            <a:spAutoFit/>
          </a:bodyPr>
          <a:lstStyle/>
          <a:p>
            <a:r>
              <a:rPr lang="en-US" sz="3200" b="1" dirty="0" err="1"/>
              <a:t>FVA</a:t>
            </a:r>
            <a:r>
              <a:rPr lang="en-US" sz="3200" b="1" baseline="-25000" dirty="0" err="1"/>
              <a:t>due</a:t>
            </a:r>
            <a:r>
              <a:rPr lang="en-US" sz="3200" b="1" dirty="0"/>
              <a:t> = </a:t>
            </a:r>
            <a:r>
              <a:rPr lang="en-US" sz="3200" b="1" dirty="0" err="1"/>
              <a:t>FVA</a:t>
            </a:r>
            <a:r>
              <a:rPr lang="en-US" sz="3200" b="1" baseline="-25000" dirty="0" err="1"/>
              <a:t>ord</a:t>
            </a:r>
            <a:r>
              <a:rPr lang="en-US" sz="3200" b="1" dirty="0"/>
              <a:t>(1 + I) </a:t>
            </a:r>
          </a:p>
        </p:txBody>
      </p:sp>
      <p:sp>
        <p:nvSpPr>
          <p:cNvPr id="5" name="TextBox 4">
            <a:extLst>
              <a:ext uri="{FF2B5EF4-FFF2-40B4-BE49-F238E27FC236}">
                <a16:creationId xmlns:a16="http://schemas.microsoft.com/office/drawing/2014/main" id="{5C2922A3-E356-41A1-AA65-6C4DE7C864C6}"/>
              </a:ext>
            </a:extLst>
          </p:cNvPr>
          <p:cNvSpPr txBox="1"/>
          <p:nvPr/>
        </p:nvSpPr>
        <p:spPr>
          <a:xfrm>
            <a:off x="2554665" y="2638638"/>
            <a:ext cx="6108568" cy="1241365"/>
          </a:xfrm>
          <a:prstGeom prst="rect">
            <a:avLst/>
          </a:prstGeom>
          <a:noFill/>
        </p:spPr>
        <p:txBody>
          <a:bodyPr wrap="square">
            <a:spAutoFit/>
          </a:bodyPr>
          <a:lstStyle/>
          <a:p>
            <a:r>
              <a:rPr lang="en-US" sz="2800" dirty="0" err="1"/>
              <a:t>FVA</a:t>
            </a:r>
            <a:r>
              <a:rPr lang="en-US" sz="2800" baseline="-25000" dirty="0" err="1"/>
              <a:t>ord</a:t>
            </a:r>
            <a:r>
              <a:rPr lang="en-US" sz="2800" baseline="-25000" dirty="0"/>
              <a:t> </a:t>
            </a:r>
            <a:r>
              <a:rPr lang="en-US" sz="2800" dirty="0"/>
              <a:t>= FV of Ordinary Annuity </a:t>
            </a:r>
          </a:p>
          <a:p>
            <a:endParaRPr lang="en-US" sz="2800" baseline="-25000" dirty="0"/>
          </a:p>
          <a:p>
            <a:r>
              <a:rPr lang="en-US" sz="2800" dirty="0"/>
              <a:t>I =  Interest rate </a:t>
            </a:r>
          </a:p>
        </p:txBody>
      </p:sp>
      <p:sp>
        <p:nvSpPr>
          <p:cNvPr id="6" name="TextBox 5">
            <a:extLst>
              <a:ext uri="{FF2B5EF4-FFF2-40B4-BE49-F238E27FC236}">
                <a16:creationId xmlns:a16="http://schemas.microsoft.com/office/drawing/2014/main" id="{B3505B49-E51A-3EA2-7237-A49BB761FC80}"/>
              </a:ext>
            </a:extLst>
          </p:cNvPr>
          <p:cNvSpPr txBox="1"/>
          <p:nvPr/>
        </p:nvSpPr>
        <p:spPr>
          <a:xfrm>
            <a:off x="591895" y="4426422"/>
            <a:ext cx="9400518" cy="1261884"/>
          </a:xfrm>
          <a:prstGeom prst="rect">
            <a:avLst/>
          </a:prstGeom>
          <a:noFill/>
        </p:spPr>
        <p:txBody>
          <a:bodyPr wrap="square">
            <a:spAutoFit/>
          </a:bodyPr>
          <a:lstStyle/>
          <a:p>
            <a:pPr algn="just"/>
            <a:r>
              <a:rPr lang="en-US" sz="2400" dirty="0"/>
              <a:t>Referring last example:</a:t>
            </a:r>
          </a:p>
          <a:p>
            <a:pPr algn="just"/>
            <a:endParaRPr lang="en-US" sz="2400" dirty="0"/>
          </a:p>
          <a:p>
            <a:pPr algn="just"/>
            <a:r>
              <a:rPr lang="en-US" sz="2400" b="1" dirty="0" err="1"/>
              <a:t>FVA</a:t>
            </a:r>
            <a:r>
              <a:rPr lang="en-US" sz="2400" b="1" baseline="-25000" dirty="0" err="1"/>
              <a:t>due</a:t>
            </a:r>
            <a:r>
              <a:rPr lang="en-US" sz="2400" b="1" baseline="-25000" dirty="0"/>
              <a:t>    </a:t>
            </a:r>
            <a:r>
              <a:rPr lang="en-US" sz="2800" dirty="0"/>
              <a:t>= $6105 X 1.1 = $6715.50</a:t>
            </a:r>
          </a:p>
        </p:txBody>
      </p:sp>
    </p:spTree>
    <p:extLst>
      <p:ext uri="{BB962C8B-B14F-4D97-AF65-F5344CB8AC3E}">
        <p14:creationId xmlns:p14="http://schemas.microsoft.com/office/powerpoint/2010/main" val="950798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52E93-BF6F-4DC9-ABC3-CA174B8402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6D209B-372B-2391-DC06-9C88F7B6DC34}"/>
              </a:ext>
            </a:extLst>
          </p:cNvPr>
          <p:cNvSpPr txBox="1"/>
          <p:nvPr/>
        </p:nvSpPr>
        <p:spPr>
          <a:xfrm>
            <a:off x="379429" y="428076"/>
            <a:ext cx="6094428" cy="630942"/>
          </a:xfrm>
          <a:prstGeom prst="rect">
            <a:avLst/>
          </a:prstGeom>
          <a:noFill/>
        </p:spPr>
        <p:txBody>
          <a:bodyPr wrap="square">
            <a:spAutoFit/>
          </a:bodyPr>
          <a:lstStyle/>
          <a:p>
            <a:r>
              <a:rPr lang="en-US" sz="3500" b="1" dirty="0">
                <a:solidFill>
                  <a:srgbClr val="000000"/>
                </a:solidFill>
                <a:latin typeface="Inter"/>
              </a:rPr>
              <a:t>Growing Annuity </a:t>
            </a:r>
          </a:p>
        </p:txBody>
      </p:sp>
      <p:sp>
        <p:nvSpPr>
          <p:cNvPr id="5" name="TextBox 4">
            <a:extLst>
              <a:ext uri="{FF2B5EF4-FFF2-40B4-BE49-F238E27FC236}">
                <a16:creationId xmlns:a16="http://schemas.microsoft.com/office/drawing/2014/main" id="{068CB31F-5EEB-FF64-B620-69601E409FDA}"/>
              </a:ext>
            </a:extLst>
          </p:cNvPr>
          <p:cNvSpPr txBox="1"/>
          <p:nvPr/>
        </p:nvSpPr>
        <p:spPr>
          <a:xfrm>
            <a:off x="445416" y="1379464"/>
            <a:ext cx="11328661" cy="1384995"/>
          </a:xfrm>
          <a:prstGeom prst="rect">
            <a:avLst/>
          </a:prstGeom>
          <a:noFill/>
        </p:spPr>
        <p:txBody>
          <a:bodyPr wrap="square">
            <a:spAutoFit/>
          </a:bodyPr>
          <a:lstStyle/>
          <a:p>
            <a:pPr algn="just"/>
            <a:r>
              <a:rPr lang="en-US" sz="2800" dirty="0"/>
              <a:t>A growing annuity is a cash flow growing at a constant rate for a specified period of me. If A is the current cash flow, and g is the expected growth rate, the me line for a growing annuity looks as follows – </a:t>
            </a:r>
          </a:p>
        </p:txBody>
      </p:sp>
      <p:pic>
        <p:nvPicPr>
          <p:cNvPr id="7" name="Picture 6">
            <a:extLst>
              <a:ext uri="{FF2B5EF4-FFF2-40B4-BE49-F238E27FC236}">
                <a16:creationId xmlns:a16="http://schemas.microsoft.com/office/drawing/2014/main" id="{DF182595-ABD5-1A32-E700-7D426CE503E5}"/>
              </a:ext>
            </a:extLst>
          </p:cNvPr>
          <p:cNvPicPr>
            <a:picLocks noChangeAspect="1"/>
          </p:cNvPicPr>
          <p:nvPr/>
        </p:nvPicPr>
        <p:blipFill>
          <a:blip r:embed="rId2"/>
          <a:stretch>
            <a:fillRect/>
          </a:stretch>
        </p:blipFill>
        <p:spPr>
          <a:xfrm>
            <a:off x="2588932" y="3429000"/>
            <a:ext cx="6373114" cy="1124107"/>
          </a:xfrm>
          <a:prstGeom prst="rect">
            <a:avLst/>
          </a:prstGeom>
        </p:spPr>
      </p:pic>
    </p:spTree>
    <p:extLst>
      <p:ext uri="{BB962C8B-B14F-4D97-AF65-F5344CB8AC3E}">
        <p14:creationId xmlns:p14="http://schemas.microsoft.com/office/powerpoint/2010/main" val="803555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A9ACE-79A5-2247-CE3B-B20D6F4821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9350E2-D1DE-ED11-8262-1561DBDB31A4}"/>
              </a:ext>
            </a:extLst>
          </p:cNvPr>
          <p:cNvSpPr txBox="1"/>
          <p:nvPr/>
        </p:nvSpPr>
        <p:spPr>
          <a:xfrm>
            <a:off x="370001" y="446929"/>
            <a:ext cx="8406353" cy="630942"/>
          </a:xfrm>
          <a:prstGeom prst="rect">
            <a:avLst/>
          </a:prstGeom>
          <a:noFill/>
        </p:spPr>
        <p:txBody>
          <a:bodyPr wrap="square">
            <a:spAutoFit/>
          </a:bodyPr>
          <a:lstStyle/>
          <a:p>
            <a:r>
              <a:rPr lang="en-US" sz="3500" b="1" dirty="0">
                <a:solidFill>
                  <a:srgbClr val="000000"/>
                </a:solidFill>
                <a:latin typeface="Inter"/>
              </a:rPr>
              <a:t>Present Value of a Growing Annuity </a:t>
            </a:r>
          </a:p>
        </p:txBody>
      </p:sp>
      <p:pic>
        <p:nvPicPr>
          <p:cNvPr id="5" name="Picture 4">
            <a:extLst>
              <a:ext uri="{FF2B5EF4-FFF2-40B4-BE49-F238E27FC236}">
                <a16:creationId xmlns:a16="http://schemas.microsoft.com/office/drawing/2014/main" id="{41B6DC7A-DE16-567D-255B-B8ECBA79BF95}"/>
              </a:ext>
            </a:extLst>
          </p:cNvPr>
          <p:cNvPicPr>
            <a:picLocks noChangeAspect="1"/>
          </p:cNvPicPr>
          <p:nvPr/>
        </p:nvPicPr>
        <p:blipFill>
          <a:blip r:embed="rId2"/>
          <a:stretch>
            <a:fillRect/>
          </a:stretch>
        </p:blipFill>
        <p:spPr>
          <a:xfrm>
            <a:off x="1631762" y="2077469"/>
            <a:ext cx="8928475" cy="2437970"/>
          </a:xfrm>
          <a:prstGeom prst="rect">
            <a:avLst/>
          </a:prstGeom>
        </p:spPr>
      </p:pic>
    </p:spTree>
    <p:extLst>
      <p:ext uri="{BB962C8B-B14F-4D97-AF65-F5344CB8AC3E}">
        <p14:creationId xmlns:p14="http://schemas.microsoft.com/office/powerpoint/2010/main" val="3002615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3BD8E-BEBE-210E-51FE-6D72380F40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3F8DBC-24CD-CCFA-1759-4B10C6DCD519}"/>
              </a:ext>
            </a:extLst>
          </p:cNvPr>
          <p:cNvSpPr txBox="1"/>
          <p:nvPr/>
        </p:nvSpPr>
        <p:spPr>
          <a:xfrm>
            <a:off x="370001" y="446929"/>
            <a:ext cx="8406353" cy="630942"/>
          </a:xfrm>
          <a:prstGeom prst="rect">
            <a:avLst/>
          </a:prstGeom>
          <a:noFill/>
        </p:spPr>
        <p:txBody>
          <a:bodyPr wrap="square">
            <a:spAutoFit/>
          </a:bodyPr>
          <a:lstStyle/>
          <a:p>
            <a:r>
              <a:rPr lang="en-US" sz="3500" b="1" dirty="0">
                <a:solidFill>
                  <a:srgbClr val="000000"/>
                </a:solidFill>
                <a:latin typeface="Inter"/>
              </a:rPr>
              <a:t>Example: The Value of a Gold Mine</a:t>
            </a:r>
          </a:p>
        </p:txBody>
      </p:sp>
      <p:sp>
        <p:nvSpPr>
          <p:cNvPr id="6" name="TextBox 5">
            <a:extLst>
              <a:ext uri="{FF2B5EF4-FFF2-40B4-BE49-F238E27FC236}">
                <a16:creationId xmlns:a16="http://schemas.microsoft.com/office/drawing/2014/main" id="{F21F9395-721B-C7D1-843F-4B21754D3A20}"/>
              </a:ext>
            </a:extLst>
          </p:cNvPr>
          <p:cNvSpPr txBox="1"/>
          <p:nvPr/>
        </p:nvSpPr>
        <p:spPr>
          <a:xfrm>
            <a:off x="370001" y="1182231"/>
            <a:ext cx="11620892" cy="2246769"/>
          </a:xfrm>
          <a:prstGeom prst="rect">
            <a:avLst/>
          </a:prstGeom>
          <a:noFill/>
        </p:spPr>
        <p:txBody>
          <a:bodyPr wrap="square">
            <a:spAutoFit/>
          </a:bodyPr>
          <a:lstStyle/>
          <a:p>
            <a:pPr algn="just"/>
            <a:r>
              <a:rPr lang="en-US" sz="2800" dirty="0"/>
              <a:t>Consider the example of a gold mine, where you have the rights to the mine for the next 20 years, over which period you plan to extract 5,000 ounces of gold every year. The price per ounce is $300 currently, but it is expected to increase 3% a year. The appropriate discount rate is 10%. The present value of the gold that will be extracted from this mine can be estimated as follows – </a:t>
            </a:r>
          </a:p>
        </p:txBody>
      </p:sp>
      <p:pic>
        <p:nvPicPr>
          <p:cNvPr id="8" name="Picture 7">
            <a:extLst>
              <a:ext uri="{FF2B5EF4-FFF2-40B4-BE49-F238E27FC236}">
                <a16:creationId xmlns:a16="http://schemas.microsoft.com/office/drawing/2014/main" id="{73A2BB62-1762-3699-D53D-6384F0977D3A}"/>
              </a:ext>
            </a:extLst>
          </p:cNvPr>
          <p:cNvPicPr>
            <a:picLocks noChangeAspect="1"/>
          </p:cNvPicPr>
          <p:nvPr/>
        </p:nvPicPr>
        <p:blipFill>
          <a:blip r:embed="rId2"/>
          <a:stretch>
            <a:fillRect/>
          </a:stretch>
        </p:blipFill>
        <p:spPr>
          <a:xfrm>
            <a:off x="2146753" y="3826788"/>
            <a:ext cx="7106642" cy="1448002"/>
          </a:xfrm>
          <a:prstGeom prst="rect">
            <a:avLst/>
          </a:prstGeom>
        </p:spPr>
      </p:pic>
    </p:spTree>
    <p:extLst>
      <p:ext uri="{BB962C8B-B14F-4D97-AF65-F5344CB8AC3E}">
        <p14:creationId xmlns:p14="http://schemas.microsoft.com/office/powerpoint/2010/main" val="1661976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D850D-945B-C276-F725-2DE607D60A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BF067D-E0C9-5AA8-3ED2-EFEC83D8467A}"/>
              </a:ext>
            </a:extLst>
          </p:cNvPr>
          <p:cNvSpPr txBox="1"/>
          <p:nvPr/>
        </p:nvSpPr>
        <p:spPr>
          <a:xfrm>
            <a:off x="445418" y="428075"/>
            <a:ext cx="6094428" cy="630942"/>
          </a:xfrm>
          <a:prstGeom prst="rect">
            <a:avLst/>
          </a:prstGeom>
          <a:noFill/>
        </p:spPr>
        <p:txBody>
          <a:bodyPr wrap="square">
            <a:spAutoFit/>
          </a:bodyPr>
          <a:lstStyle/>
          <a:p>
            <a:r>
              <a:rPr lang="en-US" sz="3500" b="1" dirty="0">
                <a:solidFill>
                  <a:srgbClr val="000000"/>
                </a:solidFill>
                <a:latin typeface="Inter"/>
              </a:rPr>
              <a:t>Perpetuity </a:t>
            </a:r>
          </a:p>
        </p:txBody>
      </p:sp>
      <p:sp>
        <p:nvSpPr>
          <p:cNvPr id="5" name="TextBox 4">
            <a:extLst>
              <a:ext uri="{FF2B5EF4-FFF2-40B4-BE49-F238E27FC236}">
                <a16:creationId xmlns:a16="http://schemas.microsoft.com/office/drawing/2014/main" id="{096D6639-F780-F2B3-0E0E-779A0FBCC7A6}"/>
              </a:ext>
            </a:extLst>
          </p:cNvPr>
          <p:cNvSpPr txBox="1"/>
          <p:nvPr/>
        </p:nvSpPr>
        <p:spPr>
          <a:xfrm>
            <a:off x="445418" y="1552769"/>
            <a:ext cx="11470062" cy="954107"/>
          </a:xfrm>
          <a:prstGeom prst="rect">
            <a:avLst/>
          </a:prstGeom>
          <a:noFill/>
        </p:spPr>
        <p:txBody>
          <a:bodyPr wrap="square">
            <a:spAutoFit/>
          </a:bodyPr>
          <a:lstStyle/>
          <a:p>
            <a:r>
              <a:rPr lang="en-US" sz="2800" dirty="0"/>
              <a:t>A perpetuity is a constant cash flow at regular intervals forever . The present value of a perpetuity is- </a:t>
            </a:r>
          </a:p>
        </p:txBody>
      </p:sp>
      <p:pic>
        <p:nvPicPr>
          <p:cNvPr id="7" name="Picture 6">
            <a:extLst>
              <a:ext uri="{FF2B5EF4-FFF2-40B4-BE49-F238E27FC236}">
                <a16:creationId xmlns:a16="http://schemas.microsoft.com/office/drawing/2014/main" id="{CADEF348-E71F-7693-69EF-9EA48C1C6AB8}"/>
              </a:ext>
            </a:extLst>
          </p:cNvPr>
          <p:cNvPicPr>
            <a:picLocks noChangeAspect="1"/>
          </p:cNvPicPr>
          <p:nvPr/>
        </p:nvPicPr>
        <p:blipFill>
          <a:blip r:embed="rId2"/>
          <a:stretch>
            <a:fillRect/>
          </a:stretch>
        </p:blipFill>
        <p:spPr>
          <a:xfrm>
            <a:off x="3389952" y="2735370"/>
            <a:ext cx="5412095" cy="1761332"/>
          </a:xfrm>
          <a:prstGeom prst="rect">
            <a:avLst/>
          </a:prstGeom>
        </p:spPr>
      </p:pic>
    </p:spTree>
    <p:extLst>
      <p:ext uri="{BB962C8B-B14F-4D97-AF65-F5344CB8AC3E}">
        <p14:creationId xmlns:p14="http://schemas.microsoft.com/office/powerpoint/2010/main" val="2867009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CD51A-8203-296C-D9CB-C14AF3B5B8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0696BB-202C-3935-4834-01AD198A370A}"/>
              </a:ext>
            </a:extLst>
          </p:cNvPr>
          <p:cNvSpPr txBox="1"/>
          <p:nvPr/>
        </p:nvSpPr>
        <p:spPr>
          <a:xfrm>
            <a:off x="370001" y="446929"/>
            <a:ext cx="8406353" cy="630942"/>
          </a:xfrm>
          <a:prstGeom prst="rect">
            <a:avLst/>
          </a:prstGeom>
          <a:noFill/>
        </p:spPr>
        <p:txBody>
          <a:bodyPr wrap="square">
            <a:spAutoFit/>
          </a:bodyPr>
          <a:lstStyle/>
          <a:p>
            <a:r>
              <a:rPr lang="en-US" sz="3500" b="1" dirty="0">
                <a:solidFill>
                  <a:srgbClr val="000000"/>
                </a:solidFill>
                <a:latin typeface="Inter"/>
              </a:rPr>
              <a:t>Example: Valuing a Console Bond</a:t>
            </a:r>
          </a:p>
        </p:txBody>
      </p:sp>
      <p:sp>
        <p:nvSpPr>
          <p:cNvPr id="4" name="TextBox 3">
            <a:extLst>
              <a:ext uri="{FF2B5EF4-FFF2-40B4-BE49-F238E27FC236}">
                <a16:creationId xmlns:a16="http://schemas.microsoft.com/office/drawing/2014/main" id="{500A3838-5B63-8B3E-E518-6E5A0FF55EF8}"/>
              </a:ext>
            </a:extLst>
          </p:cNvPr>
          <p:cNvSpPr txBox="1"/>
          <p:nvPr/>
        </p:nvSpPr>
        <p:spPr>
          <a:xfrm>
            <a:off x="370001" y="1329427"/>
            <a:ext cx="11526626" cy="1200329"/>
          </a:xfrm>
          <a:prstGeom prst="rect">
            <a:avLst/>
          </a:prstGeom>
          <a:noFill/>
        </p:spPr>
        <p:txBody>
          <a:bodyPr wrap="square">
            <a:spAutoFit/>
          </a:bodyPr>
          <a:lstStyle/>
          <a:p>
            <a:pPr algn="just"/>
            <a:r>
              <a:rPr lang="en-US" sz="2400" dirty="0"/>
              <a:t>A console bond is a bond that has no maturity and pays a fixed coupon. Assume that you have a 6% coupon console bond. The value of this bond, if the interest rate is 9%, is as follows - </a:t>
            </a:r>
          </a:p>
        </p:txBody>
      </p:sp>
      <p:sp>
        <p:nvSpPr>
          <p:cNvPr id="6" name="TextBox 5">
            <a:extLst>
              <a:ext uri="{FF2B5EF4-FFF2-40B4-BE49-F238E27FC236}">
                <a16:creationId xmlns:a16="http://schemas.microsoft.com/office/drawing/2014/main" id="{A6F7878B-9112-C0D8-F7C3-5AFF8C167F78}"/>
              </a:ext>
            </a:extLst>
          </p:cNvPr>
          <p:cNvSpPr txBox="1"/>
          <p:nvPr/>
        </p:nvSpPr>
        <p:spPr>
          <a:xfrm>
            <a:off x="2434472" y="3429000"/>
            <a:ext cx="7529659" cy="584775"/>
          </a:xfrm>
          <a:prstGeom prst="rect">
            <a:avLst/>
          </a:prstGeom>
          <a:noFill/>
        </p:spPr>
        <p:txBody>
          <a:bodyPr wrap="square">
            <a:spAutoFit/>
          </a:bodyPr>
          <a:lstStyle/>
          <a:p>
            <a:r>
              <a:rPr lang="en-US" sz="3200" dirty="0"/>
              <a:t>Value of Console Bond = $60 / .09 = $667 </a:t>
            </a:r>
          </a:p>
        </p:txBody>
      </p:sp>
    </p:spTree>
    <p:extLst>
      <p:ext uri="{BB962C8B-B14F-4D97-AF65-F5344CB8AC3E}">
        <p14:creationId xmlns:p14="http://schemas.microsoft.com/office/powerpoint/2010/main" val="1958316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38C7F-2A68-99CF-A5CB-D9457DAD12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02CCBF-34C8-DC67-1DF3-AD57A39F6526}"/>
              </a:ext>
            </a:extLst>
          </p:cNvPr>
          <p:cNvSpPr txBox="1"/>
          <p:nvPr/>
        </p:nvSpPr>
        <p:spPr>
          <a:xfrm>
            <a:off x="304014" y="518474"/>
            <a:ext cx="6094428" cy="630942"/>
          </a:xfrm>
          <a:prstGeom prst="rect">
            <a:avLst/>
          </a:prstGeom>
          <a:noFill/>
        </p:spPr>
        <p:txBody>
          <a:bodyPr wrap="square">
            <a:spAutoFit/>
          </a:bodyPr>
          <a:lstStyle/>
          <a:p>
            <a:r>
              <a:rPr lang="en-US" sz="3500" b="1" dirty="0">
                <a:solidFill>
                  <a:srgbClr val="000000"/>
                </a:solidFill>
                <a:latin typeface="Inter"/>
              </a:rPr>
              <a:t>Growing Perpetuities</a:t>
            </a:r>
          </a:p>
        </p:txBody>
      </p:sp>
      <p:sp>
        <p:nvSpPr>
          <p:cNvPr id="5" name="TextBox 4">
            <a:extLst>
              <a:ext uri="{FF2B5EF4-FFF2-40B4-BE49-F238E27FC236}">
                <a16:creationId xmlns:a16="http://schemas.microsoft.com/office/drawing/2014/main" id="{03D42211-A615-D351-590F-4D1F198F83BB}"/>
              </a:ext>
            </a:extLst>
          </p:cNvPr>
          <p:cNvSpPr txBox="1"/>
          <p:nvPr/>
        </p:nvSpPr>
        <p:spPr>
          <a:xfrm>
            <a:off x="501978" y="1329427"/>
            <a:ext cx="11168406" cy="954107"/>
          </a:xfrm>
          <a:prstGeom prst="rect">
            <a:avLst/>
          </a:prstGeom>
          <a:noFill/>
        </p:spPr>
        <p:txBody>
          <a:bodyPr wrap="square">
            <a:spAutoFit/>
          </a:bodyPr>
          <a:lstStyle/>
          <a:p>
            <a:r>
              <a:rPr lang="en-US" sz="2800" dirty="0"/>
              <a:t>A growing perpetuity is a cash flow that is expected to grow at a constant rate forever. The present value of a growing perpetuity is -</a:t>
            </a:r>
          </a:p>
        </p:txBody>
      </p:sp>
      <p:pic>
        <p:nvPicPr>
          <p:cNvPr id="7" name="Picture 6">
            <a:extLst>
              <a:ext uri="{FF2B5EF4-FFF2-40B4-BE49-F238E27FC236}">
                <a16:creationId xmlns:a16="http://schemas.microsoft.com/office/drawing/2014/main" id="{318D7C99-43CE-0792-4B74-1A4AA990AF80}"/>
              </a:ext>
            </a:extLst>
          </p:cNvPr>
          <p:cNvPicPr>
            <a:picLocks noChangeAspect="1"/>
          </p:cNvPicPr>
          <p:nvPr/>
        </p:nvPicPr>
        <p:blipFill>
          <a:blip r:embed="rId2"/>
          <a:stretch>
            <a:fillRect/>
          </a:stretch>
        </p:blipFill>
        <p:spPr>
          <a:xfrm>
            <a:off x="2025683" y="2808964"/>
            <a:ext cx="7725853" cy="3200847"/>
          </a:xfrm>
          <a:prstGeom prst="rect">
            <a:avLst/>
          </a:prstGeom>
        </p:spPr>
      </p:pic>
    </p:spTree>
    <p:extLst>
      <p:ext uri="{BB962C8B-B14F-4D97-AF65-F5344CB8AC3E}">
        <p14:creationId xmlns:p14="http://schemas.microsoft.com/office/powerpoint/2010/main" val="17451120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28C21-404A-0F40-F740-BEC02751B7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012AD4-7159-B2EC-CA05-B80529378A22}"/>
              </a:ext>
            </a:extLst>
          </p:cNvPr>
          <p:cNvSpPr txBox="1"/>
          <p:nvPr/>
        </p:nvSpPr>
        <p:spPr>
          <a:xfrm>
            <a:off x="869623" y="214096"/>
            <a:ext cx="6094428" cy="630942"/>
          </a:xfrm>
          <a:prstGeom prst="rect">
            <a:avLst/>
          </a:prstGeom>
          <a:noFill/>
        </p:spPr>
        <p:txBody>
          <a:bodyPr wrap="square">
            <a:spAutoFit/>
          </a:bodyPr>
          <a:lstStyle/>
          <a:p>
            <a:r>
              <a:rPr lang="en-US" sz="3500" b="1" dirty="0">
                <a:solidFill>
                  <a:srgbClr val="000000"/>
                </a:solidFill>
                <a:latin typeface="Inter"/>
              </a:rPr>
              <a:t>#1 Problem</a:t>
            </a:r>
          </a:p>
        </p:txBody>
      </p:sp>
      <p:sp>
        <p:nvSpPr>
          <p:cNvPr id="4" name="TextBox 3">
            <a:extLst>
              <a:ext uri="{FF2B5EF4-FFF2-40B4-BE49-F238E27FC236}">
                <a16:creationId xmlns:a16="http://schemas.microsoft.com/office/drawing/2014/main" id="{2EC7D40C-E92B-79CD-59F9-64F25FE40674}"/>
              </a:ext>
            </a:extLst>
          </p:cNvPr>
          <p:cNvSpPr txBox="1"/>
          <p:nvPr/>
        </p:nvSpPr>
        <p:spPr>
          <a:xfrm>
            <a:off x="718793" y="1285196"/>
            <a:ext cx="10480249" cy="4832092"/>
          </a:xfrm>
          <a:prstGeom prst="rect">
            <a:avLst/>
          </a:prstGeom>
          <a:noFill/>
        </p:spPr>
        <p:txBody>
          <a:bodyPr wrap="square">
            <a:spAutoFit/>
          </a:bodyPr>
          <a:lstStyle/>
          <a:p>
            <a:pPr algn="just"/>
            <a:r>
              <a:rPr lang="en-US" sz="2800" dirty="0"/>
              <a:t>A 20-year-old student wants to save $5 a day for her retirement.  Every day she places $5 in a drawer.  At the end of the year, she invests the accumulated savings ($1,825) in a brokerage account with an expected annual return of 8%.</a:t>
            </a:r>
          </a:p>
          <a:p>
            <a:pPr algn="just"/>
            <a:endParaRPr lang="en-US" sz="2800" dirty="0"/>
          </a:p>
          <a:p>
            <a:pPr marL="514350" indent="-514350" algn="just">
              <a:buAutoNum type="arabicPeriod"/>
            </a:pPr>
            <a:r>
              <a:rPr lang="en-US" sz="2800" dirty="0"/>
              <a:t>If you don’t start saving until you are 40 years old, how much will you have at 65?</a:t>
            </a:r>
          </a:p>
          <a:p>
            <a:pPr marL="514350" indent="-514350" algn="just">
              <a:buAutoNum type="arabicPeriod"/>
            </a:pPr>
            <a:endParaRPr lang="en-US" sz="2800" dirty="0"/>
          </a:p>
          <a:p>
            <a:pPr algn="just"/>
            <a:r>
              <a:rPr lang="en-US" sz="2800" dirty="0"/>
              <a:t>2. How much must the 40-year old deposit annually to catch the 20-year old?</a:t>
            </a:r>
          </a:p>
          <a:p>
            <a:pPr algn="just"/>
            <a:endParaRPr lang="en-US" sz="2800" dirty="0"/>
          </a:p>
        </p:txBody>
      </p:sp>
    </p:spTree>
    <p:extLst>
      <p:ext uri="{BB962C8B-B14F-4D97-AF65-F5344CB8AC3E}">
        <p14:creationId xmlns:p14="http://schemas.microsoft.com/office/powerpoint/2010/main" val="1345673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BB4FA-C1C8-E70E-F068-2344C71A3E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2DD654-5932-B25F-EB3C-2AB086953B2E}"/>
              </a:ext>
            </a:extLst>
          </p:cNvPr>
          <p:cNvSpPr txBox="1"/>
          <p:nvPr/>
        </p:nvSpPr>
        <p:spPr>
          <a:xfrm>
            <a:off x="869623" y="1231537"/>
            <a:ext cx="9952347" cy="3416320"/>
          </a:xfrm>
          <a:prstGeom prst="rect">
            <a:avLst/>
          </a:prstGeom>
          <a:noFill/>
        </p:spPr>
        <p:txBody>
          <a:bodyPr wrap="square">
            <a:spAutoFit/>
          </a:bodyPr>
          <a:lstStyle/>
          <a:p>
            <a:pPr algn="just"/>
            <a:r>
              <a:rPr lang="en-US" sz="3600" dirty="0"/>
              <a:t>Assume that you want to send your newborn child to a private college (when he gets to be 18 years old). The tui on costs are $ 16000/year now and that these costs are expected to rise 5%  a year for the next 18 years. Assume that you can invest, a er taxes, at 8%.</a:t>
            </a:r>
          </a:p>
        </p:txBody>
      </p:sp>
      <p:sp>
        <p:nvSpPr>
          <p:cNvPr id="4" name="TextBox 3">
            <a:extLst>
              <a:ext uri="{FF2B5EF4-FFF2-40B4-BE49-F238E27FC236}">
                <a16:creationId xmlns:a16="http://schemas.microsoft.com/office/drawing/2014/main" id="{E67CE7C0-9375-5A59-EAF5-0FF6AA2EDC82}"/>
              </a:ext>
            </a:extLst>
          </p:cNvPr>
          <p:cNvSpPr txBox="1"/>
          <p:nvPr/>
        </p:nvSpPr>
        <p:spPr>
          <a:xfrm>
            <a:off x="869623" y="214096"/>
            <a:ext cx="6094428" cy="630942"/>
          </a:xfrm>
          <a:prstGeom prst="rect">
            <a:avLst/>
          </a:prstGeom>
          <a:noFill/>
        </p:spPr>
        <p:txBody>
          <a:bodyPr wrap="square">
            <a:spAutoFit/>
          </a:bodyPr>
          <a:lstStyle/>
          <a:p>
            <a:r>
              <a:rPr lang="en-US" sz="3500" b="1" dirty="0">
                <a:solidFill>
                  <a:srgbClr val="000000"/>
                </a:solidFill>
                <a:latin typeface="Inter"/>
              </a:rPr>
              <a:t>#2 Problem</a:t>
            </a:r>
          </a:p>
        </p:txBody>
      </p:sp>
    </p:spTree>
    <p:extLst>
      <p:ext uri="{BB962C8B-B14F-4D97-AF65-F5344CB8AC3E}">
        <p14:creationId xmlns:p14="http://schemas.microsoft.com/office/powerpoint/2010/main" val="1129278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C61D6-A028-FD43-8FBB-BCF9761153AF}"/>
            </a:ext>
          </a:extLst>
        </p:cNvPr>
        <p:cNvGrpSpPr/>
        <p:nvPr/>
      </p:nvGrpSpPr>
      <p:grpSpPr>
        <a:xfrm>
          <a:off x="0" y="0"/>
          <a:ext cx="0" cy="0"/>
          <a:chOff x="0" y="0"/>
          <a:chExt cx="0" cy="0"/>
        </a:xfrm>
      </p:grpSpPr>
    </p:spTree>
    <p:extLst>
      <p:ext uri="{BB962C8B-B14F-4D97-AF65-F5344CB8AC3E}">
        <p14:creationId xmlns:p14="http://schemas.microsoft.com/office/powerpoint/2010/main" val="1943964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TotalTime>
  <Words>1695</Words>
  <Application>Microsoft Office PowerPoint</Application>
  <PresentationFormat>Widescreen</PresentationFormat>
  <Paragraphs>170</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Inter</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the PV of this uneven cash flow stream?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Khaled Bin Kamal</dc:creator>
  <cp:lastModifiedBy>Khaled Bin Kamal</cp:lastModifiedBy>
  <cp:revision>18</cp:revision>
  <dcterms:created xsi:type="dcterms:W3CDTF">2026-03-27T18:23:58Z</dcterms:created>
  <dcterms:modified xsi:type="dcterms:W3CDTF">2026-03-27T23:48:17Z</dcterms:modified>
</cp:coreProperties>
</file>