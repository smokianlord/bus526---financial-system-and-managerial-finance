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5" r:id="rId18"/>
    <p:sldId id="272" r:id="rId19"/>
    <p:sldId id="273" r:id="rId20"/>
    <p:sldId id="274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led Kamal" userId="f2c84aac-991b-4928-a5c5-1d74be1fbbf2" providerId="ADAL" clId="{4A653E7D-6C99-49A8-A9E2-99E01AD803F1}"/>
    <pc:docChg chg="undo custSel addSld delSld modSld">
      <pc:chgData name="Khaled Kamal" userId="f2c84aac-991b-4928-a5c5-1d74be1fbbf2" providerId="ADAL" clId="{4A653E7D-6C99-49A8-A9E2-99E01AD803F1}" dt="2026-05-06T11:17:42.031" v="354" actId="1076"/>
      <pc:docMkLst>
        <pc:docMk/>
      </pc:docMkLst>
      <pc:sldChg chg="modSp mod">
        <pc:chgData name="Khaled Kamal" userId="f2c84aac-991b-4928-a5c5-1d74be1fbbf2" providerId="ADAL" clId="{4A653E7D-6C99-49A8-A9E2-99E01AD803F1}" dt="2026-05-06T11:17:42.031" v="354" actId="1076"/>
        <pc:sldMkLst>
          <pc:docMk/>
          <pc:sldMk cId="425161249" sldId="256"/>
        </pc:sldMkLst>
        <pc:spChg chg="mod">
          <ac:chgData name="Khaled Kamal" userId="f2c84aac-991b-4928-a5c5-1d74be1fbbf2" providerId="ADAL" clId="{4A653E7D-6C99-49A8-A9E2-99E01AD803F1}" dt="2026-05-06T11:17:42.031" v="354" actId="1076"/>
          <ac:spMkLst>
            <pc:docMk/>
            <pc:sldMk cId="425161249" sldId="256"/>
            <ac:spMk id="5" creationId="{27C094B7-09BE-C2FF-929C-41EAD4195F11}"/>
          </ac:spMkLst>
        </pc:spChg>
      </pc:sldChg>
      <pc:sldChg chg="addSp modSp mod">
        <pc:chgData name="Khaled Kamal" userId="f2c84aac-991b-4928-a5c5-1d74be1fbbf2" providerId="ADAL" clId="{4A653E7D-6C99-49A8-A9E2-99E01AD803F1}" dt="2026-05-06T10:03:47.010" v="33" actId="403"/>
        <pc:sldMkLst>
          <pc:docMk/>
          <pc:sldMk cId="3624324616" sldId="265"/>
        </pc:sldMkLst>
        <pc:spChg chg="mod">
          <ac:chgData name="Khaled Kamal" userId="f2c84aac-991b-4928-a5c5-1d74be1fbbf2" providerId="ADAL" clId="{4A653E7D-6C99-49A8-A9E2-99E01AD803F1}" dt="2026-05-06T10:03:31.716" v="27" actId="403"/>
          <ac:spMkLst>
            <pc:docMk/>
            <pc:sldMk cId="3624324616" sldId="265"/>
            <ac:spMk id="3" creationId="{21B218B7-D9D2-8BDD-8814-4873CCDA098F}"/>
          </ac:spMkLst>
        </pc:spChg>
        <pc:spChg chg="add mod">
          <ac:chgData name="Khaled Kamal" userId="f2c84aac-991b-4928-a5c5-1d74be1fbbf2" providerId="ADAL" clId="{4A653E7D-6C99-49A8-A9E2-99E01AD803F1}" dt="2026-05-06T10:03:20.687" v="23" actId="123"/>
          <ac:spMkLst>
            <pc:docMk/>
            <pc:sldMk cId="3624324616" sldId="265"/>
            <ac:spMk id="4" creationId="{0F427BF1-F741-0F9D-091F-A569A90D23C3}"/>
          </ac:spMkLst>
        </pc:spChg>
        <pc:spChg chg="mod">
          <ac:chgData name="Khaled Kamal" userId="f2c84aac-991b-4928-a5c5-1d74be1fbbf2" providerId="ADAL" clId="{4A653E7D-6C99-49A8-A9E2-99E01AD803F1}" dt="2026-05-06T10:03:27.757" v="25" actId="403"/>
          <ac:spMkLst>
            <pc:docMk/>
            <pc:sldMk cId="3624324616" sldId="265"/>
            <ac:spMk id="5" creationId="{F9A8CE87-A085-8F23-0F95-70ED549FCDDB}"/>
          </ac:spMkLst>
        </pc:spChg>
        <pc:spChg chg="add mod">
          <ac:chgData name="Khaled Kamal" userId="f2c84aac-991b-4928-a5c5-1d74be1fbbf2" providerId="ADAL" clId="{4A653E7D-6C99-49A8-A9E2-99E01AD803F1}" dt="2026-05-06T10:03:47.010" v="33" actId="403"/>
          <ac:spMkLst>
            <pc:docMk/>
            <pc:sldMk cId="3624324616" sldId="265"/>
            <ac:spMk id="7" creationId="{A91F646D-C1A2-2502-B019-0B4C72B36216}"/>
          </ac:spMkLst>
        </pc:spChg>
      </pc:sldChg>
      <pc:sldChg chg="addSp modSp mod">
        <pc:chgData name="Khaled Kamal" userId="f2c84aac-991b-4928-a5c5-1d74be1fbbf2" providerId="ADAL" clId="{4A653E7D-6C99-49A8-A9E2-99E01AD803F1}" dt="2026-05-06T10:05:50.116" v="77" actId="20577"/>
        <pc:sldMkLst>
          <pc:docMk/>
          <pc:sldMk cId="2271703656" sldId="266"/>
        </pc:sldMkLst>
        <pc:spChg chg="add mod">
          <ac:chgData name="Khaled Kamal" userId="f2c84aac-991b-4928-a5c5-1d74be1fbbf2" providerId="ADAL" clId="{4A653E7D-6C99-49A8-A9E2-99E01AD803F1}" dt="2026-05-06T10:05:50.116" v="77" actId="20577"/>
          <ac:spMkLst>
            <pc:docMk/>
            <pc:sldMk cId="2271703656" sldId="266"/>
            <ac:spMk id="3" creationId="{7E3CB403-1A02-D4B3-BF49-8F8A16A1D756}"/>
          </ac:spMkLst>
        </pc:spChg>
      </pc:sldChg>
      <pc:sldChg chg="addSp modSp mod">
        <pc:chgData name="Khaled Kamal" userId="f2c84aac-991b-4928-a5c5-1d74be1fbbf2" providerId="ADAL" clId="{4A653E7D-6C99-49A8-A9E2-99E01AD803F1}" dt="2026-05-06T10:07:34.597" v="102" actId="20577"/>
        <pc:sldMkLst>
          <pc:docMk/>
          <pc:sldMk cId="1337896399" sldId="267"/>
        </pc:sldMkLst>
        <pc:spChg chg="add mod">
          <ac:chgData name="Khaled Kamal" userId="f2c84aac-991b-4928-a5c5-1d74be1fbbf2" providerId="ADAL" clId="{4A653E7D-6C99-49A8-A9E2-99E01AD803F1}" dt="2026-05-06T10:07:34.597" v="102" actId="20577"/>
          <ac:spMkLst>
            <pc:docMk/>
            <pc:sldMk cId="1337896399" sldId="267"/>
            <ac:spMk id="3" creationId="{DB7A42A5-CF23-B6F5-2C95-8267CCEFAAEA}"/>
          </ac:spMkLst>
        </pc:spChg>
      </pc:sldChg>
      <pc:sldChg chg="addSp modSp mod">
        <pc:chgData name="Khaled Kamal" userId="f2c84aac-991b-4928-a5c5-1d74be1fbbf2" providerId="ADAL" clId="{4A653E7D-6C99-49A8-A9E2-99E01AD803F1}" dt="2026-05-06T10:08:37.046" v="129" actId="123"/>
        <pc:sldMkLst>
          <pc:docMk/>
          <pc:sldMk cId="2897923703" sldId="268"/>
        </pc:sldMkLst>
        <pc:spChg chg="add mod">
          <ac:chgData name="Khaled Kamal" userId="f2c84aac-991b-4928-a5c5-1d74be1fbbf2" providerId="ADAL" clId="{4A653E7D-6C99-49A8-A9E2-99E01AD803F1}" dt="2026-05-06T10:08:29.306" v="126" actId="1076"/>
          <ac:spMkLst>
            <pc:docMk/>
            <pc:sldMk cId="2897923703" sldId="268"/>
            <ac:spMk id="3" creationId="{4EC8BE08-B320-64A9-6C50-E9F53AA4D491}"/>
          </ac:spMkLst>
        </pc:spChg>
        <pc:spChg chg="add mod">
          <ac:chgData name="Khaled Kamal" userId="f2c84aac-991b-4928-a5c5-1d74be1fbbf2" providerId="ADAL" clId="{4A653E7D-6C99-49A8-A9E2-99E01AD803F1}" dt="2026-05-06T10:08:37.046" v="129" actId="123"/>
          <ac:spMkLst>
            <pc:docMk/>
            <pc:sldMk cId="2897923703" sldId="268"/>
            <ac:spMk id="5" creationId="{181038BF-8505-56C9-DC2D-8D452100F025}"/>
          </ac:spMkLst>
        </pc:spChg>
      </pc:sldChg>
      <pc:sldChg chg="addSp modSp mod">
        <pc:chgData name="Khaled Kamal" userId="f2c84aac-991b-4928-a5c5-1d74be1fbbf2" providerId="ADAL" clId="{4A653E7D-6C99-49A8-A9E2-99E01AD803F1}" dt="2026-05-06T10:09:15.598" v="149" actId="14100"/>
        <pc:sldMkLst>
          <pc:docMk/>
          <pc:sldMk cId="2409844576" sldId="269"/>
        </pc:sldMkLst>
        <pc:spChg chg="add mod">
          <ac:chgData name="Khaled Kamal" userId="f2c84aac-991b-4928-a5c5-1d74be1fbbf2" providerId="ADAL" clId="{4A653E7D-6C99-49A8-A9E2-99E01AD803F1}" dt="2026-05-06T10:09:15.598" v="149" actId="14100"/>
          <ac:spMkLst>
            <pc:docMk/>
            <pc:sldMk cId="2409844576" sldId="269"/>
            <ac:spMk id="3" creationId="{0F40C8D3-2553-396D-1B32-712A81F7F29C}"/>
          </ac:spMkLst>
        </pc:spChg>
      </pc:sldChg>
      <pc:sldChg chg="addSp modSp mod">
        <pc:chgData name="Khaled Kamal" userId="f2c84aac-991b-4928-a5c5-1d74be1fbbf2" providerId="ADAL" clId="{4A653E7D-6C99-49A8-A9E2-99E01AD803F1}" dt="2026-05-06T10:10:23.243" v="167" actId="14100"/>
        <pc:sldMkLst>
          <pc:docMk/>
          <pc:sldMk cId="2569741947" sldId="270"/>
        </pc:sldMkLst>
        <pc:spChg chg="add mod">
          <ac:chgData name="Khaled Kamal" userId="f2c84aac-991b-4928-a5c5-1d74be1fbbf2" providerId="ADAL" clId="{4A653E7D-6C99-49A8-A9E2-99E01AD803F1}" dt="2026-05-06T10:10:23.243" v="167" actId="14100"/>
          <ac:spMkLst>
            <pc:docMk/>
            <pc:sldMk cId="2569741947" sldId="270"/>
            <ac:spMk id="3" creationId="{5884A0F2-E02D-27C8-E87B-2F435B521EF1}"/>
          </ac:spMkLst>
        </pc:spChg>
      </pc:sldChg>
      <pc:sldChg chg="addSp delSp modSp mod">
        <pc:chgData name="Khaled Kamal" userId="f2c84aac-991b-4928-a5c5-1d74be1fbbf2" providerId="ADAL" clId="{4A653E7D-6C99-49A8-A9E2-99E01AD803F1}" dt="2026-05-06T10:13:46.018" v="227" actId="6549"/>
        <pc:sldMkLst>
          <pc:docMk/>
          <pc:sldMk cId="4137318464" sldId="271"/>
        </pc:sldMkLst>
        <pc:spChg chg="add mod">
          <ac:chgData name="Khaled Kamal" userId="f2c84aac-991b-4928-a5c5-1d74be1fbbf2" providerId="ADAL" clId="{4A653E7D-6C99-49A8-A9E2-99E01AD803F1}" dt="2026-05-06T10:13:46.018" v="227" actId="6549"/>
          <ac:spMkLst>
            <pc:docMk/>
            <pc:sldMk cId="4137318464" sldId="271"/>
            <ac:spMk id="3" creationId="{B764C9C2-C8F4-527C-51E0-3EFDC177630B}"/>
          </ac:spMkLst>
        </pc:spChg>
        <pc:spChg chg="add del mod">
          <ac:chgData name="Khaled Kamal" userId="f2c84aac-991b-4928-a5c5-1d74be1fbbf2" providerId="ADAL" clId="{4A653E7D-6C99-49A8-A9E2-99E01AD803F1}" dt="2026-05-06T10:13:12.147" v="212" actId="478"/>
          <ac:spMkLst>
            <pc:docMk/>
            <pc:sldMk cId="4137318464" sldId="271"/>
            <ac:spMk id="5" creationId="{F0470954-6721-9D2D-C335-B55A3BC63D5B}"/>
          </ac:spMkLst>
        </pc:spChg>
      </pc:sldChg>
      <pc:sldChg chg="addSp modSp mod">
        <pc:chgData name="Khaled Kamal" userId="f2c84aac-991b-4928-a5c5-1d74be1fbbf2" providerId="ADAL" clId="{4A653E7D-6C99-49A8-A9E2-99E01AD803F1}" dt="2026-05-06T10:15:26.178" v="254" actId="14100"/>
        <pc:sldMkLst>
          <pc:docMk/>
          <pc:sldMk cId="3807400039" sldId="272"/>
        </pc:sldMkLst>
        <pc:spChg chg="add mod">
          <ac:chgData name="Khaled Kamal" userId="f2c84aac-991b-4928-a5c5-1d74be1fbbf2" providerId="ADAL" clId="{4A653E7D-6C99-49A8-A9E2-99E01AD803F1}" dt="2026-05-06T10:15:26.178" v="254" actId="14100"/>
          <ac:spMkLst>
            <pc:docMk/>
            <pc:sldMk cId="3807400039" sldId="272"/>
            <ac:spMk id="3" creationId="{77DCE6EF-3B74-7A72-0E0B-C241BBE24927}"/>
          </ac:spMkLst>
        </pc:spChg>
      </pc:sldChg>
      <pc:sldChg chg="addSp modSp mod">
        <pc:chgData name="Khaled Kamal" userId="f2c84aac-991b-4928-a5c5-1d74be1fbbf2" providerId="ADAL" clId="{4A653E7D-6C99-49A8-A9E2-99E01AD803F1}" dt="2026-05-06T11:14:44.246" v="283" actId="1076"/>
        <pc:sldMkLst>
          <pc:docMk/>
          <pc:sldMk cId="4288180338" sldId="273"/>
        </pc:sldMkLst>
        <pc:spChg chg="add mod">
          <ac:chgData name="Khaled Kamal" userId="f2c84aac-991b-4928-a5c5-1d74be1fbbf2" providerId="ADAL" clId="{4A653E7D-6C99-49A8-A9E2-99E01AD803F1}" dt="2026-05-06T11:14:18.171" v="262" actId="20577"/>
          <ac:spMkLst>
            <pc:docMk/>
            <pc:sldMk cId="4288180338" sldId="273"/>
            <ac:spMk id="3" creationId="{0F4F06CD-7DA1-6C42-DCFD-C2DE8104EE9F}"/>
          </ac:spMkLst>
        </pc:spChg>
        <pc:spChg chg="add mod">
          <ac:chgData name="Khaled Kamal" userId="f2c84aac-991b-4928-a5c5-1d74be1fbbf2" providerId="ADAL" clId="{4A653E7D-6C99-49A8-A9E2-99E01AD803F1}" dt="2026-05-06T11:14:44.246" v="283" actId="1076"/>
          <ac:spMkLst>
            <pc:docMk/>
            <pc:sldMk cId="4288180338" sldId="273"/>
            <ac:spMk id="5" creationId="{ABFAD0C5-7C65-ED37-A389-7FA07FF723E5}"/>
          </ac:spMkLst>
        </pc:spChg>
      </pc:sldChg>
      <pc:sldChg chg="addSp modSp mod">
        <pc:chgData name="Khaled Kamal" userId="f2c84aac-991b-4928-a5c5-1d74be1fbbf2" providerId="ADAL" clId="{4A653E7D-6C99-49A8-A9E2-99E01AD803F1}" dt="2026-05-06T11:15:15.933" v="309" actId="14100"/>
        <pc:sldMkLst>
          <pc:docMk/>
          <pc:sldMk cId="1784004177" sldId="274"/>
        </pc:sldMkLst>
        <pc:spChg chg="add mod">
          <ac:chgData name="Khaled Kamal" userId="f2c84aac-991b-4928-a5c5-1d74be1fbbf2" providerId="ADAL" clId="{4A653E7D-6C99-49A8-A9E2-99E01AD803F1}" dt="2026-05-06T11:15:15.933" v="309" actId="14100"/>
          <ac:spMkLst>
            <pc:docMk/>
            <pc:sldMk cId="1784004177" sldId="274"/>
            <ac:spMk id="3" creationId="{8F934DC4-AC91-EEF7-F18F-47F9B3D6AA5F}"/>
          </ac:spMkLst>
        </pc:spChg>
      </pc:sldChg>
      <pc:sldChg chg="modSp add mod">
        <pc:chgData name="Khaled Kamal" userId="f2c84aac-991b-4928-a5c5-1d74be1fbbf2" providerId="ADAL" clId="{4A653E7D-6C99-49A8-A9E2-99E01AD803F1}" dt="2026-05-06T10:13:06.716" v="211" actId="1076"/>
        <pc:sldMkLst>
          <pc:docMk/>
          <pc:sldMk cId="2095438444" sldId="275"/>
        </pc:sldMkLst>
        <pc:spChg chg="mod">
          <ac:chgData name="Khaled Kamal" userId="f2c84aac-991b-4928-a5c5-1d74be1fbbf2" providerId="ADAL" clId="{4A653E7D-6C99-49A8-A9E2-99E01AD803F1}" dt="2026-05-06T10:13:02.237" v="210" actId="6549"/>
          <ac:spMkLst>
            <pc:docMk/>
            <pc:sldMk cId="2095438444" sldId="275"/>
            <ac:spMk id="3" creationId="{12206181-5F0E-1B71-DCA8-28DEED522F6F}"/>
          </ac:spMkLst>
        </pc:spChg>
        <pc:spChg chg="mod">
          <ac:chgData name="Khaled Kamal" userId="f2c84aac-991b-4928-a5c5-1d74be1fbbf2" providerId="ADAL" clId="{4A653E7D-6C99-49A8-A9E2-99E01AD803F1}" dt="2026-05-06T10:13:06.716" v="211" actId="1076"/>
          <ac:spMkLst>
            <pc:docMk/>
            <pc:sldMk cId="2095438444" sldId="275"/>
            <ac:spMk id="5" creationId="{F952D914-1467-DB91-DAB4-447A13A62C20}"/>
          </ac:spMkLst>
        </pc:spChg>
      </pc:sldChg>
      <pc:sldChg chg="addSp delSp modSp add mod">
        <pc:chgData name="Khaled Kamal" userId="f2c84aac-991b-4928-a5c5-1d74be1fbbf2" providerId="ADAL" clId="{4A653E7D-6C99-49A8-A9E2-99E01AD803F1}" dt="2026-05-06T11:15:50.687" v="323" actId="403"/>
        <pc:sldMkLst>
          <pc:docMk/>
          <pc:sldMk cId="3557025804" sldId="276"/>
        </pc:sldMkLst>
        <pc:spChg chg="del">
          <ac:chgData name="Khaled Kamal" userId="f2c84aac-991b-4928-a5c5-1d74be1fbbf2" providerId="ADAL" clId="{4A653E7D-6C99-49A8-A9E2-99E01AD803F1}" dt="2026-05-06T11:15:23.085" v="313" actId="478"/>
          <ac:spMkLst>
            <pc:docMk/>
            <pc:sldMk cId="3557025804" sldId="276"/>
            <ac:spMk id="3" creationId="{F4AA7BD9-F14A-ED9D-EB3C-08A5F4481D10}"/>
          </ac:spMkLst>
        </pc:spChg>
        <pc:spChg chg="add mod">
          <ac:chgData name="Khaled Kamal" userId="f2c84aac-991b-4928-a5c5-1d74be1fbbf2" providerId="ADAL" clId="{4A653E7D-6C99-49A8-A9E2-99E01AD803F1}" dt="2026-05-06T11:15:50.687" v="323" actId="403"/>
          <ac:spMkLst>
            <pc:docMk/>
            <pc:sldMk cId="3557025804" sldId="276"/>
            <ac:spMk id="4" creationId="{961F3B32-9DF9-72EF-11D6-E9BC835F5558}"/>
          </ac:spMkLst>
        </pc:spChg>
      </pc:sldChg>
      <pc:sldChg chg="addSp delSp modSp add mod">
        <pc:chgData name="Khaled Kamal" userId="f2c84aac-991b-4928-a5c5-1d74be1fbbf2" providerId="ADAL" clId="{4A653E7D-6C99-49A8-A9E2-99E01AD803F1}" dt="2026-05-06T11:17:19.375" v="349" actId="403"/>
        <pc:sldMkLst>
          <pc:docMk/>
          <pc:sldMk cId="3829438212" sldId="277"/>
        </pc:sldMkLst>
        <pc:spChg chg="del">
          <ac:chgData name="Khaled Kamal" userId="f2c84aac-991b-4928-a5c5-1d74be1fbbf2" providerId="ADAL" clId="{4A653E7D-6C99-49A8-A9E2-99E01AD803F1}" dt="2026-05-06T11:15:26.271" v="314" actId="478"/>
          <ac:spMkLst>
            <pc:docMk/>
            <pc:sldMk cId="3829438212" sldId="277"/>
            <ac:spMk id="3" creationId="{221D6CE0-BFE7-8DE8-7DE6-71C767E6A312}"/>
          </ac:spMkLst>
        </pc:spChg>
        <pc:spChg chg="add mod">
          <ac:chgData name="Khaled Kamal" userId="f2c84aac-991b-4928-a5c5-1d74be1fbbf2" providerId="ADAL" clId="{4A653E7D-6C99-49A8-A9E2-99E01AD803F1}" dt="2026-05-06T11:17:19.375" v="349" actId="403"/>
          <ac:spMkLst>
            <pc:docMk/>
            <pc:sldMk cId="3829438212" sldId="277"/>
            <ac:spMk id="4" creationId="{C2A7BDA2-69C1-2AB9-AD9C-9B97F6F24099}"/>
          </ac:spMkLst>
        </pc:spChg>
      </pc:sldChg>
      <pc:sldChg chg="delSp add del mod">
        <pc:chgData name="Khaled Kamal" userId="f2c84aac-991b-4928-a5c5-1d74be1fbbf2" providerId="ADAL" clId="{4A653E7D-6C99-49A8-A9E2-99E01AD803F1}" dt="2026-05-06T11:17:29.378" v="350" actId="47"/>
        <pc:sldMkLst>
          <pc:docMk/>
          <pc:sldMk cId="2032266487" sldId="278"/>
        </pc:sldMkLst>
        <pc:spChg chg="del">
          <ac:chgData name="Khaled Kamal" userId="f2c84aac-991b-4928-a5c5-1d74be1fbbf2" providerId="ADAL" clId="{4A653E7D-6C99-49A8-A9E2-99E01AD803F1}" dt="2026-05-06T11:15:28.734" v="315" actId="478"/>
          <ac:spMkLst>
            <pc:docMk/>
            <pc:sldMk cId="2032266487" sldId="278"/>
            <ac:spMk id="3" creationId="{7A321100-A402-A666-6D29-9F99AB56A5E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CD05-683E-B6E0-D52C-33B3DD271F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F237F-ACE7-B279-2032-0C7FBE048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F3FD7-5DA5-0559-EBA1-0EDF1267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856E1-1AD6-5A4A-DD1E-E751E716F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A53DE-0E36-6A35-735F-4373C37E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89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0A909-EF49-D0FA-CCD5-775439E8C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FD0170-A2D9-4661-E689-78CBC15BA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B6C60-5BF9-E8D9-7770-29F2CAD7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18B48-6052-8670-5E3C-B0EC7DD0C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B3A8C-1FA5-CD47-7B74-CCBCB8A56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19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AB61-0BEE-FF6B-2F9A-DD1DB4BEF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6EBCF-4F85-1BB4-362C-71A7F5A8C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CC0AB-38E1-C802-E533-E61AFCB9E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D4A38-A75C-0F17-C194-DB7E4743A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E5677-38EE-0F9B-6D58-A8E2B1696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970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022F-323F-D96D-BF4B-61CA2FE2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3636B-9D6B-FCBB-80D4-C0676FB6BE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17B6B-45B5-B271-AE6C-AEE79434F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E53E28-93E1-FA11-33A8-5E9AC2630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3438C-E37C-359F-64CB-CE2053981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01933-2153-1717-2ABC-89910967D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27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4DA7-20E3-287C-03AE-4D15E583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36CDE-9BCA-053C-B215-145CB7E35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8E6A6-662B-33CE-E3AA-4E6000E53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C5C67-DD87-EBF1-F153-641EF1764E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C84ABD-45CF-DCF7-B335-11FE7A2B99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B729E5-8ADE-36E6-7734-0A6F54B7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7FEB82-56F9-DCE0-E2AD-BB537EE0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D1C78-B4C6-FE2C-276D-00E93B22F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9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D2661-9C90-CAC3-1EB2-3B6CDBE23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38124-5119-F3D2-35D0-921099D9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BE7DC5-2E9A-CA5F-E8A1-AB7E8C6E7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1E778A-4C46-620C-58D8-C1A7905F6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0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F28537-09D8-58F9-3B7B-0143518E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03184-1A04-50A6-9B60-8BA72FE73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80FC6-9C88-5020-9EA4-1F512A81F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74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2248D-C96F-3C4B-AC00-219B3F890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D0AC7-CDB1-E07E-A271-0E612E881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71D66-7EA7-29D4-0EDD-3115E3647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995DF-E4E1-1EEA-5CA2-849A475BD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2FBBE-C069-C984-5D5C-C0997891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2F40B-E4BD-B86A-FE59-A3681153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40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4F1D7-54FD-2DCD-E393-9F222C09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8D1A10-D075-3148-A69C-712D017BF6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401DCB-6FD1-F6E9-3914-7A742FC0A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05AB5-8D32-A6FE-B68B-4A6E9DDC6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B1CF3D-86DF-F476-C7BD-C0D47FC30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D0672-706A-9C6B-FA41-50F171F73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26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2AB73-698D-B1B4-3F07-F61B0731B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1B2EC9-66F0-FE00-DD9D-579AD8FCC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7E51A-062F-7D4B-6D0D-C1574F39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B0E89-C065-6D83-9F1C-7D3F5A7F2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1E2C0-CA9C-64B5-B192-25FD1D827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956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5C53B0-9EFA-7643-EEF1-AA4C17D1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C586B5-0310-1DDE-2FB6-1DE38040A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72FDA-FA8A-CE76-DF5A-6299FE14A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97F82-A94C-C614-E3F9-C6F6F06B2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2A41B-7DE5-112B-C717-66C35FC0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5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BC1314-953E-95DA-5DE8-679B5FB86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79A0A8-7E2A-6BF2-4A49-C1535E9BC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FA004-EF72-F9E1-8DAB-C7FD0886F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D3BED6-7B6C-451D-8D76-6A5F94A8AD77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8CCE8-A645-FC34-B84D-8C9ED6EAAC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BA72E-8F48-E197-9AC7-EB62D9F83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6F5457-D85F-45E4-8386-A97FF70703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68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C094B7-09BE-C2FF-929C-41EAD4195F11}"/>
              </a:ext>
            </a:extLst>
          </p:cNvPr>
          <p:cNvSpPr txBox="1"/>
          <p:nvPr/>
        </p:nvSpPr>
        <p:spPr>
          <a:xfrm>
            <a:off x="3423122" y="2164656"/>
            <a:ext cx="6881858" cy="219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4800" b="0" i="0" dirty="0">
                <a:solidFill>
                  <a:srgbClr val="000000"/>
                </a:solidFill>
                <a:effectLst/>
                <a:latin typeface="Inter"/>
              </a:rPr>
              <a:t>CAPITAL BUDGETING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8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25161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DD23A-CC49-DC12-805F-850245851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ECE685-59E2-6DBD-D87A-3070904252ED}"/>
              </a:ext>
            </a:extLst>
          </p:cNvPr>
          <p:cNvSpPr txBox="1"/>
          <p:nvPr/>
        </p:nvSpPr>
        <p:spPr>
          <a:xfrm>
            <a:off x="426564" y="1154082"/>
            <a:ext cx="1089502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</a:rPr>
              <a:t>Define capital budgeting and explain its strategic importance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</a:rPr>
              <a:t>Identify and classify different types of capital investment decisions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</a:rPr>
              <a:t>Apply all major capital budgeting techniques (NPV, IRR, Payback, PI, etc.)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</a:rPr>
              <a:t>Evaluate projects under conditions of risk and uncertainty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</a:rPr>
              <a:t>Understand real-world limitations and practical considerations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Inter"/>
              </a:rPr>
              <a:t>Make sound, defensible capital allocation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805983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36C9B-DCE0-BF66-3CCA-0754B0596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2DBE4E-42ED-758C-22E7-55EB531BAD43}"/>
              </a:ext>
            </a:extLst>
          </p:cNvPr>
          <p:cNvSpPr txBox="1"/>
          <p:nvPr/>
        </p:nvSpPr>
        <p:spPr>
          <a:xfrm>
            <a:off x="445416" y="787758"/>
            <a:ext cx="114417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What Is Capital Budgeting?</a:t>
            </a:r>
          </a:p>
          <a:p>
            <a:pPr algn="just">
              <a:buNone/>
            </a:pPr>
            <a:endParaRPr lang="en-US" sz="3200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just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Capital budgeting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 is the process by which a firm 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evaluates, selects, and manages long-term investment projects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 that involve significant capital expenditures — and whose benefits extend beyond one year.</a:t>
            </a:r>
          </a:p>
          <a:p>
            <a:pPr algn="just">
              <a:buNone/>
            </a:pPr>
            <a:endParaRPr lang="en-US" sz="32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just">
              <a:buNone/>
            </a:pPr>
            <a:r>
              <a:rPr lang="en-US" sz="3200" b="0" i="1" dirty="0">
                <a:solidFill>
                  <a:srgbClr val="000000"/>
                </a:solidFill>
                <a:effectLst/>
                <a:latin typeface="Inter"/>
              </a:rPr>
              <a:t>"Capital budgeting is perhaps the most important financial decision a company makes. It shapes the firm's future, defines its competitive position, and determines long-run profitability."</a:t>
            </a:r>
            <a:endParaRPr lang="en-US" sz="3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264442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95D40-C29F-43C5-854D-D4429ABE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4F134FC-9157-D330-980A-5F9F079BB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704314"/>
              </p:ext>
            </p:extLst>
          </p:nvPr>
        </p:nvGraphicFramePr>
        <p:xfrm>
          <a:off x="765928" y="2253564"/>
          <a:ext cx="11187260" cy="34747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593630">
                  <a:extLst>
                    <a:ext uri="{9D8B030D-6E8A-4147-A177-3AD203B41FA5}">
                      <a16:colId xmlns:a16="http://schemas.microsoft.com/office/drawing/2014/main" val="3596127469"/>
                    </a:ext>
                  </a:extLst>
                </a:gridCol>
                <a:gridCol w="5593630">
                  <a:extLst>
                    <a:ext uri="{9D8B030D-6E8A-4147-A177-3AD203B41FA5}">
                      <a16:colId xmlns:a16="http://schemas.microsoft.com/office/drawing/2014/main" val="2444209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</a:rPr>
                        <a:t>Factor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effectLst/>
                        </a:rPr>
                        <a:t>Explanation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130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Large Sums Involved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Decisions involve millions or billions of dollars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401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Long-Term Impact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Commitments last 5, 10, 20+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94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Irreversibility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Mistakes are costly and hard to undo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515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Strategic Alignment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>
                          <a:effectLst/>
                        </a:rPr>
                        <a:t>Must align with corporate mission and goals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6093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>
                          <a:effectLst/>
                        </a:rPr>
                        <a:t>Competitive Advantage</a:t>
                      </a:r>
                      <a:endParaRPr lang="en-US" sz="2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>
                          <a:effectLst/>
                        </a:rPr>
                        <a:t>Right investments create lasting 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18815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119AAD8-7262-BF9E-B699-21A6A768D57A}"/>
              </a:ext>
            </a:extLst>
          </p:cNvPr>
          <p:cNvSpPr txBox="1"/>
          <p:nvPr/>
        </p:nvSpPr>
        <p:spPr>
          <a:xfrm>
            <a:off x="765929" y="955977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Why Is It So Important?</a:t>
            </a:r>
          </a:p>
        </p:txBody>
      </p:sp>
    </p:spTree>
    <p:extLst>
      <p:ext uri="{BB962C8B-B14F-4D97-AF65-F5344CB8AC3E}">
        <p14:creationId xmlns:p14="http://schemas.microsoft.com/office/powerpoint/2010/main" val="3860895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2536E-BCE2-9731-5FB6-6751134FE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138701-D7EC-7579-34E4-4C1079EE3075}"/>
              </a:ext>
            </a:extLst>
          </p:cNvPr>
          <p:cNvSpPr txBox="1"/>
          <p:nvPr/>
        </p:nvSpPr>
        <p:spPr>
          <a:xfrm>
            <a:off x="671660" y="935686"/>
            <a:ext cx="955642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600" b="1" i="0" dirty="0">
                <a:solidFill>
                  <a:srgbClr val="000000"/>
                </a:solidFill>
                <a:effectLst/>
                <a:latin typeface="Inter"/>
              </a:rPr>
              <a:t>Real-World Examples</a:t>
            </a:r>
          </a:p>
          <a:p>
            <a:pPr algn="l">
              <a:buNone/>
            </a:pPr>
            <a:endParaRPr lang="en-US" b="1" i="0" dirty="0">
              <a:solidFill>
                <a:srgbClr val="000000"/>
              </a:solidFill>
              <a:effectLst/>
              <a:latin typeface="Inter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🏭 Building a new manufacturing plant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🚗 Tesla investing in a new Gigafactory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💊 Pharmaceutical R&amp;D for a new drug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✈️ Airlines purchasing new aircraft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🛒 Amazon expanding warehouse infrastructure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💻 A tech firm launching a new product line</a:t>
            </a:r>
          </a:p>
        </p:txBody>
      </p:sp>
    </p:spTree>
    <p:extLst>
      <p:ext uri="{BB962C8B-B14F-4D97-AF65-F5344CB8AC3E}">
        <p14:creationId xmlns:p14="http://schemas.microsoft.com/office/powerpoint/2010/main" val="1522494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B5038-85BC-0451-49D6-2405F50BF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74D5D01-28DD-368B-5563-8F0DE22F7B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0313405"/>
              </p:ext>
            </p:extLst>
          </p:nvPr>
        </p:nvGraphicFramePr>
        <p:xfrm>
          <a:off x="671661" y="2192291"/>
          <a:ext cx="10515600" cy="32613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028856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67833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5673357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bg1"/>
                          </a:solidFill>
                          <a:effectLst/>
                        </a:rP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9853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effectLst/>
                        </a:rPr>
                        <a:t>Expansion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Increasing current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Adding a new production line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5389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Replacement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Replacing old assets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New machinery replacing obsolete equipment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9149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Modernization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Upgrading existing assets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Automation of a manual process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994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Diversification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Entering new markets/products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 car company entering EVs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720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R&amp;D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Investing in future innovation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Drug discovery programs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657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Compliance/Mandatory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Meeting legal/regulatory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Installing pollution control equipment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57185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354A034-E4E6-35AD-E2B5-34E59E5F909A}"/>
              </a:ext>
            </a:extLst>
          </p:cNvPr>
          <p:cNvSpPr txBox="1"/>
          <p:nvPr/>
        </p:nvSpPr>
        <p:spPr>
          <a:xfrm>
            <a:off x="671661" y="1117560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"/>
              </a:rPr>
              <a:t>Classification by Nature</a:t>
            </a:r>
          </a:p>
        </p:txBody>
      </p:sp>
    </p:spTree>
    <p:extLst>
      <p:ext uri="{BB962C8B-B14F-4D97-AF65-F5344CB8AC3E}">
        <p14:creationId xmlns:p14="http://schemas.microsoft.com/office/powerpoint/2010/main" val="2515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A9554-6F3E-1509-9BB5-E6E1F92C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A0482A-F702-5901-D9AE-53D8B7D7A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486" y="1179166"/>
            <a:ext cx="7521504" cy="44996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43E12E-51FE-BCB4-FE14-8F2EBA4B594B}"/>
              </a:ext>
            </a:extLst>
          </p:cNvPr>
          <p:cNvSpPr txBox="1"/>
          <p:nvPr/>
        </p:nvSpPr>
        <p:spPr>
          <a:xfrm>
            <a:off x="464270" y="421833"/>
            <a:ext cx="609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800" b="1" i="0" dirty="0">
                <a:solidFill>
                  <a:srgbClr val="000000"/>
                </a:solidFill>
                <a:effectLst/>
                <a:latin typeface="Inter"/>
              </a:rPr>
              <a:t>The Capital Budgeting Process</a:t>
            </a:r>
          </a:p>
        </p:txBody>
      </p:sp>
    </p:spTree>
    <p:extLst>
      <p:ext uri="{BB962C8B-B14F-4D97-AF65-F5344CB8AC3E}">
        <p14:creationId xmlns:p14="http://schemas.microsoft.com/office/powerpoint/2010/main" val="237054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4CBE2-BC87-927F-3B50-539C3C6D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BCE541-C060-126C-C4C1-8AC760BA2E2B}"/>
              </a:ext>
            </a:extLst>
          </p:cNvPr>
          <p:cNvSpPr txBox="1"/>
          <p:nvPr/>
        </p:nvSpPr>
        <p:spPr>
          <a:xfrm>
            <a:off x="459950" y="2405126"/>
            <a:ext cx="112721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Why?</a:t>
            </a:r>
            <a:endParaRPr lang="en-US" sz="32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Cash flows reflect actual economic value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Accounting profits are subject to manipulation (depreciation methods, accruals)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US" sz="3200" b="0" i="0" dirty="0">
              <a:solidFill>
                <a:srgbClr val="000000"/>
              </a:solidFill>
              <a:effectLst/>
              <a:latin typeface="Inter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Only cash can be reinvested, paid as dividends, or used to service debt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54C4E5-342A-898F-38FC-D3CDCB938241}"/>
              </a:ext>
            </a:extLst>
          </p:cNvPr>
          <p:cNvSpPr txBox="1"/>
          <p:nvPr/>
        </p:nvSpPr>
        <p:spPr>
          <a:xfrm>
            <a:off x="351149" y="765349"/>
            <a:ext cx="116680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Capital budgeting ALWAYS uses 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incremental cash flows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Inter"/>
              </a:rPr>
              <a:t>, not accounting earnings.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58346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D168-7AA2-993E-4858-32A0BDA51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4F4B0AF-5B2F-86BE-9918-3CB82F2B8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110185"/>
              </p:ext>
            </p:extLst>
          </p:nvPr>
        </p:nvGraphicFramePr>
        <p:xfrm>
          <a:off x="489408" y="1978302"/>
          <a:ext cx="11378938" cy="3352800"/>
        </p:xfrm>
        <a:graphic>
          <a:graphicData uri="http://schemas.openxmlformats.org/drawingml/2006/table">
            <a:tbl>
              <a:tblPr/>
              <a:tblGrid>
                <a:gridCol w="5689469">
                  <a:extLst>
                    <a:ext uri="{9D8B030D-6E8A-4147-A177-3AD203B41FA5}">
                      <a16:colId xmlns:a16="http://schemas.microsoft.com/office/drawing/2014/main" val="3843854765"/>
                    </a:ext>
                  </a:extLst>
                </a:gridCol>
                <a:gridCol w="5689469">
                  <a:extLst>
                    <a:ext uri="{9D8B030D-6E8A-4147-A177-3AD203B41FA5}">
                      <a16:colId xmlns:a16="http://schemas.microsoft.com/office/drawing/2014/main" val="31535479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283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effectLst/>
                        </a:rPr>
                        <a:t>Initial Investment (C₀)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Upfront cost + installation + working capital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788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effectLst/>
                        </a:rPr>
                        <a:t>Operating Cash Flows (OCF)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Annual incremental after-tax cash flows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991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effectLst/>
                        </a:rPr>
                        <a:t>Terminal Cash Flow</a:t>
                      </a:r>
                      <a:endParaRPr lang="en-US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effectLst/>
                        </a:rPr>
                        <a:t>Salvage value + recovery of working capital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28772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E1A7227-73F7-9660-DD9B-9D95C6FCF412}"/>
              </a:ext>
            </a:extLst>
          </p:cNvPr>
          <p:cNvSpPr txBox="1"/>
          <p:nvPr/>
        </p:nvSpPr>
        <p:spPr>
          <a:xfrm>
            <a:off x="489408" y="754393"/>
            <a:ext cx="79098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Relevant Cash Flow Components</a:t>
            </a:r>
          </a:p>
        </p:txBody>
      </p:sp>
    </p:spTree>
    <p:extLst>
      <p:ext uri="{BB962C8B-B14F-4D97-AF65-F5344CB8AC3E}">
        <p14:creationId xmlns:p14="http://schemas.microsoft.com/office/powerpoint/2010/main" val="3646230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A3EEB-543D-86D4-9E8E-C97749D1F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B218B7-D9D2-8BDD-8814-4873CCDA098F}"/>
              </a:ext>
            </a:extLst>
          </p:cNvPr>
          <p:cNvSpPr txBox="1"/>
          <p:nvPr/>
        </p:nvSpPr>
        <p:spPr>
          <a:xfrm>
            <a:off x="511405" y="599665"/>
            <a:ext cx="60944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Inter"/>
              </a:rPr>
              <a:t>Capital Budgeting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A8CE87-A085-8F23-0F95-70ED549FCDDB}"/>
              </a:ext>
            </a:extLst>
          </p:cNvPr>
          <p:cNvSpPr txBox="1"/>
          <p:nvPr/>
        </p:nvSpPr>
        <p:spPr>
          <a:xfrm>
            <a:off x="511405" y="1710122"/>
            <a:ext cx="60944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Inter"/>
              </a:rPr>
              <a:t>Technique 1: Payback Period (PBP)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427BF1-F741-0F9D-091F-A569A90D23C3}"/>
              </a:ext>
            </a:extLst>
          </p:cNvPr>
          <p:cNvSpPr txBox="1"/>
          <p:nvPr/>
        </p:nvSpPr>
        <p:spPr>
          <a:xfrm>
            <a:off x="511404" y="2461208"/>
            <a:ext cx="11355247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number of years required to recover the initial investment from cash inflows.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F646D-C1A2-2502-B019-0B4C72B36216}"/>
              </a:ext>
            </a:extLst>
          </p:cNvPr>
          <p:cNvSpPr txBox="1"/>
          <p:nvPr/>
        </p:nvSpPr>
        <p:spPr>
          <a:xfrm>
            <a:off x="511403" y="3804892"/>
            <a:ext cx="11180587" cy="1054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Payback Period = Year before full recovery + (Remaining cost / Cash flow in recovery year)</a:t>
            </a:r>
          </a:p>
        </p:txBody>
      </p:sp>
    </p:spTree>
    <p:extLst>
      <p:ext uri="{BB962C8B-B14F-4D97-AF65-F5344CB8AC3E}">
        <p14:creationId xmlns:p14="http://schemas.microsoft.com/office/powerpoint/2010/main" val="3624324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2055A-2297-775D-B68B-98169BD13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3CB403-1A02-D4B3-BF49-8F8A16A1D756}"/>
              </a:ext>
            </a:extLst>
          </p:cNvPr>
          <p:cNvSpPr txBox="1"/>
          <p:nvPr/>
        </p:nvSpPr>
        <p:spPr>
          <a:xfrm>
            <a:off x="963202" y="883105"/>
            <a:ext cx="7512977" cy="4745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| Year | Cash Flow | Cumulative CF |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| 0      | -$100,000 | -$100,000 |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| 1      | $30,000    | -$70,000 |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| 2      | $40,000    | -$30,000 |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| 3      | $50,000    | +$20,000 |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| 4      | $30,000    | +$50,000 |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PBP = 2 + (30,000 / 50,000) = 2.6 years</a:t>
            </a:r>
          </a:p>
        </p:txBody>
      </p:sp>
    </p:spTree>
    <p:extLst>
      <p:ext uri="{BB962C8B-B14F-4D97-AF65-F5344CB8AC3E}">
        <p14:creationId xmlns:p14="http://schemas.microsoft.com/office/powerpoint/2010/main" val="2271703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9B83C-495F-D725-EE11-43A90DA59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7A42A5-CF23-B6F5-2C95-8267CCEFAAEA}"/>
              </a:ext>
            </a:extLst>
          </p:cNvPr>
          <p:cNvSpPr txBox="1"/>
          <p:nvPr/>
        </p:nvSpPr>
        <p:spPr>
          <a:xfrm>
            <a:off x="696074" y="852913"/>
            <a:ext cx="10307548" cy="3190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4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Decision Rule: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4400" b="1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Accept if PBP &lt; Firm's target payback period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Reject if PBP &gt; Firm's target payback period</a:t>
            </a:r>
          </a:p>
        </p:txBody>
      </p:sp>
    </p:spTree>
    <p:extLst>
      <p:ext uri="{BB962C8B-B14F-4D97-AF65-F5344CB8AC3E}">
        <p14:creationId xmlns:p14="http://schemas.microsoft.com/office/powerpoint/2010/main" val="1337896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FDC21-80A5-6077-07F1-30D35F0BB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C8BE08-B320-64A9-6C50-E9F53AA4D491}"/>
              </a:ext>
            </a:extLst>
          </p:cNvPr>
          <p:cNvSpPr txBox="1"/>
          <p:nvPr/>
        </p:nvSpPr>
        <p:spPr>
          <a:xfrm>
            <a:off x="511139" y="666949"/>
            <a:ext cx="6097712" cy="5587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Technique 2: Net Present Value (NPV)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1038BF-8505-56C9-DC2D-8D452100F025}"/>
              </a:ext>
            </a:extLst>
          </p:cNvPr>
          <p:cNvSpPr txBox="1"/>
          <p:nvPr/>
        </p:nvSpPr>
        <p:spPr>
          <a:xfrm>
            <a:off x="511139" y="1750948"/>
            <a:ext cx="11098659" cy="2529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GOLD STANDARD of capital budgeting</a:t>
            </a: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Definition: 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The present value of all future cash inflows minus the present value of all cash outflows.</a:t>
            </a:r>
          </a:p>
        </p:txBody>
      </p:sp>
    </p:spTree>
    <p:extLst>
      <p:ext uri="{BB962C8B-B14F-4D97-AF65-F5344CB8AC3E}">
        <p14:creationId xmlns:p14="http://schemas.microsoft.com/office/powerpoint/2010/main" val="2897923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F410B-D68A-DA68-54CE-8539D14E9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0C8D3-2553-396D-1B32-712A81F7F29C}"/>
              </a:ext>
            </a:extLst>
          </p:cNvPr>
          <p:cNvSpPr txBox="1"/>
          <p:nvPr/>
        </p:nvSpPr>
        <p:spPr>
          <a:xfrm>
            <a:off x="973477" y="580166"/>
            <a:ext cx="10482208" cy="5379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Formula: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     n       </a:t>
            </a:r>
            <a:r>
              <a:rPr lang="en-U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CFt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= Σ  ———————————  -  C₀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    t=1  (1 + r)ᵗ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Where: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</a:t>
            </a:r>
            <a:r>
              <a:rPr lang="en-US" sz="24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CFt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= Cash flow at time 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r    = Required rate of return (WACC or hurdle rate)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n    = Project life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C₀   = Initial investment</a:t>
            </a:r>
          </a:p>
        </p:txBody>
      </p:sp>
    </p:spTree>
    <p:extLst>
      <p:ext uri="{BB962C8B-B14F-4D97-AF65-F5344CB8AC3E}">
        <p14:creationId xmlns:p14="http://schemas.microsoft.com/office/powerpoint/2010/main" val="2409844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DB61B-53D1-0100-9F81-735074891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84A0F2-E02D-27C8-E87B-2F435B521EF1}"/>
              </a:ext>
            </a:extLst>
          </p:cNvPr>
          <p:cNvSpPr txBox="1"/>
          <p:nvPr/>
        </p:nvSpPr>
        <p:spPr>
          <a:xfrm>
            <a:off x="850186" y="832465"/>
            <a:ext cx="11160303" cy="315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Decision Rule: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&gt; 0  →  </a:t>
            </a:r>
            <a:r>
              <a:rPr lang="en-US" sz="32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ACCEPT  (Project creates shareholder value)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&lt; 0  →  </a:t>
            </a:r>
            <a:r>
              <a:rPr lang="en-US" sz="32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REJECT  (Project destroys shareholder value)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= 0  →  </a:t>
            </a:r>
            <a:r>
              <a:rPr lang="en-US" sz="32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⚖️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INDIFFERENT (Just earns required return)</a:t>
            </a:r>
          </a:p>
        </p:txBody>
      </p:sp>
    </p:spTree>
    <p:extLst>
      <p:ext uri="{BB962C8B-B14F-4D97-AF65-F5344CB8AC3E}">
        <p14:creationId xmlns:p14="http://schemas.microsoft.com/office/powerpoint/2010/main" val="2569741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0FE19-1067-368D-DADB-1D6B33DA4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64C9C2-C8F4-527C-51E0-3EFDC177630B}"/>
              </a:ext>
            </a:extLst>
          </p:cNvPr>
          <p:cNvSpPr txBox="1"/>
          <p:nvPr/>
        </p:nvSpPr>
        <p:spPr>
          <a:xfrm>
            <a:off x="482885" y="544108"/>
            <a:ext cx="11558427" cy="5845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Alpha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- Initial Investment: $200,000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- Required Return (WACC): 12%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2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- Cash Flows: 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Year 1: $60,000  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Year 2: $80,000  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Year 3: $90,000  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Year 4: $70,000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137318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A0D12-ECA9-C504-2658-5BC96DDC8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206181-5F0E-1B71-DCA8-28DEED522F6F}"/>
              </a:ext>
            </a:extLst>
          </p:cNvPr>
          <p:cNvSpPr txBox="1"/>
          <p:nvPr/>
        </p:nvSpPr>
        <p:spPr>
          <a:xfrm>
            <a:off x="482885" y="544108"/>
            <a:ext cx="11558427" cy="3303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Project Alpha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= 60,000/(1.12)¹ + 80,000/(1.12)² + 90,000/(1.12)³ + 70,000/(1.12)⁴ - 200,000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= 53,571 + 63,776 + 64,066 + 44,484 - 200,000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= 225,897 - 200,000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2600" kern="100" dirty="0"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NPV = +$25,897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52D914-1467-DB91-DAB4-447A13A62C20}"/>
              </a:ext>
            </a:extLst>
          </p:cNvPr>
          <p:cNvSpPr txBox="1"/>
          <p:nvPr/>
        </p:nvSpPr>
        <p:spPr>
          <a:xfrm>
            <a:off x="3047144" y="3324485"/>
            <a:ext cx="60977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ACCEPT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954384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361F2-BB06-434A-9342-24FC85372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DCE6EF-3B74-7A72-0E0B-C241BBE24927}"/>
              </a:ext>
            </a:extLst>
          </p:cNvPr>
          <p:cNvSpPr txBox="1"/>
          <p:nvPr/>
        </p:nvSpPr>
        <p:spPr>
          <a:xfrm>
            <a:off x="408395" y="1052405"/>
            <a:ext cx="11365789" cy="3996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Why NPV is Superior: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4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Accounts for time value of money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Considers ALL cash flows over the project's life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40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4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Directly measures value creation in dollar terms</a:t>
            </a:r>
          </a:p>
        </p:txBody>
      </p:sp>
    </p:spTree>
    <p:extLst>
      <p:ext uri="{BB962C8B-B14F-4D97-AF65-F5344CB8AC3E}">
        <p14:creationId xmlns:p14="http://schemas.microsoft.com/office/powerpoint/2010/main" val="3807400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41794-EF0A-C1E2-6763-1C2F5C5E6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4F06CD-7DA1-6C42-DCFD-C2DE8104EE9F}"/>
              </a:ext>
            </a:extLst>
          </p:cNvPr>
          <p:cNvSpPr txBox="1"/>
          <p:nvPr/>
        </p:nvSpPr>
        <p:spPr>
          <a:xfrm>
            <a:off x="675525" y="750281"/>
            <a:ext cx="7862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Technique 3: Internal Rate of Return (IRR)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AD0C5-7C65-ED37-A389-7FA07FF723E5}"/>
              </a:ext>
            </a:extLst>
          </p:cNvPr>
          <p:cNvSpPr txBox="1"/>
          <p:nvPr/>
        </p:nvSpPr>
        <p:spPr>
          <a:xfrm>
            <a:off x="675525" y="1639358"/>
            <a:ext cx="10934273" cy="4642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Definition: The discount rate that makes NPV = 0. It is the project's own rate of return.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     n       </a:t>
            </a:r>
            <a:r>
              <a:rPr lang="en-US" sz="2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CFt</a:t>
            </a: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0 =  Σ  ———————————  -  C₀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    t=1  (1 + IRR)ᵗ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881803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76514-2D1D-23CB-720B-02D89D5A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34DC4-AC91-EEF7-F18F-47F9B3D6AA5F}"/>
              </a:ext>
            </a:extLst>
          </p:cNvPr>
          <p:cNvSpPr txBox="1"/>
          <p:nvPr/>
        </p:nvSpPr>
        <p:spPr>
          <a:xfrm>
            <a:off x="603607" y="729724"/>
            <a:ext cx="10173983" cy="30500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Decision Rule: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IRR &gt; WACC (hurdle rate)  →  </a:t>
            </a:r>
            <a:r>
              <a:rPr lang="en-US" sz="32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ACCEPT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IRR &lt; WACC (hurdle rate)  →  </a:t>
            </a:r>
            <a:r>
              <a:rPr lang="en-US" sz="32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❌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REJECT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IRR = WACC               →  </a:t>
            </a:r>
            <a:r>
              <a:rPr lang="en-US" sz="32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⚖️</a:t>
            </a:r>
            <a:r>
              <a:rPr lang="en-US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INDIFFERENT</a:t>
            </a:r>
          </a:p>
        </p:txBody>
      </p:sp>
    </p:spTree>
    <p:extLst>
      <p:ext uri="{BB962C8B-B14F-4D97-AF65-F5344CB8AC3E}">
        <p14:creationId xmlns:p14="http://schemas.microsoft.com/office/powerpoint/2010/main" val="1784004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94EB0-36B5-CAAA-D19E-001BD4BAC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61F3B32-9DF9-72EF-11D6-E9BC835F5558}"/>
              </a:ext>
            </a:extLst>
          </p:cNvPr>
          <p:cNvSpPr txBox="1"/>
          <p:nvPr/>
        </p:nvSpPr>
        <p:spPr>
          <a:xfrm>
            <a:off x="767993" y="708345"/>
            <a:ext cx="11191126" cy="5130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IRR = r₁ + [NPV₁ / (NPV₁ - NPV₂)] × (r₂ - r₁)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Where: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r₁  = lower discount rate (positive NPV)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r₂  = higher discount rate (negative NPV)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NPV₁ = NPV at r₁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NPV₂ = NPV at r₂</a:t>
            </a:r>
          </a:p>
        </p:txBody>
      </p:sp>
    </p:spTree>
    <p:extLst>
      <p:ext uri="{BB962C8B-B14F-4D97-AF65-F5344CB8AC3E}">
        <p14:creationId xmlns:p14="http://schemas.microsoft.com/office/powerpoint/2010/main" val="35570258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D9202-337F-D726-AC32-955FEEB6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A7BDA2-69C1-2AB9-AD9C-9B97F6F24099}"/>
              </a:ext>
            </a:extLst>
          </p:cNvPr>
          <p:cNvSpPr txBox="1"/>
          <p:nvPr/>
        </p:nvSpPr>
        <p:spPr>
          <a:xfrm>
            <a:off x="531687" y="547538"/>
            <a:ext cx="10204807" cy="5904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32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Using Project Alpha above: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- At 12% → NPV = +$25,897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- At 20% → NPV = -$8,432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 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IRR = 12% + [25,897 / (25,897 + 8,432)] × (20% - 12%)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= 12% + [25,897 / 34,329] × 8%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= 12% + 0.754 × 8%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= 12% + 6.04%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   = 18.04%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Vrinda" panose="020B0502040204020203" pitchFamily="34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Since 18.04% &gt; 12% (WACC) → </a:t>
            </a:r>
            <a:r>
              <a:rPr lang="en-US" sz="2400" kern="100" dirty="0"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✅</a:t>
            </a:r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Vrinda" panose="020B0502040204020203" pitchFamily="34" charset="0"/>
              </a:rPr>
              <a:t> ACCEPT</a:t>
            </a:r>
          </a:p>
        </p:txBody>
      </p:sp>
    </p:spTree>
    <p:extLst>
      <p:ext uri="{BB962C8B-B14F-4D97-AF65-F5344CB8AC3E}">
        <p14:creationId xmlns:p14="http://schemas.microsoft.com/office/powerpoint/2010/main" val="3829438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990</Words>
  <Application>Microsoft Office PowerPoint</Application>
  <PresentationFormat>Widescreen</PresentationFormat>
  <Paragraphs>160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Inter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Khaled Bin Kamal</dc:creator>
  <cp:lastModifiedBy>Khaled Kamal</cp:lastModifiedBy>
  <cp:revision>3</cp:revision>
  <dcterms:created xsi:type="dcterms:W3CDTF">2026-05-06T01:23:44Z</dcterms:created>
  <dcterms:modified xsi:type="dcterms:W3CDTF">2026-05-06T11:17:43Z</dcterms:modified>
</cp:coreProperties>
</file>