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9"/>
  </p:notesMasterIdLst>
  <p:sldIdLst>
    <p:sldId id="263" r:id="rId6"/>
    <p:sldId id="354" r:id="rId7"/>
    <p:sldId id="850" r:id="rId8"/>
    <p:sldId id="851" r:id="rId9"/>
    <p:sldId id="847" r:id="rId10"/>
    <p:sldId id="848" r:id="rId11"/>
    <p:sldId id="852" r:id="rId12"/>
    <p:sldId id="273" r:id="rId13"/>
    <p:sldId id="355" r:id="rId14"/>
    <p:sldId id="356" r:id="rId15"/>
    <p:sldId id="357" r:id="rId16"/>
    <p:sldId id="298" r:id="rId17"/>
    <p:sldId id="853" r:id="rId18"/>
    <p:sldId id="858" r:id="rId19"/>
    <p:sldId id="859" r:id="rId20"/>
    <p:sldId id="857" r:id="rId21"/>
    <p:sldId id="860" r:id="rId22"/>
    <p:sldId id="854" r:id="rId23"/>
    <p:sldId id="855" r:id="rId24"/>
    <p:sldId id="856" r:id="rId25"/>
    <p:sldId id="861" r:id="rId26"/>
    <p:sldId id="844" r:id="rId27"/>
    <p:sldId id="395" r:id="rId28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pos="38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546" y="66"/>
      </p:cViewPr>
      <p:guideLst>
        <p:guide orient="horz" pos="2166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3EFD42F7-718C-4B98-AAEC-167E6DDD60A7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4100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21B2AA4F-B828-4D7C-AFD3-893933DAFCB4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99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1D15-D1DB-5F61-45ED-A3341FA7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6291F5B5-31B4-9A9C-C3FA-6C8E8D1A5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CDBB4D75-020C-A07B-3466-FC46B21A65B2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60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137E-FB04-E691-A3ED-B1D8F22B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EF871661-318D-F842-7772-43AB35038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5044B88F-98CD-F080-71CD-9D5526C7A9A3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0376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43B6-1478-80B0-ECEE-BCDA6F2B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AA65B45C-3CCD-A952-46BF-5A513487B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B7237ADB-6289-997A-FFEF-CD085F39FD07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271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85D28-133C-27F3-D867-D762C486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8CD0C490-52E0-8E6A-E108-6F58116E6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73298754-1A95-BA66-4E65-4F20848E3E2A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078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3330-8D8A-6079-9697-261328EC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D40FF90C-66DD-C1A3-14D6-AEBB000B8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8C975AA4-557E-1535-81E7-35DF49E85A89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328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826AF-E918-86B7-A59F-5E13B5AD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06E50FD2-79F8-A489-CB32-0759DC824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C38E381F-9053-ADCF-72B8-760D3D0C8F3C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180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2/6/2026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rporatefinanceinstitute.com/resources/wealth-management/personal-financ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rporatefinanceinstitute.com/resources/economics/public-finance/" TargetMode="External"/><Relationship Id="rId4" Type="http://schemas.openxmlformats.org/officeDocument/2006/relationships/hyperlink" Target="https://corporatefinanceinstitute.com/resources/fpa/corporate-finance-industry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4FBC4-37B5-2D6D-9E67-49C4CFEBF74B}"/>
              </a:ext>
            </a:extLst>
          </p:cNvPr>
          <p:cNvSpPr txBox="1"/>
          <p:nvPr/>
        </p:nvSpPr>
        <p:spPr>
          <a:xfrm>
            <a:off x="1604683" y="2496389"/>
            <a:ext cx="96191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en-US" sz="4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Financial System &amp; Managerial Finance </a:t>
            </a:r>
            <a:r>
              <a:rPr lang="en-US" sz="44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</a:t>
            </a:r>
          </a:p>
          <a:p>
            <a:pPr algn="ctr" fontAlgn="auto"/>
            <a:r>
              <a:rPr lang="en-US" sz="44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(BUS526)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88" y="3121025"/>
            <a:ext cx="3659188" cy="178752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4400" b="0" i="0" u="none" strike="noStrike" kern="1200" cap="none" spc="0" normalizeH="0" baseline="0" noProof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 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Resource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966" y="63807"/>
            <a:ext cx="691197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36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Khaled Bin Kamal</a:t>
            </a:r>
            <a:endParaRPr lang="en-US" sz="3600" b="1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/>
            <a:r>
              <a:rPr lang="en-US" sz="2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Corporate Professional</a:t>
            </a:r>
            <a:r>
              <a:rPr lang="en-US" sz="2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&amp; Independent Researcher</a:t>
            </a:r>
          </a:p>
          <a:p>
            <a:pPr fontAlgn="auto"/>
            <a:endParaRPr lang="en-US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/>
            <a:r>
              <a:rPr lang="en-US" sz="24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    Em</a:t>
            </a:r>
            <a:r>
              <a:rPr lang="en-US" sz="24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loyers so far: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Netle Bangladesh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Standard Chartered Bank 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Nagad Limited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BRAC Bank Limited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Unique Group, DBL Group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Walton Hi-tech industries PLC 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54FBC4-37B5-2D6D-9E67-49C4CFEBF74B}"/>
              </a:ext>
            </a:extLst>
          </p:cNvPr>
          <p:cNvSpPr txBox="1"/>
          <p:nvPr/>
        </p:nvSpPr>
        <p:spPr>
          <a:xfrm>
            <a:off x="5081631" y="598467"/>
            <a:ext cx="69684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buFont typeface="Arial" panose="020B0604020202020204" pitchFamily="34" charset="0"/>
              <a:buChar char="•"/>
            </a:pP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>
              <a:buFont typeface="Arial" panose="020B0604020202020204" pitchFamily="34" charset="0"/>
              <a:buNone/>
            </a:pPr>
            <a:r>
              <a:rPr lang="en-US" sz="24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               Academic Education: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Pursuing PhD in Finance in USM Malaysia 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MBA from IBA , University of Dhaka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BBA from FBS , University of Dhaka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CERM(Certified Expert in Risk Mgt) from Frankfurt </a:t>
            </a:r>
          </a:p>
          <a:p>
            <a:pPr fontAlgn="auto"/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  school of finance &amp; management, Germany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CFC(Certified Financial Consultant) from Institutie of </a:t>
            </a:r>
          </a:p>
          <a:p>
            <a:pPr fontAlgn="auto"/>
            <a:r>
              <a:rPr 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  Financial Consultants, USA</a:t>
            </a:r>
            <a:endParaRPr 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766F2-5896-C960-6DDB-B94FAC45F0EC}"/>
              </a:ext>
            </a:extLst>
          </p:cNvPr>
          <p:cNvSpPr txBox="1"/>
          <p:nvPr/>
        </p:nvSpPr>
        <p:spPr>
          <a:xfrm>
            <a:off x="520445" y="4291785"/>
            <a:ext cx="43561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buFont typeface="Arial" panose="020B0604020202020204" pitchFamily="34" charset="0"/>
              <a:buChar char="•"/>
            </a:pPr>
            <a:endParaRPr lang="en-US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Corporate governance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Corporate finance &amp; treasury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Banking Risk Management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Enterprise Risk Management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Financial Crime Compliance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Regulatory Compliance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7EEE64-B9D0-2FFC-8F28-EFD80200899B}"/>
              </a:ext>
            </a:extLst>
          </p:cNvPr>
          <p:cNvSpPr txBox="1"/>
          <p:nvPr/>
        </p:nvSpPr>
        <p:spPr>
          <a:xfrm>
            <a:off x="6387769" y="3977738"/>
            <a:ext cx="43561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buFont typeface="Arial" panose="020B0604020202020204" pitchFamily="34" charset="0"/>
              <a:buChar char="•"/>
            </a:pPr>
            <a:endParaRPr lang="en-US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fontAlgn="auto">
              <a:buFont typeface="Arial" panose="020B0604020202020204" pitchFamily="34" charset="0"/>
              <a:buNone/>
            </a:pPr>
            <a:endParaRPr lang="en-US" sz="20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Project Management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Business Process Review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Business Continuity Strategy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Corporate Branding 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Corporate Communication</a:t>
            </a:r>
          </a:p>
          <a:p>
            <a:pPr marL="285750" indent="-285750" fontAlgn="auto">
              <a:buFont typeface="Arial" panose="020B0604020202020204" pitchFamily="34" charset="0"/>
              <a:buChar char="•"/>
            </a:pPr>
            <a:r>
              <a:rPr lang="en-US" sz="20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Audit &amp; Assurance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1B7FA-D9E6-FF0D-8C7C-8855CF899924}"/>
              </a:ext>
            </a:extLst>
          </p:cNvPr>
          <p:cNvSpPr txBox="1"/>
          <p:nvPr/>
        </p:nvSpPr>
        <p:spPr>
          <a:xfrm>
            <a:off x="2826001" y="413789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buFont typeface="Arial" panose="020B0604020202020204" pitchFamily="34" charset="0"/>
              <a:buNone/>
            </a:pPr>
            <a:r>
              <a:rPr lang="en-US" sz="28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Areas of expertise &amp; experience:</a:t>
            </a:r>
            <a:endParaRPr lang="en-US" sz="28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310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9AF5-D964-1DBA-D959-7700007B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C99BFE-FD29-ED4E-18DF-9C8C2CCD2A14}"/>
              </a:ext>
            </a:extLst>
          </p:cNvPr>
          <p:cNvSpPr txBox="1"/>
          <p:nvPr/>
        </p:nvSpPr>
        <p:spPr>
          <a:xfrm>
            <a:off x="883920" y="1977519"/>
            <a:ext cx="813816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12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CLASSES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3 QUIZES (BEST 2)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MID TERM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ASSIGNMENT 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TERM PAPER &amp;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PRESENTATION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CLASS PARTICIAPTION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FINAL EXAM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0" i="0" u="none" strike="noStrike" baseline="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A059C-BC97-A0BA-ABF8-29797EE690B0}"/>
              </a:ext>
            </a:extLst>
          </p:cNvPr>
          <p:cNvSpPr txBox="1"/>
          <p:nvPr/>
        </p:nvSpPr>
        <p:spPr>
          <a:xfrm>
            <a:off x="3540760" y="502038"/>
            <a:ext cx="5339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 STRUCTURE </a:t>
            </a:r>
          </a:p>
        </p:txBody>
      </p:sp>
    </p:spTree>
    <p:extLst>
      <p:ext uri="{BB962C8B-B14F-4D97-AF65-F5344CB8AC3E}">
        <p14:creationId xmlns:p14="http://schemas.microsoft.com/office/powerpoint/2010/main" val="1475934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7306-C8DF-B384-A376-BA6397C5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680647-888F-B0D2-9061-07F8F71AFF68}"/>
              </a:ext>
            </a:extLst>
          </p:cNvPr>
          <p:cNvSpPr txBox="1"/>
          <p:nvPr/>
        </p:nvSpPr>
        <p:spPr>
          <a:xfrm>
            <a:off x="3583758" y="551091"/>
            <a:ext cx="58740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 EVALUATION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86729F-3079-7E25-9385-3777DE58F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965538"/>
              </p:ext>
            </p:extLst>
          </p:nvPr>
        </p:nvGraphicFramePr>
        <p:xfrm>
          <a:off x="1316914" y="1742476"/>
          <a:ext cx="9046286" cy="3794992"/>
        </p:xfrm>
        <a:graphic>
          <a:graphicData uri="http://schemas.openxmlformats.org/drawingml/2006/table">
            <a:tbl>
              <a:tblPr/>
              <a:tblGrid>
                <a:gridCol w="5736669">
                  <a:extLst>
                    <a:ext uri="{9D8B030D-6E8A-4147-A177-3AD203B41FA5}">
                      <a16:colId xmlns:a16="http://schemas.microsoft.com/office/drawing/2014/main" val="4079813223"/>
                    </a:ext>
                  </a:extLst>
                </a:gridCol>
                <a:gridCol w="3309617">
                  <a:extLst>
                    <a:ext uri="{9D8B030D-6E8A-4147-A177-3AD203B41FA5}">
                      <a16:colId xmlns:a16="http://schemas.microsoft.com/office/drawing/2014/main" val="3588887389"/>
                    </a:ext>
                  </a:extLst>
                </a:gridCol>
              </a:tblGrid>
              <a:tr h="6713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of the Total Assessment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81170"/>
                  </a:ext>
                </a:extLst>
              </a:tr>
              <a:tr h="3813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Attendance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25320"/>
                  </a:ext>
                </a:extLst>
              </a:tr>
              <a:tr h="3813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Quizzes (2 out of 3)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302060"/>
                  </a:ext>
                </a:extLst>
              </a:tr>
              <a:tr h="3813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Assignments (Individual)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210453"/>
                  </a:ext>
                </a:extLst>
              </a:tr>
              <a:tr h="3813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 Term Paper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736782"/>
                  </a:ext>
                </a:extLst>
              </a:tr>
              <a:tr h="3813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Mid-term Examintion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25%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72314"/>
                  </a:ext>
                </a:extLst>
              </a:tr>
              <a:tr h="4667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Final Examination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40%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411492"/>
                  </a:ext>
                </a:extLst>
              </a:tr>
              <a:tr h="3813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20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3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555A3-6738-30D6-EE32-C7B964EF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08C371-80FE-7980-FE5F-B3EEA3B7624D}"/>
              </a:ext>
            </a:extLst>
          </p:cNvPr>
          <p:cNvSpPr txBox="1"/>
          <p:nvPr/>
        </p:nvSpPr>
        <p:spPr>
          <a:xfrm>
            <a:off x="3044466" y="79673"/>
            <a:ext cx="6251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4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1BB57-6790-DFDC-2E0E-0739427C6071}"/>
              </a:ext>
            </a:extLst>
          </p:cNvPr>
          <p:cNvSpPr txBox="1"/>
          <p:nvPr/>
        </p:nvSpPr>
        <p:spPr>
          <a:xfrm>
            <a:off x="193936" y="954827"/>
            <a:ext cx="11804127" cy="556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Explain major financial statements of businesses and the methods of </a:t>
            </a:r>
            <a:r>
              <a:rPr lang="en-US" sz="2400" b="1" dirty="0"/>
              <a:t>fundamental analysis using financial ratios.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Describe the application of </a:t>
            </a:r>
            <a:r>
              <a:rPr lang="en-US" sz="2400" b="1" dirty="0"/>
              <a:t>time value of money </a:t>
            </a:r>
            <a:r>
              <a:rPr lang="en-US" sz="2400" dirty="0"/>
              <a:t>in financial management as well as in dealing with valuation problems of capital market securities.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Explain the </a:t>
            </a:r>
            <a:r>
              <a:rPr lang="en-US" sz="2400" b="1" dirty="0"/>
              <a:t>mechanics of trading securities</a:t>
            </a:r>
            <a:r>
              <a:rPr lang="en-US" sz="2400" dirty="0"/>
              <a:t>, the alternative marketplaces in which these various types of transactions take place, and the players who facilitate these deals.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Explain the assessment techniques and implications of </a:t>
            </a:r>
            <a:r>
              <a:rPr lang="en-US" sz="2400" b="1" dirty="0"/>
              <a:t>risk-return trade-off </a:t>
            </a:r>
            <a:r>
              <a:rPr lang="en-US" sz="2400" dirty="0"/>
              <a:t>in the investment process.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Help learners develop foundation </a:t>
            </a:r>
            <a:r>
              <a:rPr lang="en-US" sz="2400" b="1" dirty="0"/>
              <a:t>knowledge on the valuation methods </a:t>
            </a:r>
            <a:r>
              <a:rPr lang="en-US" sz="2400" dirty="0"/>
              <a:t>of various long-term capital market securities and determine the cost of capital of alternative financial sources. </a:t>
            </a:r>
          </a:p>
        </p:txBody>
      </p:sp>
    </p:spTree>
    <p:extLst>
      <p:ext uri="{BB962C8B-B14F-4D97-AF65-F5344CB8AC3E}">
        <p14:creationId xmlns:p14="http://schemas.microsoft.com/office/powerpoint/2010/main" val="248525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3782-83F0-8AE1-CD08-2E5D2A63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5FE35-3981-BEC9-00D5-9BAD1FF02CA6}"/>
              </a:ext>
            </a:extLst>
          </p:cNvPr>
          <p:cNvSpPr txBox="1"/>
          <p:nvPr/>
        </p:nvSpPr>
        <p:spPr>
          <a:xfrm>
            <a:off x="4156089" y="230806"/>
            <a:ext cx="6251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4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 TOPICS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4A85E-79B7-5974-AEDD-EB7EBF633BB3}"/>
              </a:ext>
            </a:extLst>
          </p:cNvPr>
          <p:cNvSpPr txBox="1"/>
          <p:nvPr/>
        </p:nvSpPr>
        <p:spPr>
          <a:xfrm>
            <a:off x="399553" y="1000247"/>
            <a:ext cx="11541760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Basic Finance Terms &amp; Financial Institutions and Markets</a:t>
            </a:r>
            <a:r>
              <a:rPr lang="en-US" sz="24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Financial Statements, Cash Flows and Taxes</a:t>
            </a:r>
            <a:r>
              <a:rPr lang="en-US" sz="24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Evaluating a firm’s financial performance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Time Value of Money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Risk and Return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Bonds and Their Valuation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Stock Valuation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Cost of Capital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Capital Budgeting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Basics of Working Capital Management</a:t>
            </a:r>
            <a:endParaRPr lang="en-US" sz="2400" dirty="0"/>
          </a:p>
          <a:p>
            <a:endParaRPr lang="en-US" dirty="0"/>
          </a:p>
          <a:p>
            <a:endParaRPr 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16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5602-3E4F-EDAF-38DF-20A21DDD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5D87FF-6ACD-BB4B-0E50-0BF47FCCC65D}"/>
              </a:ext>
            </a:extLst>
          </p:cNvPr>
          <p:cNvSpPr txBox="1"/>
          <p:nvPr/>
        </p:nvSpPr>
        <p:spPr>
          <a:xfrm>
            <a:off x="2483223" y="230806"/>
            <a:ext cx="80861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sz="4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COURSE LEARNING MATERIALS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2094A-DEFE-7C74-F771-87F4A2F4EEDE}"/>
              </a:ext>
            </a:extLst>
          </p:cNvPr>
          <p:cNvSpPr txBox="1"/>
          <p:nvPr/>
        </p:nvSpPr>
        <p:spPr>
          <a:xfrm>
            <a:off x="399553" y="1000247"/>
            <a:ext cx="1154176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/>
              <a:t>Learning Materials: </a:t>
            </a:r>
          </a:p>
          <a:p>
            <a:pPr lvl="0"/>
            <a:endParaRPr lang="en-US" sz="2400" b="1" dirty="0"/>
          </a:p>
          <a:p>
            <a:pPr lvl="0"/>
            <a:r>
              <a:rPr lang="en-US" sz="2400" b="1" dirty="0"/>
              <a:t>Recommended Readings:</a:t>
            </a:r>
            <a:endParaRPr lang="en-US" sz="2400" dirty="0"/>
          </a:p>
          <a:p>
            <a:r>
              <a:rPr lang="en-US" dirty="0"/>
              <a:t> 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Fundamentals of Financial Management by Eugene F. Brigham and Joel F. Houston (15e)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Essentials of Managerial Finance by Scott Besley and Eugene F. Brigham (14e)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Principles of Managerial Finance by Lawrence J. Gitman &amp; Chad J. Zutter (14e)</a:t>
            </a:r>
          </a:p>
          <a:p>
            <a:r>
              <a:rPr lang="en-US" dirty="0"/>
              <a:t> </a:t>
            </a:r>
          </a:p>
          <a:p>
            <a:pPr lvl="0"/>
            <a:r>
              <a:rPr lang="en-US" sz="2400" b="1" dirty="0"/>
              <a:t>Others resources: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www.ft.com - Financial Times </a:t>
            </a:r>
          </a:p>
          <a:p>
            <a:pPr lvl="0"/>
            <a:r>
              <a:rPr lang="en-US" dirty="0"/>
              <a:t>www.wsj.com - The Wall Street Journal Online </a:t>
            </a:r>
          </a:p>
          <a:p>
            <a:pPr lvl="0"/>
            <a:r>
              <a:rPr lang="en-US" dirty="0"/>
              <a:t>www.economist.com – The Economist</a:t>
            </a:r>
          </a:p>
          <a:p>
            <a:pPr lvl="0"/>
            <a:r>
              <a:rPr lang="en-US" dirty="0"/>
              <a:t>www.bloomberg.com – Business and Markets news</a:t>
            </a:r>
          </a:p>
          <a:p>
            <a:pPr lvl="0"/>
            <a:r>
              <a:rPr lang="en-US" dirty="0"/>
              <a:t>www.dsebd.org – Dhaka Stock Exchange (DSE)</a:t>
            </a:r>
          </a:p>
          <a:p>
            <a:pPr lvl="0"/>
            <a:r>
              <a:rPr lang="en-US" dirty="0"/>
              <a:t>Financial press and financial pages of daily papers: “The Financial Express”, “The </a:t>
            </a:r>
            <a:r>
              <a:rPr lang="en-US" dirty="0" err="1"/>
              <a:t>Businsess</a:t>
            </a:r>
            <a:r>
              <a:rPr lang="en-US" dirty="0"/>
              <a:t> Standard”, “The Economist” and business sections of other international / local newspapers.</a:t>
            </a:r>
          </a:p>
          <a:p>
            <a:endParaRPr lang="en-US" dirty="0"/>
          </a:p>
          <a:p>
            <a:endParaRPr 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281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/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47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/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What is Finance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11269" name="Content Placeholder 18"/>
          <p:cNvSpPr>
            <a:spLocks noGrp="1"/>
          </p:cNvSpPr>
          <p:nvPr>
            <p:ph idx="1"/>
          </p:nvPr>
        </p:nvSpPr>
        <p:spPr>
          <a:xfrm>
            <a:off x="955040" y="2754313"/>
            <a:ext cx="11102975" cy="1047751"/>
          </a:xfrm>
          <a:ln/>
        </p:spPr>
        <p:txBody>
          <a:bodyPr vert="horz" lIns="91440" tIns="45720" rIns="91440" bIns="45720" anchor="t" anchorCtr="0"/>
          <a:lstStyle/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3600" b="1" dirty="0"/>
              <a:t>Money: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dirty="0"/>
              <a:t>-medium of exchange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dirty="0"/>
              <a:t>-barter system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dirty="0"/>
              <a:t>-m1, m2, m3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dirty="0"/>
              <a:t>-Fiat money</a:t>
            </a:r>
          </a:p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dirty="0"/>
              <a:t>-emoney </a:t>
            </a:r>
          </a:p>
          <a:p>
            <a:pPr marL="0" indent="0">
              <a:lnSpc>
                <a:spcPct val="140000"/>
              </a:lnSpc>
              <a:spcAft>
                <a:spcPct val="0"/>
              </a:spcAft>
              <a:buNone/>
            </a:pPr>
            <a:r>
              <a:rPr lang="en-US" altLang="zh-CN" sz="3600" b="1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/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470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/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What is Finance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11269" name="Content Placeholder 18"/>
          <p:cNvSpPr>
            <a:spLocks noGrp="1"/>
          </p:cNvSpPr>
          <p:nvPr>
            <p:ph idx="1"/>
          </p:nvPr>
        </p:nvSpPr>
        <p:spPr>
          <a:xfrm>
            <a:off x="792480" y="2754313"/>
            <a:ext cx="11102975" cy="1047751"/>
          </a:xfrm>
          <a:ln/>
        </p:spPr>
        <p:txBody>
          <a:bodyPr vert="horz" lIns="91440" tIns="45720" rIns="91440" bIns="45720" anchor="t" anchorCtr="0"/>
          <a:lstStyle/>
          <a:p>
            <a:pPr marL="0" indent="0">
              <a:lnSpc>
                <a:spcPct val="100000"/>
              </a:lnSpc>
              <a:spcAft>
                <a:spcPct val="0"/>
              </a:spcAft>
              <a:buNone/>
            </a:pPr>
            <a:r>
              <a:rPr lang="en-US" b="1" i="1" dirty="0"/>
              <a:t>“The system or study of creating, circulating and managing </a:t>
            </a:r>
            <a:r>
              <a:rPr lang="en-US" b="1" i="1" u="sng" dirty="0"/>
              <a:t>money</a:t>
            </a:r>
            <a:r>
              <a:rPr lang="en-US" b="1" i="1" dirty="0"/>
              <a:t>” </a:t>
            </a:r>
            <a:r>
              <a:rPr lang="en-US" dirty="0"/>
              <a:t>– Investopedia</a:t>
            </a:r>
            <a:r>
              <a:rPr lang="en-US" altLang="zh-CN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78B9A-306E-41EF-0234-6AD5F865981B}"/>
              </a:ext>
            </a:extLst>
          </p:cNvPr>
          <p:cNvSpPr txBox="1"/>
          <p:nvPr/>
        </p:nvSpPr>
        <p:spPr>
          <a:xfrm>
            <a:off x="792480" y="4029275"/>
            <a:ext cx="10607040" cy="262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i="1" dirty="0">
                <a:latin typeface="+mn-lt"/>
              </a:rPr>
              <a:t>“Finance is defined as the management of money and includes activities such as investing, borrowing, lending, budgeting, saving, and forecasting. There are three main types of finance: (1) </a:t>
            </a:r>
            <a:r>
              <a:rPr lang="en-US" sz="2800" b="1" i="1" dirty="0"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personal</a:t>
            </a:r>
            <a:r>
              <a:rPr lang="en-US" sz="2800" b="1" i="1" dirty="0">
                <a:latin typeface="+mn-lt"/>
              </a:rPr>
              <a:t>, (2) </a:t>
            </a:r>
            <a:r>
              <a:rPr lang="en-US" sz="2800" b="1" i="1" dirty="0"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corporate</a:t>
            </a:r>
            <a:r>
              <a:rPr lang="en-US" sz="2800" b="1" i="1" dirty="0">
                <a:latin typeface="+mn-lt"/>
              </a:rPr>
              <a:t>, and (3) </a:t>
            </a:r>
            <a:r>
              <a:rPr lang="en-US" sz="2800" b="1" i="1" dirty="0"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</a:t>
            </a:r>
            <a:r>
              <a:rPr lang="en-US" sz="2800" b="1" i="1" dirty="0">
                <a:latin typeface="+mn-lt"/>
              </a:rPr>
              <a:t>/government.” 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+mn-lt"/>
              </a:rPr>
              <a:t>– CFI (corporate finance institute)</a:t>
            </a:r>
          </a:p>
        </p:txBody>
      </p:sp>
    </p:spTree>
    <p:extLst>
      <p:ext uri="{BB962C8B-B14F-4D97-AF65-F5344CB8AC3E}">
        <p14:creationId xmlns:p14="http://schemas.microsoft.com/office/powerpoint/2010/main" val="21183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/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470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/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What is Finance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11269" name="Content Placeholder 18"/>
          <p:cNvSpPr>
            <a:spLocks noGrp="1"/>
          </p:cNvSpPr>
          <p:nvPr>
            <p:ph idx="1"/>
          </p:nvPr>
        </p:nvSpPr>
        <p:spPr>
          <a:xfrm>
            <a:off x="544512" y="2905124"/>
            <a:ext cx="11102975" cy="1047751"/>
          </a:xfrm>
          <a:ln/>
        </p:spPr>
        <p:txBody>
          <a:bodyPr vert="horz" lIns="91440" tIns="45720" rIns="91440" bIns="45720" anchor="t" anchorCtr="0"/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“Finance is Procurement /sourcing of fund and utilization of that fund”. </a:t>
            </a: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Sourcing can be done from </a:t>
            </a:r>
            <a:r>
              <a:rPr lang="en-US" sz="36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Surplus unit </a:t>
            </a: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utilization can be done to </a:t>
            </a:r>
            <a:r>
              <a:rPr lang="en-US" sz="36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deficit unit</a:t>
            </a: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; can be individual institute or government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6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/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470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/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What is Business Finance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11269" name="Content Placeholder 18"/>
          <p:cNvSpPr>
            <a:spLocks noGrp="1"/>
          </p:cNvSpPr>
          <p:nvPr>
            <p:ph idx="1"/>
          </p:nvPr>
        </p:nvSpPr>
        <p:spPr>
          <a:xfrm>
            <a:off x="544512" y="2905124"/>
            <a:ext cx="11102975" cy="2367916"/>
          </a:xfrm>
          <a:ln/>
        </p:spPr>
        <p:txBody>
          <a:bodyPr vert="horz" lIns="91440" tIns="45720" rIns="91440" bIns="45720" anchor="t" anchorCtr="0"/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“Finance is Procurement /sourcing of fund and utilization of that fund </a:t>
            </a:r>
            <a:r>
              <a:rPr lang="en-US" sz="40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 a view to maximize wealth or profit or both</a:t>
            </a:r>
            <a: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31978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6387" name="Picture 9"/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Title 1"/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QUIZ TIME</a:t>
            </a:r>
          </a:p>
        </p:txBody>
      </p:sp>
      <p:sp>
        <p:nvSpPr>
          <p:cNvPr id="16389" name="Content Placeholder 18"/>
          <p:cNvSpPr>
            <a:spLocks noGrp="1"/>
          </p:cNvSpPr>
          <p:nvPr>
            <p:ph idx="1"/>
          </p:nvPr>
        </p:nvSpPr>
        <p:spPr>
          <a:xfrm>
            <a:off x="1004888" y="2505075"/>
            <a:ext cx="10831512" cy="1681163"/>
          </a:xfrm>
          <a:ln/>
        </p:spPr>
        <p:txBody>
          <a:bodyPr vert="horz" lIns="91440" tIns="45720" rIns="91440" bIns="45720" anchor="t" anchorCtr="0"/>
          <a:lstStyle/>
          <a:p>
            <a:pPr marL="0" indent="0">
              <a:buNone/>
            </a:pPr>
            <a:r>
              <a:rPr lang="en-US" altLang="zh-CN" sz="3200" dirty="0"/>
              <a:t>Core activity of Finance:</a:t>
            </a:r>
            <a:endParaRPr lang="en-US" altLang="zh-CN" sz="200" dirty="0"/>
          </a:p>
          <a:p>
            <a:pPr marL="0" indent="0">
              <a:buNone/>
            </a:pP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1. Printing &amp; Circulating Money</a:t>
            </a:r>
          </a:p>
          <a:p>
            <a:pPr marL="0" indent="0">
              <a:buNone/>
            </a:pPr>
            <a:r>
              <a:rPr lang="en-US" altLang="zh-CN" sz="3200" dirty="0"/>
              <a:t>2. Management of money effectively</a:t>
            </a:r>
          </a:p>
          <a:p>
            <a:pPr marL="0" indent="0">
              <a:buNone/>
            </a:pPr>
            <a:r>
              <a:rPr lang="en-US" altLang="zh-CN" sz="3200" dirty="0"/>
              <a:t>3. Creating, circulating and management of money</a:t>
            </a:r>
          </a:p>
          <a:p>
            <a:pPr marL="0" indent="0">
              <a:buNone/>
            </a:pPr>
            <a:r>
              <a:rPr lang="en-US" altLang="zh-CN" sz="3200" dirty="0"/>
              <a:t>4. All of the above</a:t>
            </a:r>
          </a:p>
        </p:txBody>
      </p:sp>
      <p:sp>
        <p:nvSpPr>
          <p:cNvPr id="17414" name="Content Placeholder 18"/>
          <p:cNvSpPr>
            <a:spLocks noGrp="1"/>
          </p:cNvSpPr>
          <p:nvPr/>
        </p:nvSpPr>
        <p:spPr>
          <a:xfrm>
            <a:off x="3804285" y="6097904"/>
            <a:ext cx="3602355" cy="593409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 altLang="zh-CN" sz="3200" b="1" dirty="0">
                <a:latin typeface="Arial Nova Cond" charset="0"/>
              </a:rPr>
              <a:t>Correct answer: 3.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04CE-D659-8174-DF06-4ED03ABC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7D07C0-608F-D4F7-FEAE-63579FFC242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C4ACF40E-F7D7-2EA1-2253-32C3F7E071E2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5505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58290B62-4DFB-9CC3-5019-118099B8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Finance Vs Economics Vs Accounting?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ECCBF-2A0F-1E4A-B5FC-A1EAD6B3279B}"/>
              </a:ext>
            </a:extLst>
          </p:cNvPr>
          <p:cNvSpPr txBox="1"/>
          <p:nvPr/>
        </p:nvSpPr>
        <p:spPr>
          <a:xfrm>
            <a:off x="603623" y="2226858"/>
            <a:ext cx="11232777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Inter"/>
              </a:rPr>
              <a:t>Economics – Theoretical Study </a:t>
            </a:r>
          </a:p>
          <a:p>
            <a:pPr algn="just"/>
            <a:r>
              <a:rPr lang="en-US" sz="2400" b="1" dirty="0"/>
              <a:t>"The Big Picture of the business environment”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Inter"/>
              </a:rPr>
              <a:t>Finance – Decision Making</a:t>
            </a:r>
          </a:p>
          <a:p>
            <a:pPr algn="just"/>
            <a:r>
              <a:rPr lang="en-US" sz="2400" b="1" dirty="0"/>
              <a:t>“Management of money in business"</a:t>
            </a: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endParaRPr lang="en-US" sz="200" dirty="0">
              <a:solidFill>
                <a:srgbClr val="000000"/>
              </a:solidFill>
              <a:latin typeface="Inter"/>
            </a:endParaRPr>
          </a:p>
          <a:p>
            <a:pPr algn="just"/>
            <a:r>
              <a:rPr lang="en-US" sz="4000" dirty="0">
                <a:solidFill>
                  <a:srgbClr val="000000"/>
                </a:solidFill>
                <a:latin typeface="Inter"/>
              </a:rPr>
              <a:t>Accounting – Information System</a:t>
            </a:r>
          </a:p>
          <a:p>
            <a:pPr algn="just"/>
            <a:r>
              <a:rPr lang="en-US" sz="2400" b="1" dirty="0"/>
              <a:t>The language of the business</a:t>
            </a:r>
          </a:p>
        </p:txBody>
      </p:sp>
    </p:spTree>
    <p:extLst>
      <p:ext uri="{BB962C8B-B14F-4D97-AF65-F5344CB8AC3E}">
        <p14:creationId xmlns:p14="http://schemas.microsoft.com/office/powerpoint/2010/main" val="2952663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E745-FC2C-4548-BBB7-8DC128C1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D2B54C-20DB-D029-5B0F-BFFF31113DB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69ADB1A2-0B15-7FD1-19F7-70C39070E164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5505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F40B4D7F-A773-6AEB-EF57-256ED868B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Finance Vs Economics Vs Accounting?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3C78E-A058-0BB8-E5A7-62C6A952C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96" y="2603701"/>
            <a:ext cx="10112492" cy="3820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279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72D7-6FB4-9D0D-B35A-7C7A5F4E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3E306E-8B2D-965F-A1D2-9AB7114666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5628368E-7AD0-720F-A5C7-B5D12C07FF2F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5505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F4397FBC-57BE-BB05-6CD9-1296107E5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Finance Vs Economics Vs Accounting?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B2ED-529A-297B-1960-2CB62032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23" y="2676244"/>
            <a:ext cx="11052553" cy="3123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2221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FC73-5C68-9FFB-DD45-A47D6B2D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20BD5-90A4-4991-1D09-B152205D08B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37D155BB-3729-449E-6D9C-F25A6F7F41ED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5505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4703608C-7373-0D01-A758-20EC072B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Opportunity Cost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851D0-2E02-3E93-89D6-3545EF8381A7}"/>
              </a:ext>
            </a:extLst>
          </p:cNvPr>
          <p:cNvSpPr txBox="1"/>
          <p:nvPr/>
        </p:nvSpPr>
        <p:spPr>
          <a:xfrm>
            <a:off x="842682" y="2935070"/>
            <a:ext cx="104349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/>
              <a:t>Opportunity Cost</a:t>
            </a:r>
            <a:r>
              <a:rPr lang="en-US" sz="4000" dirty="0"/>
              <a:t> is the value of the </a:t>
            </a:r>
            <a:r>
              <a:rPr lang="en-US" sz="4000" b="1" dirty="0"/>
              <a:t>"Road Not Taken."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0D02BD-3B99-BA9E-5859-2A0186D7FE76}"/>
                  </a:ext>
                </a:extLst>
              </p:cNvPr>
              <p:cNvSpPr txBox="1"/>
              <p:nvPr/>
            </p:nvSpPr>
            <p:spPr>
              <a:xfrm>
                <a:off x="842682" y="4983486"/>
                <a:ext cx="95205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i="0" smtClean="0">
                          <a:latin typeface="Cambria Math" panose="02040503050406030204" pitchFamily="18" charset="0"/>
                        </a:rPr>
                        <m:t>Opportunity</m:t>
                      </m:r>
                      <m:r>
                        <m:rPr>
                          <m:nor/>
                        </m:rP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0" smtClean="0">
                          <a:latin typeface="Cambria Math" panose="02040503050406030204" pitchFamily="18" charset="0"/>
                        </a:rPr>
                        <m:t>Cost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What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you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GAVE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UP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What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you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0">
                          <a:latin typeface="Cambria Math" panose="02040503050406030204" pitchFamily="18" charset="0"/>
                        </a:rPr>
                        <m:t>GOT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0D02BD-3B99-BA9E-5859-2A0186D7F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82" y="4983486"/>
                <a:ext cx="9520518" cy="461665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611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F073-F3FF-9D58-9696-E28627DE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1D49B0F-13E1-8673-AFA9-79AEB552E8A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2F7DC5A4-2CA0-ECFD-BC31-DB8B5B220B7E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5505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FAF007D3-56F0-14BB-B15D-168B7B4E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Asset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B4D3B-81E4-F492-8604-A4DEC216A3E4}"/>
              </a:ext>
            </a:extLst>
          </p:cNvPr>
          <p:cNvSpPr txBox="1"/>
          <p:nvPr/>
        </p:nvSpPr>
        <p:spPr>
          <a:xfrm>
            <a:off x="842682" y="2935070"/>
            <a:ext cx="104349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0" i="0" dirty="0">
                <a:solidFill>
                  <a:srgbClr val="000000"/>
                </a:solidFill>
                <a:effectLst/>
                <a:latin typeface="Inter"/>
              </a:rPr>
              <a:t>An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Inter"/>
              </a:rPr>
              <a:t>asset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Inter"/>
              </a:rPr>
              <a:t> is 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Inter"/>
              </a:rPr>
              <a:t>anything of value that is owned or controlled with the expectation that it will provide a benefit in the future.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20210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9262-D8DB-CCAD-2A5A-C4BCC9ED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56963F-4F06-A5C8-577A-4B4428A0A87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600F42D1-B935-FCA3-1239-552678BEBA27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4470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78C58E25-665B-4BA7-D180-7E5C4471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3" y="827088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Asset Class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D353C-0630-98A9-D71F-0B8A9AA2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07" y="2510118"/>
            <a:ext cx="11152093" cy="3783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481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170E-70A9-3E89-1B03-6275C945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AB61FC-62B2-99AC-0BB0-117B3397AAE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706AC9A4-E8C9-56D6-64B0-DB746FF67E30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1670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8FACECFF-AB32-56CD-C3ED-2A62E6E6E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2" y="246545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Financial System 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1E6E5-BC27-4BC0-1289-961BC85D1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94" y="1818652"/>
            <a:ext cx="7525800" cy="4906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127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D61B-8C27-A64A-41F6-2BC9B711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8C4BCB-A794-EB65-E17C-A1675F12E97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483DC7F9-912B-CA86-644F-DFD10431582F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671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55469D4A-DC35-A8C7-6CBC-802CD065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2" y="246545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Financial System 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EF8DD-5DDF-1276-F32B-CB95053CE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12" y="2088035"/>
            <a:ext cx="9832975" cy="4312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757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E60E-1FCD-4CBA-167B-810BB302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CBB917-AFF8-2F2C-6619-12CEE8BE6E1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5600" y="0"/>
            <a:ext cx="11480800" cy="2754313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11267" name="Picture 9">
            <a:extLst>
              <a:ext uri="{FF2B5EF4-FFF2-40B4-BE49-F238E27FC236}">
                <a16:creationId xmlns:a16="http://schemas.microsoft.com/office/drawing/2014/main" id="{A8F78B03-6DFB-2DF3-CEC0-59E4894AC112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671"/>
            <a:ext cx="12192000" cy="7052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Title 1">
            <a:extLst>
              <a:ext uri="{FF2B5EF4-FFF2-40B4-BE49-F238E27FC236}">
                <a16:creationId xmlns:a16="http://schemas.microsoft.com/office/drawing/2014/main" id="{59B4775A-BCE0-4D20-321F-3AD642DD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12" y="246545"/>
            <a:ext cx="9832975" cy="1325562"/>
          </a:xfrm>
          <a:ln/>
        </p:spPr>
        <p:txBody>
          <a:bodyPr vert="horz" lIns="91440" tIns="45720" rIns="91440" bIns="45720" anchor="ctr" anchorCtr="0"/>
          <a:lstStyle/>
          <a:p>
            <a:pPr algn="ctr"/>
            <a:r>
              <a:rPr lang="en-US" altLang="zh-CN" sz="4000" dirty="0">
                <a:solidFill>
                  <a:srgbClr val="FFFFFF"/>
                </a:solidFill>
              </a:rPr>
              <a:t>Financial System </a:t>
            </a:r>
            <a:r>
              <a:rPr lang="en-US" altLang="zh-CN" sz="4000" i="1" dirty="0">
                <a:solidFill>
                  <a:srgbClr val="FFFFFF"/>
                </a:solidFill>
              </a:rPr>
              <a:t>?</a:t>
            </a:r>
            <a:r>
              <a:rPr lang="en-US" altLang="zh-CN" sz="40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7ED7B-0DA9-560E-07B8-B97BC46AE912}"/>
              </a:ext>
            </a:extLst>
          </p:cNvPr>
          <p:cNvSpPr txBox="1"/>
          <p:nvPr/>
        </p:nvSpPr>
        <p:spPr>
          <a:xfrm>
            <a:off x="909262" y="1829765"/>
            <a:ext cx="10373473" cy="403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465" marR="30480" algn="just">
              <a:lnSpc>
                <a:spcPct val="150000"/>
              </a:lnSpc>
              <a:spcBef>
                <a:spcPts val="595"/>
              </a:spcBef>
              <a:buClr>
                <a:srgbClr val="989866"/>
              </a:buClr>
              <a:buSzPct val="75000"/>
              <a:tabLst>
                <a:tab pos="474345" algn="l"/>
              </a:tabLst>
            </a:pPr>
            <a:r>
              <a:rPr lang="en-US" sz="4400" b="1" dirty="0">
                <a:latin typeface="Times New Roman"/>
                <a:cs typeface="Times New Roman"/>
              </a:rPr>
              <a:t>Financial</a:t>
            </a:r>
            <a:r>
              <a:rPr lang="en-US" sz="4400" b="1" spc="204" dirty="0">
                <a:latin typeface="Times New Roman"/>
                <a:cs typeface="Times New Roman"/>
              </a:rPr>
              <a:t>  </a:t>
            </a:r>
            <a:r>
              <a:rPr lang="en-US" sz="4400" b="1" dirty="0">
                <a:latin typeface="Times New Roman"/>
                <a:cs typeface="Times New Roman"/>
              </a:rPr>
              <a:t>markets</a:t>
            </a:r>
            <a:r>
              <a:rPr lang="en-US" sz="4400" b="1" spc="215" dirty="0">
                <a:latin typeface="Times New Roman"/>
                <a:cs typeface="Times New Roman"/>
              </a:rPr>
              <a:t>  </a:t>
            </a:r>
            <a:r>
              <a:rPr lang="en-US" sz="4400" dirty="0">
                <a:latin typeface="Times New Roman"/>
                <a:cs typeface="Times New Roman"/>
              </a:rPr>
              <a:t>perform</a:t>
            </a:r>
            <a:r>
              <a:rPr lang="en-US" sz="4400" spc="200" dirty="0">
                <a:latin typeface="Times New Roman"/>
                <a:cs typeface="Times New Roman"/>
              </a:rPr>
              <a:t>  </a:t>
            </a:r>
            <a:r>
              <a:rPr lang="en-US" sz="4400" dirty="0">
                <a:latin typeface="Times New Roman"/>
                <a:cs typeface="Times New Roman"/>
              </a:rPr>
              <a:t>the</a:t>
            </a:r>
            <a:r>
              <a:rPr lang="en-US" sz="4400" spc="210" dirty="0">
                <a:latin typeface="Times New Roman"/>
                <a:cs typeface="Times New Roman"/>
              </a:rPr>
              <a:t>  </a:t>
            </a:r>
            <a:r>
              <a:rPr lang="en-US" sz="4400" dirty="0">
                <a:latin typeface="Times New Roman"/>
                <a:cs typeface="Times New Roman"/>
              </a:rPr>
              <a:t>essential</a:t>
            </a:r>
            <a:r>
              <a:rPr lang="en-US" sz="4400" spc="210" dirty="0">
                <a:latin typeface="Times New Roman"/>
                <a:cs typeface="Times New Roman"/>
              </a:rPr>
              <a:t>  </a:t>
            </a:r>
            <a:r>
              <a:rPr lang="en-US" sz="4400" b="1" dirty="0">
                <a:latin typeface="Times New Roman"/>
                <a:cs typeface="Times New Roman"/>
              </a:rPr>
              <a:t>function</a:t>
            </a:r>
            <a:r>
              <a:rPr lang="en-US" sz="4400" b="1" spc="200" dirty="0">
                <a:latin typeface="Times New Roman"/>
                <a:cs typeface="Times New Roman"/>
              </a:rPr>
              <a:t>  </a:t>
            </a:r>
            <a:r>
              <a:rPr lang="en-US" sz="4400" b="1" spc="-25" dirty="0">
                <a:latin typeface="Times New Roman"/>
                <a:cs typeface="Times New Roman"/>
              </a:rPr>
              <a:t>of </a:t>
            </a:r>
            <a:r>
              <a:rPr lang="en-US" sz="4400" b="1" dirty="0">
                <a:latin typeface="Times New Roman"/>
                <a:cs typeface="Times New Roman"/>
              </a:rPr>
              <a:t>channeling</a:t>
            </a:r>
            <a:r>
              <a:rPr lang="en-US" sz="4400" b="1" spc="204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funds</a:t>
            </a:r>
            <a:r>
              <a:rPr lang="en-US" sz="4400" b="1" spc="22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from</a:t>
            </a:r>
            <a:r>
              <a:rPr lang="en-US" sz="4400" spc="21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economic</a:t>
            </a:r>
            <a:r>
              <a:rPr lang="en-US" sz="4400" spc="21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players</a:t>
            </a:r>
            <a:r>
              <a:rPr lang="en-US" sz="4400" spc="21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that</a:t>
            </a:r>
            <a:r>
              <a:rPr lang="en-US" sz="4400" spc="204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have</a:t>
            </a:r>
            <a:r>
              <a:rPr lang="en-US" sz="4400" spc="215" dirty="0">
                <a:latin typeface="Times New Roman"/>
                <a:cs typeface="Times New Roman"/>
              </a:rPr>
              <a:t> </a:t>
            </a:r>
            <a:r>
              <a:rPr lang="en-US" sz="4400" spc="-10" dirty="0">
                <a:latin typeface="Times New Roman"/>
                <a:cs typeface="Times New Roman"/>
              </a:rPr>
              <a:t>saved </a:t>
            </a:r>
            <a:r>
              <a:rPr lang="en-US" sz="4400" b="1" dirty="0">
                <a:latin typeface="Times New Roman"/>
                <a:cs typeface="Times New Roman"/>
              </a:rPr>
              <a:t>surplus</a:t>
            </a:r>
            <a:r>
              <a:rPr lang="en-US" sz="4400" b="1" spc="-20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funds</a:t>
            </a:r>
            <a:r>
              <a:rPr lang="en-US" sz="4400" b="1" spc="-3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to</a:t>
            </a:r>
            <a:r>
              <a:rPr lang="en-US" sz="4400" spc="-2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those</a:t>
            </a:r>
            <a:r>
              <a:rPr lang="en-US" sz="4400" spc="-20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that</a:t>
            </a:r>
            <a:r>
              <a:rPr lang="en-US" sz="4400" spc="-1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have</a:t>
            </a:r>
            <a:r>
              <a:rPr lang="en-US" sz="4400" spc="-15" dirty="0">
                <a:latin typeface="Times New Roman"/>
                <a:cs typeface="Times New Roman"/>
              </a:rPr>
              <a:t> </a:t>
            </a:r>
            <a:r>
              <a:rPr lang="en-US" sz="4400" dirty="0">
                <a:latin typeface="Times New Roman"/>
                <a:cs typeface="Times New Roman"/>
              </a:rPr>
              <a:t>a</a:t>
            </a:r>
            <a:r>
              <a:rPr lang="en-US" sz="4400" spc="-20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shortage</a:t>
            </a:r>
            <a:r>
              <a:rPr lang="en-US" sz="4400" b="1" spc="-20" dirty="0">
                <a:latin typeface="Times New Roman"/>
                <a:cs typeface="Times New Roman"/>
              </a:rPr>
              <a:t> </a:t>
            </a:r>
            <a:r>
              <a:rPr lang="en-US" sz="4400" b="1" dirty="0">
                <a:latin typeface="Times New Roman"/>
                <a:cs typeface="Times New Roman"/>
              </a:rPr>
              <a:t>of</a:t>
            </a:r>
            <a:r>
              <a:rPr lang="en-US" sz="4400" b="1" spc="-25" dirty="0">
                <a:latin typeface="Times New Roman"/>
                <a:cs typeface="Times New Roman"/>
              </a:rPr>
              <a:t> </a:t>
            </a:r>
            <a:r>
              <a:rPr lang="en-US" sz="4400" b="1" spc="-10" dirty="0">
                <a:latin typeface="Times New Roman"/>
                <a:cs typeface="Times New Roman"/>
              </a:rPr>
              <a:t>funds</a:t>
            </a:r>
            <a:endParaRPr lang="en-US" sz="4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1800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3D5BB-E9ED-D946-31E3-465CB4CE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6D291F8-E548-33EC-F69E-2CB04932313B}"/>
              </a:ext>
            </a:extLst>
          </p:cNvPr>
          <p:cNvSpPr txBox="1">
            <a:spLocks noChangeArrowheads="1"/>
          </p:cNvSpPr>
          <p:nvPr/>
        </p:nvSpPr>
        <p:spPr>
          <a:xfrm>
            <a:off x="853440" y="2763520"/>
            <a:ext cx="11186160" cy="56388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1F1F1F"/>
                </a:solidFill>
                <a:latin typeface="Arial" panose="020B0604020202020204" pitchFamily="34" charset="0"/>
              </a:rPr>
              <a:t>What’s your takeaway from this course?</a:t>
            </a:r>
            <a:endParaRPr lang="en-US" altLang="en-US" sz="44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4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4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4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4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4400" dirty="0">
              <a:solidFill>
                <a:srgbClr val="1F1F1F"/>
              </a:solidFill>
              <a:latin typeface="Arial" panose="020B0604020202020204" pitchFamily="34" charset="0"/>
            </a:endParaRPr>
          </a:p>
          <a:p>
            <a:pPr marL="0" indent="0" algn="just" fontAlgn="auto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400" dirty="0">
                <a:solidFill>
                  <a:srgbClr val="1F1F1F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7691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BA4A-F36E-D821-8292-439BC149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0228EE-9B84-FB8A-ABA2-A6F6AC5BABE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175"/>
            <a:ext cx="5614988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46083" name="Picture 11">
            <a:extLst>
              <a:ext uri="{FF2B5EF4-FFF2-40B4-BE49-F238E27FC236}">
                <a16:creationId xmlns:a16="http://schemas.microsoft.com/office/drawing/2014/main" id="{D2937EBF-FDBA-D799-19FA-5CC088D3ACF8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Freeform 62">
            <a:extLst>
              <a:ext uri="{FF2B5EF4-FFF2-40B4-BE49-F238E27FC236}">
                <a16:creationId xmlns:a16="http://schemas.microsoft.com/office/drawing/2014/main" id="{2B1D4A22-6D1D-8865-F78F-881B8D5BB43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738616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en-US" strike="noStrike" noProof="1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03C24B3-4B1C-F1A7-B433-B810C2EFF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46086" name="Content Placeholder 2">
            <a:extLst>
              <a:ext uri="{FF2B5EF4-FFF2-40B4-BE49-F238E27FC236}">
                <a16:creationId xmlns:a16="http://schemas.microsoft.com/office/drawing/2014/main" id="{D47FCDF3-328F-DF26-0774-4518A770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368" y="1608931"/>
            <a:ext cx="4976812" cy="3640138"/>
          </a:xfrm>
          <a:ln/>
        </p:spPr>
        <p:txBody>
          <a:bodyPr vert="horz" lIns="91440" tIns="45720" rIns="91440" bIns="45720" anchor="ctr" anchorCtr="0"/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000000"/>
                </a:solidFill>
              </a:rPr>
              <a:t>Thank you</a:t>
            </a:r>
          </a:p>
          <a:p>
            <a:pPr marL="0" indent="0">
              <a:buNone/>
            </a:pPr>
            <a:endParaRPr lang="en-US" altLang="zh-CN" sz="36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CN" sz="3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00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6847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Roboto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Roboto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4A963E807F6468FE8FCB95E62DB60" ma:contentTypeVersion="10" ma:contentTypeDescription="Create a new document." ma:contentTypeScope="" ma:versionID="7f99937d541da3ed60a1cf5074b6cbc7">
  <xsd:schema xmlns:xsd="http://www.w3.org/2001/XMLSchema" xmlns:xs="http://www.w3.org/2001/XMLSchema" xmlns:p="http://schemas.microsoft.com/office/2006/metadata/properties" xmlns:ns3="314f1124-7d55-4dd1-9513-e4620bb40495" targetNamespace="http://schemas.microsoft.com/office/2006/metadata/properties" ma:root="true" ma:fieldsID="d13c54bcae853b7526210036ae8d87bb" ns3:_="">
    <xsd:import namespace="314f1124-7d55-4dd1-9513-e4620bb404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4f1124-7d55-4dd1-9513-e4620bb404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387195-25A5-46C0-963E-0F544595F194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314f1124-7d55-4dd1-9513-e4620bb40495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8C72F58-CC3D-409F-BCCE-9CA4C407FE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4f1124-7d55-4dd1-9513-e4620bb404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356520-8A3C-4FA9-BD27-E34293B9D4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5392</TotalTime>
  <Words>867</Words>
  <Application>Microsoft Office PowerPoint</Application>
  <PresentationFormat>Widescreen</PresentationFormat>
  <Paragraphs>179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Arial</vt:lpstr>
      <vt:lpstr>Arial Nova Cond</vt:lpstr>
      <vt:lpstr>Calibri</vt:lpstr>
      <vt:lpstr>Cambria</vt:lpstr>
      <vt:lpstr>Cambria Math</vt:lpstr>
      <vt:lpstr>Inter</vt:lpstr>
      <vt:lpstr>Roboto</vt:lpstr>
      <vt:lpstr>Times New Roman</vt:lpstr>
      <vt:lpstr>Office Theme</vt:lpstr>
      <vt:lpstr>1_Office Theme</vt:lpstr>
      <vt:lpstr>PowerPoint Presentation</vt:lpstr>
      <vt:lpstr>About  Resource Person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Finance?:</vt:lpstr>
      <vt:lpstr>What is Finance?:</vt:lpstr>
      <vt:lpstr>What is Finance?:</vt:lpstr>
      <vt:lpstr>What is Business Finance?:</vt:lpstr>
      <vt:lpstr>QUIZ TIME</vt:lpstr>
      <vt:lpstr>Finance Vs Economics Vs Accounting?</vt:lpstr>
      <vt:lpstr>Finance Vs Economics Vs Accounting?</vt:lpstr>
      <vt:lpstr>Finance Vs Economics Vs Accounting?</vt:lpstr>
      <vt:lpstr>Opportunity Cost ?</vt:lpstr>
      <vt:lpstr>Asset ?</vt:lpstr>
      <vt:lpstr>Asset Class?:</vt:lpstr>
      <vt:lpstr>Financial System ?:</vt:lpstr>
      <vt:lpstr>Financial System ?:</vt:lpstr>
      <vt:lpstr>Financial System ?: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Rahat Bin Kamal</dc:creator>
  <cp:lastModifiedBy>Khaled Bin Kamal</cp:lastModifiedBy>
  <cp:revision>329</cp:revision>
  <dcterms:created xsi:type="dcterms:W3CDTF">2021-03-09T13:29:00Z</dcterms:created>
  <dcterms:modified xsi:type="dcterms:W3CDTF">2026-02-06T12:29:18Z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4DF4EDFF97094A4FAD9185DF4759555E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0x0101004834A963E807F6468FE8FCB95E62DB60</vt:lpwstr>
  </property>
</Properties>
</file>