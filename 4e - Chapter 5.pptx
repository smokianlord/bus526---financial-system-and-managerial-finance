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Arial Narrow"/>
      <p:regular r:id="rId20"/>
      <p:bold r:id="rId21"/>
      <p:italic r:id="rId22"/>
      <p:boldItalic r:id="rId23"/>
    </p:embeddedFon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regular.fntdata"/><Relationship Id="rId22" Type="http://schemas.openxmlformats.org/officeDocument/2006/relationships/font" Target="fonts/ArialNarrow-italic.fntdata"/><Relationship Id="rId21" Type="http://schemas.openxmlformats.org/officeDocument/2006/relationships/font" Target="fonts/ArialNarrow-bold.fntdata"/><Relationship Id="rId24" Type="http://schemas.openxmlformats.org/officeDocument/2006/relationships/font" Target="fonts/Tahoma-regular.fntdata"/><Relationship Id="rId23" Type="http://schemas.openxmlformats.org/officeDocument/2006/relationships/font" Target="fonts/ArialNarrow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685800" y="1447800"/>
            <a:ext cx="38100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4648200" y="1447800"/>
            <a:ext cx="38100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 rot="5400000">
            <a:off x="4476750" y="2343150"/>
            <a:ext cx="6019800" cy="19431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 rot="5400000">
            <a:off x="514350" y="476250"/>
            <a:ext cx="6019800" cy="56769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 rot="5400000">
            <a:off x="2133600" y="0"/>
            <a:ext cx="4876800" cy="7772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FFF99"/>
              </a:buClr>
              <a:buSzPts val="1200"/>
              <a:buFont typeface="Arial Narrow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FFFF99"/>
              </a:buClr>
              <a:buSzPts val="1200"/>
              <a:buFont typeface="Arial Narrow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58" name="Google Shape;58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59" name="Google Shape;59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99"/>
              </a:buClr>
              <a:buSzPts val="2000"/>
              <a:buFont typeface="Arial Narrow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b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99"/>
              </a:buClr>
              <a:buSzPts val="1800"/>
              <a:buFont typeface="Arial Narrow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push dir="r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  <a:defRPr b="0" i="0" sz="2400" u="none" cap="none" strike="noStrik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1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4008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/>
        </p:nvSpPr>
        <p:spPr>
          <a:xfrm>
            <a:off x="533400" y="1254125"/>
            <a:ext cx="81534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STRATEGIC WORKFORCE 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 txBox="1"/>
          <p:nvPr/>
        </p:nvSpPr>
        <p:spPr>
          <a:xfrm>
            <a:off x="685800" y="64770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Strategic Workforce Planning </a:t>
            </a:r>
            <a:endParaRPr/>
          </a:p>
        </p:txBody>
      </p:sp>
      <p:sp>
        <p:nvSpPr>
          <p:cNvPr id="78" name="Google Shape;78;p13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component of HRM strategy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other functional HR activities are derived from &amp; flow out of  HRP process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Basis in considerations of future HR requirements in light of present HR capabilities &amp; capacities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Proactive in anticipating &amp; preparing flexible responses to changing HR requirements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internal &amp; external focus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Strategic Workforce Planning </a:t>
            </a:r>
            <a:endParaRPr/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Goes beyond simple hiring &amp; firing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planning for deployment of human capital in line with organization &amp;/or business unit strategy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involve: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Reassignment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Training &amp; development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Outsourcing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Using temporary help or outside contractors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 as much flexibility as possible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Key Objectives</a:t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 overstaffing &amp; understaffing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organization has right employees with right skills in right places at right times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organization is responsive to changes in environment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direction &amp; coherence to all HR activities &amp; systems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 perspectives of line &amp; staff managers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Types of Planning</a:t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 Planning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Anticipating needs for groups of employees in specific, usually lower level jobs &amp; general skills employees will need to ensure sustained high performance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Succession Planning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Focuses on ensuring key critical management positions in organization remain filled with individuals who provide best fit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Aggregate Planning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Forecasting demand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Considers firm’s strategic plan’s effects on increases or decreases in demand for products or services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Assumptions on which forecast is predicated should be written down &amp; revisited when conditions change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Narrow"/>
              <a:buChar char="–"/>
            </a:pPr>
            <a:r>
              <a:rPr b="0" i="1" lang="en-US" sz="2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Unit forecasting</a:t>
            </a: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 (bottom-up planning) involves “point of contact” estimation of future demand for employees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Narrow"/>
              <a:buChar char="–"/>
            </a:pPr>
            <a:r>
              <a:rPr b="0" i="1" lang="en-US" sz="2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Top-down forecasting</a:t>
            </a: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 involves senior managers allocating a fixed payroll budget across organizational hierarchy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Demand for employee skills requirements must also be considered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Aggregate Planning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Forecasting supply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The level and quantities of abilities, skills &amp; experiences can be determined using </a:t>
            </a:r>
            <a:r>
              <a:rPr b="0" i="1" lang="en-US" sz="2800" u="none">
                <a:solidFill>
                  <a:srgbClr val="FCFFE9"/>
                </a:solidFill>
                <a:latin typeface="Arial Narrow"/>
                <a:ea typeface="Arial Narrow"/>
                <a:cs typeface="Arial Narrow"/>
                <a:sym typeface="Arial Narrow"/>
              </a:rPr>
              <a:t>Skills Inventory</a:t>
            </a: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Annually updated human resource information system (HRIS) is dynamic source of HR information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Arial Narrow"/>
              <a:buChar char="–"/>
            </a:pPr>
            <a:r>
              <a:rPr b="0" i="0" lang="en-US" sz="28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Markov analysis can be used to create transition probability matrix that predicts mobility of employees within organization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937" y="533400"/>
            <a:ext cx="7096125" cy="5791200"/>
          </a:xfrm>
          <a:prstGeom prst="rect">
            <a:avLst/>
          </a:prstGeom>
          <a:noFill/>
          <a:ln>
            <a:noFill/>
          </a:ln>
          <a:effectLst>
            <a:outerShdw blurRad="63500" dir="2700000" dist="107763">
              <a:schemeClr val="lt2"/>
            </a:outerShdw>
          </a:effectLst>
        </p:spPr>
      </p:pic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Strategies for Managing Shortages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685800" y="1447800"/>
            <a:ext cx="38100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 new permanent employees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 incentives to postpone retirement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Rehire retirees part-time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Attempt to reduce turnover</a:t>
            </a:r>
            <a:endParaRPr/>
          </a:p>
          <a:p>
            <a:pPr indent="-106363" lvl="0" marL="28416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4648200" y="1447800"/>
            <a:ext cx="38100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current staff overtime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Subcontract work out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Hire temporary employees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Redesign job processes so fewer employees are needed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Strategies for Managing Surpluses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685800" y="1447800"/>
            <a:ext cx="38100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Hiring freezes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replace those who leave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 early retirement incentives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work hours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Voluntary severance leaves of absence</a:t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4648200" y="1447800"/>
            <a:ext cx="38100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Across-the-board pay cuts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Layoffs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outsourced work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training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to variable pay plan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operations</a:t>
            </a:r>
            <a:endParaRPr/>
          </a:p>
          <a:p>
            <a:pPr indent="-106363" lvl="0" marL="28416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3200"/>
              <a:buFont typeface="Tahoma"/>
              <a:buNone/>
            </a:pPr>
            <a:r>
              <a:rPr b="0" i="0" lang="en-US" sz="32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Succession Planning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identifying key management positions the organization cannot afford to have vacant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Purposes of succession planning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Facilitates transition when employee leaves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Identifies development needs of high-potential employees &amp; assists in career planning</a:t>
            </a:r>
            <a:endParaRPr/>
          </a:p>
          <a:p>
            <a:pPr indent="-284162" lvl="0" marL="28416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organizations fail to implement succession planning effectively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99"/>
              </a:buClr>
              <a:buSzPts val="2400"/>
              <a:buFont typeface="Arial Narrow"/>
              <a:buChar char="–"/>
            </a:pPr>
            <a:r>
              <a:rPr b="0" i="0" lang="en-US" sz="2400" u="none">
                <a:solidFill>
                  <a:srgbClr val="FFFF99"/>
                </a:solidFill>
                <a:latin typeface="Arial Narrow"/>
                <a:ea typeface="Arial Narrow"/>
                <a:cs typeface="Arial Narrow"/>
                <a:sym typeface="Arial Narrow"/>
              </a:rPr>
              <a:t>Qualified successors may seek external career advancement opportunities if succession is not forthcoming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625" y="1371600"/>
            <a:ext cx="7016750" cy="4114800"/>
          </a:xfrm>
          <a:prstGeom prst="rect">
            <a:avLst/>
          </a:prstGeom>
          <a:noFill/>
          <a:ln>
            <a:noFill/>
          </a:ln>
          <a:effectLst>
            <a:outerShdw blurRad="63500" dir="2700000" dist="107763">
              <a:schemeClr val="lt2"/>
            </a:outerShdw>
          </a:effectLst>
        </p:spPr>
      </p:pic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solidFill>
            <a:srgbClr val="000062"/>
          </a:solidFill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99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rgbClr val="FFFF99"/>
                </a:solidFill>
                <a:latin typeface="Tahoma"/>
                <a:ea typeface="Tahoma"/>
                <a:cs typeface="Tahoma"/>
                <a:sym typeface="Tahoma"/>
              </a:rPr>
              <a:t>Guidelines for Effective Succession Planning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685800" y="1447800"/>
            <a:ext cx="7772400" cy="4876800"/>
          </a:xfrm>
          <a:prstGeom prst="rect">
            <a:avLst/>
          </a:prstGeom>
          <a:noFill/>
          <a:ln>
            <a:noFill/>
          </a:ln>
          <a:effectLst>
            <a:outerShdw blurRad="63500" dir="2700000" dist="107763">
              <a:schemeClr val="lt2"/>
            </a:outerShdw>
          </a:effectLst>
        </p:spPr>
        <p:txBody>
          <a:bodyPr anchorCtr="0" anchor="t" bIns="45700" lIns="137150" spcFirstLastPara="1" rIns="137150" wrap="square" tIns="45700">
            <a:noAutofit/>
          </a:bodyPr>
          <a:lstStyle/>
          <a:p>
            <a:pPr indent="-284162" lvl="0" marL="2841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 into organization’s strategy (and modified accordingly)</a:t>
            </a:r>
            <a:endParaRPr/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Monitor the progress and measure outcomes of succession planning initiatives</a:t>
            </a:r>
            <a:endParaRPr/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Ensure that all HR functions that impact the succession plan are iterated and working in tandem</a:t>
            </a:r>
            <a:endParaRPr/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Ensure centralized coordination of succession planning</a:t>
            </a:r>
            <a:endParaRPr/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162" lvl="0" marL="28416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Engage and involve managers throughout the organization</a:t>
            </a:r>
            <a:endParaRPr/>
          </a:p>
        </p:txBody>
      </p:sp>
    </p:spTree>
  </p:cSld>
  <p:clrMapOvr>
    <a:masterClrMapping/>
  </p:clrMapOvr>
  <p:transition spd="med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066800"/>
            <a:ext cx="7162800" cy="4494300"/>
          </a:xfrm>
          <a:prstGeom prst="rect">
            <a:avLst/>
          </a:prstGeom>
          <a:noFill/>
          <a:ln>
            <a:noFill/>
          </a:ln>
          <a:effectLst>
            <a:outerShdw blurRad="63500" dir="2700000" dist="107763">
              <a:schemeClr val="lt2"/>
            </a:outerShdw>
          </a:effectLst>
        </p:spPr>
      </p:pic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efault Design">
  <a:themeElements>
    <a:clrScheme name="1_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