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798" r:id="rId5"/>
    <p:sldId id="812" r:id="rId6"/>
    <p:sldId id="323" r:id="rId7"/>
    <p:sldId id="324" r:id="rId8"/>
    <p:sldId id="326" r:id="rId9"/>
    <p:sldId id="329" r:id="rId10"/>
    <p:sldId id="809" r:id="rId11"/>
    <p:sldId id="330" r:id="rId12"/>
    <p:sldId id="334" r:id="rId13"/>
    <p:sldId id="810" r:id="rId14"/>
    <p:sldId id="338" r:id="rId15"/>
    <p:sldId id="802" r:id="rId16"/>
    <p:sldId id="811" r:id="rId17"/>
    <p:sldId id="395" r:id="rId18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 Nova Cond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>
          <p15:clr>
            <a:srgbClr val="A4A3A4"/>
          </p15:clr>
        </p15:guide>
        <p15:guide id="2" pos="38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/>
    <p:restoredTop sz="94660"/>
  </p:normalViewPr>
  <p:slideViewPr>
    <p:cSldViewPr snapToGrid="0" showGuides="1">
      <p:cViewPr varScale="1">
        <p:scale>
          <a:sx n="66" d="100"/>
          <a:sy n="66" d="100"/>
        </p:scale>
        <p:origin x="632" y="44"/>
      </p:cViewPr>
      <p:guideLst>
        <p:guide orient="horz" pos="2166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3EFD42F7-718C-4B98-AAEC-167E6DDD60A7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4100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1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21B2AA4F-B828-4D7C-AFD3-893933DAFCB4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31AFE-7B7C-0815-93A9-F359206DA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>
            <a:extLst>
              <a:ext uri="{FF2B5EF4-FFF2-40B4-BE49-F238E27FC236}">
                <a16:creationId xmlns:a16="http://schemas.microsoft.com/office/drawing/2014/main" id="{7382FAA6-FCAD-E2E7-42C2-113507281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934BACCF-B11E-BE34-9C77-A5B91434162E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0186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C1CD6-97C4-7C6A-6B5A-6F613F76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>
            <a:extLst>
              <a:ext uri="{FF2B5EF4-FFF2-40B4-BE49-F238E27FC236}">
                <a16:creationId xmlns:a16="http://schemas.microsoft.com/office/drawing/2014/main" id="{CE8EDDD5-B449-DF73-D3C9-697F57FC6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D1A55450-4502-A9E8-F7F1-BD5677780255}"/>
              </a:ext>
            </a:extLst>
          </p:cNvPr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410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en-US" strike="noStrike" noProof="1"/>
              <a:t>Click to edit Master text styles</a:t>
            </a:r>
          </a:p>
          <a:p>
            <a:pPr lvl="1" fontAlgn="auto"/>
            <a:r>
              <a:rPr lang="en-US" strike="noStrike" noProof="1"/>
              <a:t>Second level</a:t>
            </a:r>
          </a:p>
          <a:p>
            <a:pPr lvl="2" fontAlgn="auto"/>
            <a:r>
              <a:rPr lang="en-US" strike="noStrike" noProof="1"/>
              <a:t>Third level</a:t>
            </a:r>
          </a:p>
          <a:p>
            <a:pPr lvl="3" fontAlgn="auto"/>
            <a:r>
              <a:rPr lang="en-US" strike="noStrike" noProof="1"/>
              <a:t>Fourth level</a:t>
            </a:r>
          </a:p>
          <a:p>
            <a:pPr lvl="4" fontAlgn="auto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F667008-DB96-4587-9462-F760E383B9A2}" type="datetimeFigureOut">
              <a:rPr lang="en-US" strike="noStrike" noProof="1" smtClean="0">
                <a:latin typeface="+mn-lt"/>
                <a:ea typeface="+mn-ea"/>
                <a:cs typeface="+mn-cs"/>
              </a:rPr>
              <a:t>5/6/2026</a:t>
            </a:fld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8662DDB-BC90-4508-9AC2-3B1D84B7B98A}" type="slidenum">
              <a:rPr 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B5AE-3211-B2FF-7631-7DF3B4AF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BCE100-76FA-340F-F95A-92F16B7EC915}"/>
              </a:ext>
            </a:extLst>
          </p:cNvPr>
          <p:cNvSpPr txBox="1"/>
          <p:nvPr/>
        </p:nvSpPr>
        <p:spPr>
          <a:xfrm>
            <a:off x="2897892" y="2569810"/>
            <a:ext cx="6396216" cy="134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4800" dirty="0"/>
              <a:t>WORKING CAPITAL MANAGEMENT</a:t>
            </a:r>
          </a:p>
        </p:txBody>
      </p:sp>
    </p:spTree>
    <p:extLst>
      <p:ext uri="{BB962C8B-B14F-4D97-AF65-F5344CB8AC3E}">
        <p14:creationId xmlns:p14="http://schemas.microsoft.com/office/powerpoint/2010/main" val="246566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82B05-E682-2D5F-E8BD-2E9D1B6F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05FD6C-A264-EF56-127B-19D263A18B90}"/>
              </a:ext>
            </a:extLst>
          </p:cNvPr>
          <p:cNvSpPr txBox="1"/>
          <p:nvPr/>
        </p:nvSpPr>
        <p:spPr>
          <a:xfrm>
            <a:off x="1165615" y="1751009"/>
            <a:ext cx="984304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eaLnBrk="1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Tracing Cash and Net Working Capital</a:t>
            </a:r>
          </a:p>
          <a:p>
            <a:pPr marL="457200" indent="-457200" algn="just" eaLnBrk="1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Defining Cash in Terms of Other Elements</a:t>
            </a:r>
          </a:p>
          <a:p>
            <a:pPr marL="457200" indent="-457200" algn="just" eaLnBrk="1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Some Aspects of Short-Term Financial Policy</a:t>
            </a:r>
          </a:p>
          <a:p>
            <a:pPr marL="457200" indent="-457200" algn="just" eaLnBrk="1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The Short-Term Financial Plan</a:t>
            </a:r>
          </a:p>
          <a:p>
            <a:pPr marL="457200" indent="-457200" algn="just" eaLnBrk="1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3200" dirty="0"/>
              <a:t>Summary &amp; Conclusions</a:t>
            </a:r>
          </a:p>
        </p:txBody>
      </p:sp>
    </p:spTree>
    <p:extLst>
      <p:ext uri="{BB962C8B-B14F-4D97-AF65-F5344CB8AC3E}">
        <p14:creationId xmlns:p14="http://schemas.microsoft.com/office/powerpoint/2010/main" val="810084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A60E73A-5895-587A-69C2-1E4B65813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4411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The Balance-Sheet Model of the Firm</a:t>
            </a:r>
          </a:p>
        </p:txBody>
      </p:sp>
      <p:sp>
        <p:nvSpPr>
          <p:cNvPr id="559112" name="AutoShape 8">
            <a:extLst>
              <a:ext uri="{FF2B5EF4-FFF2-40B4-BE49-F238E27FC236}">
                <a16:creationId xmlns:a16="http://schemas.microsoft.com/office/drawing/2014/main" id="{64B70FE9-59EA-5F64-DFF5-03EA5C691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674938"/>
            <a:ext cx="1752600" cy="1143000"/>
          </a:xfrm>
          <a:prstGeom prst="upDownArrow">
            <a:avLst>
              <a:gd name="adj1" fmla="val 50000"/>
              <a:gd name="adj2" fmla="val 20000"/>
            </a:avLst>
          </a:pr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559113" name="Line 9">
            <a:extLst>
              <a:ext uri="{FF2B5EF4-FFF2-40B4-BE49-F238E27FC236}">
                <a16:creationId xmlns:a16="http://schemas.microsoft.com/office/drawing/2014/main" id="{41CDDA93-D09F-742E-0714-FDC07E0E4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5550" y="2674938"/>
            <a:ext cx="1847850" cy="0"/>
          </a:xfrm>
          <a:prstGeom prst="line">
            <a:avLst/>
          </a:prstGeom>
          <a:noFill/>
          <a:ln w="38100">
            <a:solidFill>
              <a:srgbClr val="3399FF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9114" name="Line 10">
            <a:extLst>
              <a:ext uri="{FF2B5EF4-FFF2-40B4-BE49-F238E27FC236}">
                <a16:creationId xmlns:a16="http://schemas.microsoft.com/office/drawing/2014/main" id="{EDA0662F-C212-2040-24B6-72D02E2F0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817938"/>
            <a:ext cx="1504950" cy="0"/>
          </a:xfrm>
          <a:prstGeom prst="line">
            <a:avLst/>
          </a:prstGeom>
          <a:noFill/>
          <a:ln w="38100">
            <a:solidFill>
              <a:srgbClr val="3399FF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9115" name="Text Box 11">
            <a:extLst>
              <a:ext uri="{FF2B5EF4-FFF2-40B4-BE49-F238E27FC236}">
                <a16:creationId xmlns:a16="http://schemas.microsoft.com/office/drawing/2014/main" id="{B53A41BD-181A-B9A9-9DC5-51C89DEF4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122738"/>
            <a:ext cx="2895600" cy="2377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lnSpc>
                <a:spcPct val="90000"/>
              </a:lnSpc>
              <a:buClrTx/>
              <a:buSzPct val="70000"/>
              <a:buFont typeface="Symbol" panose="05050102010706020507" pitchFamily="18" charset="2"/>
              <a:buNone/>
            </a:pPr>
            <a:r>
              <a:rPr lang="en-US" altLang="en-US" sz="2500">
                <a:solidFill>
                  <a:schemeClr val="tx1"/>
                </a:solidFill>
              </a:rPr>
              <a:t>How much short-term cash flow does a company need to pay its bills?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6151" name="Text Box 12">
            <a:extLst>
              <a:ext uri="{FF2B5EF4-FFF2-40B4-BE49-F238E27FC236}">
                <a16:creationId xmlns:a16="http://schemas.microsoft.com/office/drawing/2014/main" id="{30F32032-F71A-D76A-13DC-4EA7730E2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550" y="942327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The Net Working Capital Investment Decision</a:t>
            </a:r>
          </a:p>
        </p:txBody>
      </p:sp>
      <p:sp>
        <p:nvSpPr>
          <p:cNvPr id="559117" name="Text Box 13">
            <a:extLst>
              <a:ext uri="{FF2B5EF4-FFF2-40B4-BE49-F238E27FC236}">
                <a16:creationId xmlns:a16="http://schemas.microsoft.com/office/drawing/2014/main" id="{3DA0850A-F001-25D2-AC38-BB34E2875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2735264"/>
            <a:ext cx="12763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solidFill>
                  <a:schemeClr val="tx2"/>
                </a:solidFill>
              </a:rPr>
              <a:t>Net Working Capital</a:t>
            </a:r>
          </a:p>
        </p:txBody>
      </p:sp>
      <p:sp>
        <p:nvSpPr>
          <p:cNvPr id="6153" name="Text Box 14">
            <a:extLst>
              <a:ext uri="{FF2B5EF4-FFF2-40B4-BE49-F238E27FC236}">
                <a16:creationId xmlns:a16="http://schemas.microsoft.com/office/drawing/2014/main" id="{7EDB705F-99C8-DF97-1815-B5C0DE98E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892300"/>
            <a:ext cx="1981200" cy="1569660"/>
          </a:xfrm>
          <a:prstGeom prst="rect">
            <a:avLst/>
          </a:prstGeom>
          <a:solidFill>
            <a:srgbClr val="C6DAF4"/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Current Assets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6154" name="Text Box 15">
            <a:extLst>
              <a:ext uri="{FF2B5EF4-FFF2-40B4-BE49-F238E27FC236}">
                <a16:creationId xmlns:a16="http://schemas.microsoft.com/office/drawing/2014/main" id="{6A7446C0-B06A-D944-7E1E-C065DD5C5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267201"/>
            <a:ext cx="1981200" cy="2112963"/>
          </a:xfrm>
          <a:prstGeom prst="rect">
            <a:avLst/>
          </a:prstGeom>
          <a:solidFill>
            <a:srgbClr val="C6DAF4"/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Fixed Assets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 Tangible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2 Intangible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6155" name="Text Box 16">
            <a:extLst>
              <a:ext uri="{FF2B5EF4-FFF2-40B4-BE49-F238E27FC236}">
                <a16:creationId xmlns:a16="http://schemas.microsoft.com/office/drawing/2014/main" id="{E9764AC9-4901-CF3F-276E-5E6C75C04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419600"/>
            <a:ext cx="1981200" cy="1930400"/>
          </a:xfrm>
          <a:prstGeom prst="rect">
            <a:avLst/>
          </a:prstGeom>
          <a:solidFill>
            <a:srgbClr val="C6DAF4"/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Shareholders’ Equity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6156" name="Text Box 17">
            <a:extLst>
              <a:ext uri="{FF2B5EF4-FFF2-40B4-BE49-F238E27FC236}">
                <a16:creationId xmlns:a16="http://schemas.microsoft.com/office/drawing/2014/main" id="{4D58DF31-C534-9D90-7A66-451AF694C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1828801"/>
            <a:ext cx="1981200" cy="835025"/>
          </a:xfrm>
          <a:prstGeom prst="rect">
            <a:avLst/>
          </a:prstGeom>
          <a:solidFill>
            <a:srgbClr val="C6DAF4"/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Current Liabilities</a:t>
            </a:r>
          </a:p>
        </p:txBody>
      </p:sp>
      <p:sp>
        <p:nvSpPr>
          <p:cNvPr id="6157" name="Text Box 18">
            <a:extLst>
              <a:ext uri="{FF2B5EF4-FFF2-40B4-BE49-F238E27FC236}">
                <a16:creationId xmlns:a16="http://schemas.microsoft.com/office/drawing/2014/main" id="{4C0AED65-BAAA-0618-8989-A21D41989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2819401"/>
            <a:ext cx="1981200" cy="1382713"/>
          </a:xfrm>
          <a:prstGeom prst="rect">
            <a:avLst/>
          </a:prstGeom>
          <a:solidFill>
            <a:srgbClr val="C6DAF4"/>
          </a:solidFill>
          <a:ln w="12700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Long-Term Debt</a:t>
            </a:r>
          </a:p>
          <a:p>
            <a:pPr algn="ctr">
              <a:spcBef>
                <a:spcPct val="50000"/>
              </a:spcBef>
              <a:buClrTx/>
              <a:buFontTx/>
              <a:buNone/>
            </a:pP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9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9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9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9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5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12" grpId="0" animBg="1"/>
      <p:bldP spid="559115" grpId="0" autoUpdateAnimBg="0"/>
      <p:bldP spid="5591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CDE78E3-7243-0918-FD1B-A0D979386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012" y="69850"/>
            <a:ext cx="10416988" cy="1206500"/>
          </a:xfrm>
        </p:spPr>
        <p:txBody>
          <a:bodyPr/>
          <a:lstStyle/>
          <a:p>
            <a:pPr algn="just">
              <a:lnSpc>
                <a:spcPct val="85000"/>
              </a:lnSpc>
              <a:spcAft>
                <a:spcPts val="600"/>
              </a:spcAft>
            </a:pPr>
            <a:r>
              <a:rPr lang="en-US" altLang="en-US" dirty="0"/>
              <a:t>Tracing Cash and Net Working Capital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CF1F4FD-8706-9FD9-3C4A-04569B9144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0293" y="1422214"/>
            <a:ext cx="11488271" cy="4351338"/>
          </a:xfrm>
        </p:spPr>
        <p:txBody>
          <a:bodyPr/>
          <a:lstStyle/>
          <a:p>
            <a:pPr eaLnBrk="1" hangingPunct="1"/>
            <a:r>
              <a:rPr lang="en-US" altLang="en-US" dirty="0"/>
              <a:t>Current Assets are </a:t>
            </a:r>
            <a:r>
              <a:rPr lang="en-US" altLang="en-US" b="1" dirty="0">
                <a:solidFill>
                  <a:srgbClr val="C00000"/>
                </a:solidFill>
              </a:rPr>
              <a:t>cash </a:t>
            </a:r>
            <a:r>
              <a:rPr lang="en-US" altLang="en-US" dirty="0"/>
              <a:t>and other assets that are expected to be </a:t>
            </a:r>
            <a:r>
              <a:rPr lang="en-US" altLang="en-US" dirty="0">
                <a:solidFill>
                  <a:srgbClr val="C00000"/>
                </a:solidFill>
              </a:rPr>
              <a:t>converted to cash </a:t>
            </a:r>
            <a:r>
              <a:rPr lang="en-US" altLang="en-US" dirty="0"/>
              <a:t>with </a:t>
            </a:r>
            <a:r>
              <a:rPr lang="en-US" altLang="en-US" b="1" dirty="0">
                <a:solidFill>
                  <a:srgbClr val="002060"/>
                </a:solidFill>
              </a:rPr>
              <a:t>the year</a:t>
            </a:r>
            <a:r>
              <a:rPr lang="en-US" altLang="en-US" dirty="0"/>
              <a:t>.</a:t>
            </a:r>
          </a:p>
          <a:p>
            <a:pPr lvl="1" eaLnBrk="1" hangingPunct="1"/>
            <a:r>
              <a:rPr lang="en-US" altLang="en-US" dirty="0"/>
              <a:t>Cash</a:t>
            </a:r>
          </a:p>
          <a:p>
            <a:pPr lvl="1" eaLnBrk="1" hangingPunct="1"/>
            <a:r>
              <a:rPr lang="en-US" altLang="en-US" b="1" dirty="0">
                <a:solidFill>
                  <a:srgbClr val="002060"/>
                </a:solidFill>
              </a:rPr>
              <a:t>Marketable securities</a:t>
            </a:r>
          </a:p>
          <a:p>
            <a:pPr lvl="1" eaLnBrk="1" hangingPunct="1"/>
            <a:r>
              <a:rPr lang="en-US" altLang="en-US" dirty="0"/>
              <a:t>Accounts receivable</a:t>
            </a:r>
          </a:p>
          <a:p>
            <a:pPr lvl="1" eaLnBrk="1" hangingPunct="1"/>
            <a:r>
              <a:rPr lang="en-US" altLang="en-US" dirty="0"/>
              <a:t>Inventory</a:t>
            </a:r>
          </a:p>
          <a:p>
            <a:pPr marL="457200" lvl="1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Current Liabilities are obligations that are expected to require cash payment within the year.</a:t>
            </a:r>
          </a:p>
          <a:p>
            <a:pPr lvl="1" eaLnBrk="1" hangingPunct="1"/>
            <a:r>
              <a:rPr lang="en-US" altLang="en-US" dirty="0"/>
              <a:t>Accounts payable</a:t>
            </a:r>
          </a:p>
          <a:p>
            <a:pPr lvl="1" eaLnBrk="1" hangingPunct="1"/>
            <a:r>
              <a:rPr lang="en-US" altLang="en-US" b="1" dirty="0">
                <a:solidFill>
                  <a:srgbClr val="002060"/>
                </a:solidFill>
              </a:rPr>
              <a:t>Accrued wages</a:t>
            </a:r>
          </a:p>
          <a:p>
            <a:pPr lvl="1" eaLnBrk="1" hangingPunct="1"/>
            <a:r>
              <a:rPr lang="en-US" altLang="en-US" b="1" dirty="0">
                <a:solidFill>
                  <a:srgbClr val="002060"/>
                </a:solidFill>
              </a:rPr>
              <a:t>Taxes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735B16C-F6C5-1698-7C38-44C6E6DA0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2925" y="106361"/>
            <a:ext cx="10867428" cy="1325563"/>
          </a:xfrm>
        </p:spPr>
        <p:txBody>
          <a:bodyPr/>
          <a:lstStyle/>
          <a:p>
            <a:pPr algn="just">
              <a:lnSpc>
                <a:spcPct val="85000"/>
              </a:lnSpc>
              <a:spcAft>
                <a:spcPts val="600"/>
              </a:spcAft>
            </a:pPr>
            <a:r>
              <a:rPr lang="en-US" altLang="en-US" sz="3200" b="1" dirty="0"/>
              <a:t>Defining Cash in Terms of Other Elements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E3937DC-44BE-CA4B-2CBB-A28268702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6847" y="4052889"/>
            <a:ext cx="10793506" cy="1625881"/>
          </a:xfrm>
        </p:spPr>
        <p:txBody>
          <a:bodyPr/>
          <a:lstStyle/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An </a:t>
            </a:r>
            <a:r>
              <a:rPr lang="en-US" altLang="en-US" dirty="0">
                <a:solidFill>
                  <a:srgbClr val="002060"/>
                </a:solidFill>
              </a:rPr>
              <a:t>increase</a:t>
            </a:r>
            <a:r>
              <a:rPr lang="en-US" altLang="en-US" dirty="0"/>
              <a:t> in </a:t>
            </a:r>
            <a:r>
              <a:rPr lang="en-US" altLang="en-US" dirty="0">
                <a:solidFill>
                  <a:srgbClr val="C00000"/>
                </a:solidFill>
              </a:rPr>
              <a:t>long-term debt </a:t>
            </a:r>
            <a:r>
              <a:rPr lang="en-US" altLang="en-US" dirty="0"/>
              <a:t>and or </a:t>
            </a:r>
            <a:r>
              <a:rPr lang="en-US" altLang="en-US" dirty="0">
                <a:solidFill>
                  <a:srgbClr val="C00000"/>
                </a:solidFill>
              </a:rPr>
              <a:t>equity</a:t>
            </a:r>
            <a:r>
              <a:rPr lang="en-US" altLang="en-US" dirty="0"/>
              <a:t> leads to an </a:t>
            </a:r>
            <a:r>
              <a:rPr lang="en-US" altLang="en-US" dirty="0">
                <a:solidFill>
                  <a:srgbClr val="C00000"/>
                </a:solidFill>
              </a:rPr>
              <a:t>increase</a:t>
            </a:r>
            <a:r>
              <a:rPr lang="en-US" altLang="en-US" dirty="0"/>
              <a:t> in </a:t>
            </a:r>
            <a:r>
              <a:rPr lang="en-US" altLang="en-US" b="1" dirty="0">
                <a:solidFill>
                  <a:srgbClr val="002060"/>
                </a:solidFill>
              </a:rPr>
              <a:t>cash</a:t>
            </a:r>
            <a:r>
              <a:rPr lang="en-US" altLang="en-US" dirty="0"/>
              <a:t>—as does a </a:t>
            </a:r>
            <a:r>
              <a:rPr lang="en-US" altLang="en-US" b="1" dirty="0">
                <a:solidFill>
                  <a:srgbClr val="002060"/>
                </a:solidFill>
              </a:rPr>
              <a:t>decrease </a:t>
            </a:r>
            <a:r>
              <a:rPr lang="en-US" altLang="en-US" dirty="0"/>
              <a:t>in </a:t>
            </a:r>
            <a:r>
              <a:rPr lang="en-US" altLang="en-US" dirty="0">
                <a:solidFill>
                  <a:srgbClr val="FF0000"/>
                </a:solidFill>
              </a:rPr>
              <a:t>fixed assets </a:t>
            </a:r>
            <a:r>
              <a:rPr lang="en-US" altLang="en-US" dirty="0"/>
              <a:t>or a decrease in the </a:t>
            </a:r>
            <a:r>
              <a:rPr lang="en-US" altLang="en-US" b="1" dirty="0">
                <a:solidFill>
                  <a:srgbClr val="002060"/>
                </a:solidFill>
              </a:rPr>
              <a:t>non-cash components</a:t>
            </a:r>
            <a:r>
              <a:rPr lang="en-US" altLang="en-US" dirty="0"/>
              <a:t> of net working capital.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  <a:p>
            <a:pPr marL="0" indent="0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dirty="0"/>
          </a:p>
        </p:txBody>
      </p:sp>
      <p:grpSp>
        <p:nvGrpSpPr>
          <p:cNvPr id="8196" name="Group 4">
            <a:extLst>
              <a:ext uri="{FF2B5EF4-FFF2-40B4-BE49-F238E27FC236}">
                <a16:creationId xmlns:a16="http://schemas.microsoft.com/office/drawing/2014/main" id="{2C096B1F-E5F2-A538-3AF0-3D94677B8252}"/>
              </a:ext>
            </a:extLst>
          </p:cNvPr>
          <p:cNvGrpSpPr>
            <a:grpSpLocks/>
          </p:cNvGrpSpPr>
          <p:nvPr/>
        </p:nvGrpSpPr>
        <p:grpSpPr bwMode="auto">
          <a:xfrm>
            <a:off x="546847" y="1431924"/>
            <a:ext cx="11180090" cy="1373188"/>
            <a:chOff x="672" y="3364"/>
            <a:chExt cx="5088" cy="865"/>
          </a:xfrm>
        </p:grpSpPr>
        <p:sp>
          <p:nvSpPr>
            <p:cNvPr id="8197" name="Text Box 5">
              <a:extLst>
                <a:ext uri="{FF2B5EF4-FFF2-40B4-BE49-F238E27FC236}">
                  <a16:creationId xmlns:a16="http://schemas.microsoft.com/office/drawing/2014/main" id="{582A7A47-18C7-C8BF-ED84-4C05E7A3B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633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dirty="0">
                  <a:solidFill>
                    <a:schemeClr val="tx1"/>
                  </a:solidFill>
                </a:rPr>
                <a:t>Cash</a:t>
              </a:r>
            </a:p>
          </p:txBody>
        </p:sp>
        <p:sp>
          <p:nvSpPr>
            <p:cNvPr id="8198" name="Rectangle 6">
              <a:extLst>
                <a:ext uri="{FF2B5EF4-FFF2-40B4-BE49-F238E27FC236}">
                  <a16:creationId xmlns:a16="http://schemas.microsoft.com/office/drawing/2014/main" id="{F21425E7-0ABF-635F-6351-8DDD4720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33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=</a:t>
              </a:r>
            </a:p>
          </p:txBody>
        </p:sp>
        <p:sp>
          <p:nvSpPr>
            <p:cNvPr id="8199" name="Rectangle 7">
              <a:extLst>
                <a:ext uri="{FF2B5EF4-FFF2-40B4-BE49-F238E27FC236}">
                  <a16:creationId xmlns:a16="http://schemas.microsoft.com/office/drawing/2014/main" id="{AE84EF57-68B0-AD92-9D49-0DF3B2E70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364"/>
              <a:ext cx="772" cy="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dirty="0">
                  <a:solidFill>
                    <a:schemeClr val="tx1"/>
                  </a:solidFill>
                </a:rPr>
                <a:t>Long-Term Debt</a:t>
              </a:r>
            </a:p>
          </p:txBody>
        </p:sp>
        <p:sp>
          <p:nvSpPr>
            <p:cNvPr id="8200" name="Rectangle 8">
              <a:extLst>
                <a:ext uri="{FF2B5EF4-FFF2-40B4-BE49-F238E27FC236}">
                  <a16:creationId xmlns:a16="http://schemas.microsoft.com/office/drawing/2014/main" id="{52D43EEE-08E4-5A77-C931-01E1BE349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4" y="3633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8201" name="Rectangle 9">
              <a:extLst>
                <a:ext uri="{FF2B5EF4-FFF2-40B4-BE49-F238E27FC236}">
                  <a16:creationId xmlns:a16="http://schemas.microsoft.com/office/drawing/2014/main" id="{610C7F23-4662-7E9E-A257-52167D169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633"/>
              <a:ext cx="71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Equity</a:t>
              </a:r>
            </a:p>
          </p:txBody>
        </p:sp>
        <p:sp>
          <p:nvSpPr>
            <p:cNvPr id="8202" name="Rectangle 10">
              <a:extLst>
                <a:ext uri="{FF2B5EF4-FFF2-40B4-BE49-F238E27FC236}">
                  <a16:creationId xmlns:a16="http://schemas.microsoft.com/office/drawing/2014/main" id="{F51F39A2-C758-7329-C986-0B251258D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63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  <a:cs typeface="Times New Roman" panose="02020603050405020304" pitchFamily="18" charset="0"/>
                </a:rPr>
                <a:t>–</a:t>
              </a:r>
              <a:endParaRPr lang="en-US" altLang="en-US">
                <a:solidFill>
                  <a:schemeClr val="tx1"/>
                </a:solidFill>
              </a:endParaRPr>
            </a:p>
          </p:txBody>
        </p:sp>
        <p:sp>
          <p:nvSpPr>
            <p:cNvPr id="8203" name="Rectangle 11">
              <a:extLst>
                <a:ext uri="{FF2B5EF4-FFF2-40B4-BE49-F238E27FC236}">
                  <a16:creationId xmlns:a16="http://schemas.microsoft.com/office/drawing/2014/main" id="{79E2178A-4A07-224C-BEB8-0622BC722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384"/>
              <a:ext cx="1584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Net Working Capital </a:t>
              </a:r>
              <a:r>
                <a:rPr lang="en-US" altLang="en-US" sz="2400">
                  <a:solidFill>
                    <a:schemeClr val="tx1"/>
                  </a:solidFill>
                </a:rPr>
                <a:t>(</a:t>
              </a:r>
              <a:r>
                <a:rPr lang="en-US" altLang="en-US" sz="2400">
                  <a:solidFill>
                    <a:srgbClr val="002060"/>
                  </a:solidFill>
                </a:rPr>
                <a:t>excluding cash</a:t>
              </a:r>
              <a:r>
                <a:rPr lang="en-US" altLang="en-US" sz="240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8204" name="Rectangle 12">
              <a:extLst>
                <a:ext uri="{FF2B5EF4-FFF2-40B4-BE49-F238E27FC236}">
                  <a16:creationId xmlns:a16="http://schemas.microsoft.com/office/drawing/2014/main" id="{8B1388FE-3B2F-C672-5813-331D933BC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9" y="3498"/>
              <a:ext cx="921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</a:rPr>
                <a:t>Fixed Assets</a:t>
              </a:r>
            </a:p>
          </p:txBody>
        </p:sp>
        <p:sp>
          <p:nvSpPr>
            <p:cNvPr id="8205" name="Rectangle 13">
              <a:extLst>
                <a:ext uri="{FF2B5EF4-FFF2-40B4-BE49-F238E27FC236}">
                  <a16:creationId xmlns:a16="http://schemas.microsoft.com/office/drawing/2014/main" id="{2DDA09B0-59C7-5947-349D-A8D286A63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63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671739"/>
                </a:buClr>
                <a:buChar char="•"/>
                <a:defRPr sz="28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671739"/>
                </a:buClr>
                <a:buChar char="–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71739"/>
                </a:buClr>
                <a:buChar char="•"/>
                <a:defRPr sz="2400">
                  <a:solidFill>
                    <a:srgbClr val="644A1A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>
                  <a:solidFill>
                    <a:schemeClr val="tx1"/>
                  </a:solidFill>
                  <a:cs typeface="Times New Roman" panose="02020603050405020304" pitchFamily="18" charset="0"/>
                </a:rPr>
                <a:t>–</a:t>
              </a:r>
              <a:endParaRPr lang="en-US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8288B736-7820-8C8D-075D-8592842C2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914400"/>
            <a:ext cx="8153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27B7743-7C37-1963-8F26-5C6E9E26D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1717" y="0"/>
            <a:ext cx="11537576" cy="1206500"/>
          </a:xfrm>
        </p:spPr>
        <p:txBody>
          <a:bodyPr/>
          <a:lstStyle/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altLang="en-US" sz="4000" dirty="0"/>
              <a:t> Some Aspects of Short-Term Financial Policy</a:t>
            </a:r>
            <a:endParaRPr lang="en-US" altLang="en-US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4892A05-C4FF-681A-E7F5-BC22E8162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8476" y="1342465"/>
            <a:ext cx="10785336" cy="5105400"/>
          </a:xfrm>
        </p:spPr>
        <p:txBody>
          <a:bodyPr/>
          <a:lstStyle/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There are two elements of the policy that a firm adopts for short-term finance.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First element: The Size of the Firm’s Investment in Current Assets Usually measured relative to the firm’s level of total operating revenues (ratio of current assets to sales):</a:t>
            </a:r>
          </a:p>
          <a:p>
            <a:pPr marL="0" indent="0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800" b="1" dirty="0"/>
          </a:p>
          <a:p>
            <a:pPr lvl="3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Flexible </a:t>
            </a:r>
            <a:r>
              <a:rPr lang="en-US" altLang="en-US" sz="2800" dirty="0">
                <a:solidFill>
                  <a:srgbClr val="002060"/>
                </a:solidFill>
              </a:rPr>
              <a:t>(</a:t>
            </a:r>
            <a:r>
              <a:rPr lang="en-US" altLang="en-US" sz="2800" b="1" u="sng" dirty="0">
                <a:solidFill>
                  <a:srgbClr val="002060"/>
                </a:solidFill>
              </a:rPr>
              <a:t>High ratio </a:t>
            </a:r>
            <a:r>
              <a:rPr lang="en-US" altLang="en-US" sz="2800" dirty="0">
                <a:solidFill>
                  <a:srgbClr val="002060"/>
                </a:solidFill>
              </a:rPr>
              <a:t>of current asset to sale)</a:t>
            </a:r>
          </a:p>
          <a:p>
            <a:pPr marL="1371600" lvl="3" indent="0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400" dirty="0">
              <a:solidFill>
                <a:srgbClr val="002060"/>
              </a:solidFill>
            </a:endParaRPr>
          </a:p>
          <a:p>
            <a:pPr lvl="3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/>
              <a:t>Restrictive </a:t>
            </a:r>
            <a:r>
              <a:rPr lang="en-US" altLang="en-US" sz="2800" dirty="0">
                <a:solidFill>
                  <a:srgbClr val="002060"/>
                </a:solidFill>
              </a:rPr>
              <a:t>(</a:t>
            </a:r>
            <a:r>
              <a:rPr lang="en-US" altLang="en-US" sz="2800" b="1" u="sng" dirty="0">
                <a:solidFill>
                  <a:srgbClr val="002060"/>
                </a:solidFill>
              </a:rPr>
              <a:t>Low ratio</a:t>
            </a:r>
            <a:r>
              <a:rPr lang="en-US" altLang="en-US" sz="2800" dirty="0">
                <a:solidFill>
                  <a:srgbClr val="002060"/>
                </a:solidFill>
              </a:rPr>
              <a:t> of current asset to sale)</a:t>
            </a:r>
          </a:p>
          <a:p>
            <a:pPr lvl="3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2000" dirty="0">
              <a:solidFill>
                <a:srgbClr val="002060"/>
              </a:solidFill>
            </a:endParaRPr>
          </a:p>
          <a:p>
            <a:pPr lvl="3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700" dirty="0"/>
          </a:p>
          <a:p>
            <a:pPr lvl="3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6E75-4311-C460-4291-ECCA891F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181C2366-A05E-F3E6-7BCC-E9F64AF24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914400"/>
            <a:ext cx="8153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113B31E-80DA-9245-F52D-BCEED658C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1717" y="0"/>
            <a:ext cx="11537576" cy="1206500"/>
          </a:xfrm>
        </p:spPr>
        <p:txBody>
          <a:bodyPr/>
          <a:lstStyle/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altLang="en-US" sz="4000" dirty="0"/>
              <a:t> Some Aspects of Short-Term Financial Policy</a:t>
            </a:r>
            <a:endParaRPr lang="en-US" altLang="en-US" dirty="0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D9EFC19-27E0-93E4-2F03-A589EF8E1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8476" y="1342465"/>
            <a:ext cx="11621444" cy="5105400"/>
          </a:xfrm>
        </p:spPr>
        <p:txBody>
          <a:bodyPr/>
          <a:lstStyle/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>
              <a:solidFill>
                <a:srgbClr val="C00000"/>
              </a:solidFill>
            </a:endParaRPr>
          </a:p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Second element: Alternative Financing Policies for Current Assets Usually measured as the proportion of short-term debt to long-term debt: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b="1" dirty="0"/>
          </a:p>
          <a:p>
            <a:pPr lvl="1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Flexible </a:t>
            </a:r>
            <a:r>
              <a:rPr lang="en-US" altLang="en-US" sz="2800" dirty="0">
                <a:solidFill>
                  <a:srgbClr val="002060"/>
                </a:solidFill>
              </a:rPr>
              <a:t>(</a:t>
            </a:r>
            <a:r>
              <a:rPr lang="en-US" altLang="en-US" sz="2800" b="1" u="sng" dirty="0">
                <a:solidFill>
                  <a:srgbClr val="002060"/>
                </a:solidFill>
              </a:rPr>
              <a:t>Less portion</a:t>
            </a:r>
            <a:r>
              <a:rPr lang="en-US" altLang="en-US" sz="2800" dirty="0">
                <a:solidFill>
                  <a:srgbClr val="002060"/>
                </a:solidFill>
              </a:rPr>
              <a:t> of short-term debt relative to </a:t>
            </a:r>
            <a:r>
              <a:rPr lang="en-US" altLang="en-US" sz="2800" b="1" u="sng" dirty="0">
                <a:solidFill>
                  <a:srgbClr val="002060"/>
                </a:solidFill>
              </a:rPr>
              <a:t>more</a:t>
            </a:r>
            <a:r>
              <a:rPr lang="en-US" altLang="en-US" sz="2800" dirty="0">
                <a:solidFill>
                  <a:srgbClr val="002060"/>
                </a:solidFill>
              </a:rPr>
              <a:t> long-term financing) </a:t>
            </a:r>
          </a:p>
          <a:p>
            <a:pPr lvl="2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800" dirty="0"/>
          </a:p>
          <a:p>
            <a:pPr lvl="1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Restrictive </a:t>
            </a:r>
            <a:r>
              <a:rPr lang="en-US" altLang="en-US" sz="2800" dirty="0">
                <a:solidFill>
                  <a:srgbClr val="002060"/>
                </a:solidFill>
              </a:rPr>
              <a:t>(</a:t>
            </a:r>
            <a:r>
              <a:rPr lang="en-US" altLang="en-US" sz="2800" b="1" u="sng" dirty="0">
                <a:solidFill>
                  <a:srgbClr val="002060"/>
                </a:solidFill>
              </a:rPr>
              <a:t>High portion</a:t>
            </a:r>
            <a:r>
              <a:rPr lang="en-US" altLang="en-US" sz="2800" dirty="0">
                <a:solidFill>
                  <a:srgbClr val="002060"/>
                </a:solidFill>
              </a:rPr>
              <a:t> of short-term debt relative to </a:t>
            </a:r>
            <a:r>
              <a:rPr lang="en-US" altLang="en-US" sz="2800" b="1" u="sng" dirty="0">
                <a:solidFill>
                  <a:srgbClr val="002060"/>
                </a:solidFill>
              </a:rPr>
              <a:t>less</a:t>
            </a:r>
            <a:r>
              <a:rPr lang="en-US" altLang="en-US" sz="2800" dirty="0">
                <a:solidFill>
                  <a:srgbClr val="002060"/>
                </a:solidFill>
              </a:rPr>
              <a:t> long-term financing) </a:t>
            </a:r>
          </a:p>
          <a:p>
            <a:pPr lvl="3"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700689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2EDA92F-F2FC-83F0-EC68-0556D14B8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080" y="171450"/>
            <a:ext cx="10515600" cy="692150"/>
          </a:xfr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altLang="en-US" sz="4000" dirty="0"/>
              <a:t>The Size of the Investment in Current Assets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4693CA0-B78E-8A9C-42E9-A1FF77A86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0840" y="1060291"/>
            <a:ext cx="11689080" cy="435133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altLang="en-US" dirty="0"/>
              <a:t>A flexible policy short-term finance policy would maintain a high ratio of current assets to sales.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002060"/>
                </a:solidFill>
              </a:rPr>
              <a:t>Keeping large </a:t>
            </a:r>
            <a:r>
              <a:rPr lang="en-US" altLang="en-US" sz="2200" b="1" dirty="0">
                <a:solidFill>
                  <a:srgbClr val="C00000"/>
                </a:solidFill>
              </a:rPr>
              <a:t>cash balances </a:t>
            </a:r>
            <a:r>
              <a:rPr lang="en-US" altLang="en-US" sz="2200" dirty="0">
                <a:solidFill>
                  <a:srgbClr val="002060"/>
                </a:solidFill>
              </a:rPr>
              <a:t>and </a:t>
            </a:r>
            <a:r>
              <a:rPr lang="en-US" altLang="en-US" sz="2200" b="1" dirty="0">
                <a:solidFill>
                  <a:srgbClr val="C00000"/>
                </a:solidFill>
              </a:rPr>
              <a:t>investments</a:t>
            </a:r>
            <a:r>
              <a:rPr lang="en-US" altLang="en-US" sz="2200" dirty="0">
                <a:solidFill>
                  <a:srgbClr val="002060"/>
                </a:solidFill>
              </a:rPr>
              <a:t> in </a:t>
            </a:r>
            <a:r>
              <a:rPr lang="en-US" altLang="en-US" sz="2200" u="sng" dirty="0">
                <a:solidFill>
                  <a:srgbClr val="002060"/>
                </a:solidFill>
              </a:rPr>
              <a:t>marketable securities</a:t>
            </a:r>
            <a:r>
              <a:rPr lang="en-US" altLang="en-US" sz="2200" dirty="0">
                <a:solidFill>
                  <a:srgbClr val="002060"/>
                </a:solidFill>
              </a:rPr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chemeClr val="bg1">
                    <a:lumMod val="50000"/>
                  </a:schemeClr>
                </a:solidFill>
              </a:rPr>
              <a:t>Making </a:t>
            </a:r>
            <a:r>
              <a:rPr lang="en-US" altLang="en-US" sz="2200" dirty="0">
                <a:solidFill>
                  <a:srgbClr val="C00000"/>
                </a:solidFill>
              </a:rPr>
              <a:t>Large investments </a:t>
            </a:r>
            <a:r>
              <a:rPr lang="en-US" altLang="en-US" sz="2200" dirty="0">
                <a:solidFill>
                  <a:srgbClr val="002060"/>
                </a:solidFill>
              </a:rPr>
              <a:t>in </a:t>
            </a:r>
            <a:r>
              <a:rPr lang="en-US" altLang="en-US" sz="2200" b="1" dirty="0">
                <a:solidFill>
                  <a:srgbClr val="002060"/>
                </a:solidFill>
              </a:rPr>
              <a:t>inventory</a:t>
            </a:r>
            <a:r>
              <a:rPr lang="en-US" altLang="en-US" sz="2200" dirty="0">
                <a:solidFill>
                  <a:srgbClr val="002060"/>
                </a:solidFill>
              </a:rPr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002060"/>
                </a:solidFill>
              </a:rPr>
              <a:t>Granting </a:t>
            </a:r>
            <a:r>
              <a:rPr lang="en-US" altLang="en-US" sz="2200" b="1" dirty="0">
                <a:solidFill>
                  <a:srgbClr val="C00000"/>
                </a:solidFill>
              </a:rPr>
              <a:t>Liberal credit terms</a:t>
            </a:r>
            <a:r>
              <a:rPr lang="en-US" altLang="en-US" sz="2200" dirty="0">
                <a:solidFill>
                  <a:srgbClr val="002060"/>
                </a:solidFill>
              </a:rPr>
              <a:t>, which results in a high level of accounts receivable.</a:t>
            </a:r>
          </a:p>
          <a:p>
            <a:pPr lvl="1" algn="just" eaLnBrk="1" hangingPunct="1">
              <a:lnSpc>
                <a:spcPct val="90000"/>
              </a:lnSpc>
              <a:defRPr/>
            </a:pPr>
            <a:endParaRPr lang="en-US" altLang="en-US" sz="2200" dirty="0">
              <a:solidFill>
                <a:srgbClr val="002060"/>
              </a:solidFill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altLang="en-US" dirty="0"/>
              <a:t>A restrictive short-term finance policy would maintain a low ratio of current assets to sales.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002060"/>
                </a:solidFill>
              </a:rPr>
              <a:t>Keeping </a:t>
            </a:r>
            <a:r>
              <a:rPr lang="en-US" altLang="en-US" sz="2200" b="1" dirty="0">
                <a:solidFill>
                  <a:srgbClr val="C00000"/>
                </a:solidFill>
              </a:rPr>
              <a:t>low</a:t>
            </a:r>
            <a:r>
              <a:rPr lang="en-US" altLang="en-US" sz="2200" dirty="0">
                <a:solidFill>
                  <a:srgbClr val="002060"/>
                </a:solidFill>
              </a:rPr>
              <a:t> cash balances, </a:t>
            </a:r>
            <a:r>
              <a:rPr lang="en-US" altLang="en-US" sz="2200" b="1" dirty="0">
                <a:solidFill>
                  <a:srgbClr val="C00000"/>
                </a:solidFill>
              </a:rPr>
              <a:t>no </a:t>
            </a:r>
            <a:r>
              <a:rPr lang="en-US" altLang="en-US" sz="2200" dirty="0">
                <a:solidFill>
                  <a:srgbClr val="002060"/>
                </a:solidFill>
              </a:rPr>
              <a:t>investment in marketable securities.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002060"/>
                </a:solidFill>
              </a:rPr>
              <a:t>Making </a:t>
            </a:r>
            <a:r>
              <a:rPr lang="en-US" altLang="en-US" sz="2200" b="1" dirty="0">
                <a:solidFill>
                  <a:srgbClr val="C00000"/>
                </a:solidFill>
              </a:rPr>
              <a:t>small</a:t>
            </a:r>
            <a:r>
              <a:rPr lang="en-US" altLang="en-US" sz="2200" dirty="0">
                <a:solidFill>
                  <a:srgbClr val="002060"/>
                </a:solidFill>
              </a:rPr>
              <a:t> investments in inventory.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2200" dirty="0">
                <a:solidFill>
                  <a:srgbClr val="002060"/>
                </a:solidFill>
              </a:rPr>
              <a:t>Allowing </a:t>
            </a:r>
            <a:r>
              <a:rPr lang="en-US" altLang="en-US" sz="2200" b="1" dirty="0">
                <a:solidFill>
                  <a:srgbClr val="C00000"/>
                </a:solidFill>
              </a:rPr>
              <a:t>no credit sales </a:t>
            </a:r>
            <a:r>
              <a:rPr lang="en-US" altLang="en-US" sz="2200" dirty="0">
                <a:solidFill>
                  <a:srgbClr val="002060"/>
                </a:solidFill>
              </a:rPr>
              <a:t>(thus no accounts receivable).</a:t>
            </a:r>
          </a:p>
        </p:txBody>
      </p:sp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024313FC-3386-223B-BA57-AE8E1902B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914400"/>
            <a:ext cx="8153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9EEAEF35-7F7A-EA3B-794C-C6E3196B6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4105" y="234950"/>
            <a:ext cx="10515600" cy="1325563"/>
          </a:xfrm>
        </p:spPr>
        <p:txBody>
          <a:bodyPr/>
          <a:lstStyle/>
          <a:p>
            <a:pPr algn="just">
              <a:lnSpc>
                <a:spcPct val="85000"/>
              </a:lnSpc>
              <a:spcAft>
                <a:spcPts val="600"/>
              </a:spcAft>
            </a:pPr>
            <a:r>
              <a:rPr lang="en-US" altLang="en-US" sz="3600" dirty="0"/>
              <a:t>Alternative Financing Policies for Current Assets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7E20C53A-D0F9-D07F-E55F-9153EC1F35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105" y="1822450"/>
            <a:ext cx="11452413" cy="4351338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3200" dirty="0"/>
              <a:t>In an ideal world, short-term assets are always financed with short-term debt and long-term assets are always financed with long-term debt and equity.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sz="3200" dirty="0"/>
          </a:p>
          <a:p>
            <a:pPr lvl="1">
              <a:spcBef>
                <a:spcPct val="0"/>
              </a:spcBef>
            </a:pPr>
            <a:r>
              <a:rPr lang="en-US" altLang="en-US" sz="2800" dirty="0"/>
              <a:t>In this world, </a:t>
            </a:r>
            <a:r>
              <a:rPr lang="en-US" altLang="en-US" sz="2800" dirty="0">
                <a:solidFill>
                  <a:srgbClr val="C00000"/>
                </a:solidFill>
              </a:rPr>
              <a:t>net working capital </a:t>
            </a:r>
            <a:r>
              <a:rPr lang="en-US" altLang="en-US" sz="2800" dirty="0"/>
              <a:t>is always </a:t>
            </a:r>
            <a:r>
              <a:rPr lang="en-US" altLang="en-US" sz="2800" b="1" dirty="0">
                <a:solidFill>
                  <a:srgbClr val="C00000"/>
                </a:solidFill>
              </a:rPr>
              <a:t>zero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1371F-23CD-126C-2AF2-E90F4413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1F86AD9D-AB61-B6E2-F15C-B30449680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914400"/>
            <a:ext cx="81534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671739"/>
              </a:buClr>
              <a:buChar char="•"/>
              <a:defRPr sz="2800">
                <a:solidFill>
                  <a:srgbClr val="644A1A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671739"/>
              </a:buClr>
              <a:buChar char="–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71739"/>
              </a:buClr>
              <a:buChar char="•"/>
              <a:defRPr sz="2400">
                <a:solidFill>
                  <a:srgbClr val="644A1A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898ED01B-0C4D-00F8-54CF-44D9C3717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"/>
            <a:ext cx="10515600" cy="732790"/>
          </a:xfrm>
        </p:spPr>
        <p:txBody>
          <a:bodyPr/>
          <a:lstStyle/>
          <a:p>
            <a:pPr algn="just">
              <a:lnSpc>
                <a:spcPct val="85000"/>
              </a:lnSpc>
              <a:spcAft>
                <a:spcPts val="600"/>
              </a:spcAft>
            </a:pPr>
            <a:r>
              <a:rPr lang="en-US" altLang="en-US" dirty="0"/>
              <a:t>Which policy is the best?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FEE46A84-C089-2625-FD65-BF9274EAD2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480" y="914400"/>
            <a:ext cx="11797255" cy="4351338"/>
          </a:xfrm>
        </p:spPr>
        <p:txBody>
          <a:bodyPr/>
          <a:lstStyle/>
          <a:p>
            <a:pPr marL="0" indent="0" algn="l">
              <a:buNone/>
            </a:pPr>
            <a:r>
              <a:rPr lang="en-US" b="0" i="0" u="none" strike="noStrike" baseline="0" dirty="0">
                <a:latin typeface="TimesNewRomanMTStd"/>
              </a:rPr>
              <a:t>What is the most appropriate amount of short-term borrowing? There is no definitive answer. Several considerations must be included in a proper analysis:</a:t>
            </a:r>
          </a:p>
          <a:p>
            <a:pPr marL="0" indent="0" algn="l">
              <a:buNone/>
            </a:pPr>
            <a:endParaRPr lang="en-US" altLang="en-US" sz="200" dirty="0">
              <a:latin typeface="TimesNewRomanMTStd"/>
            </a:endParaRPr>
          </a:p>
          <a:p>
            <a:pPr algn="just"/>
            <a:r>
              <a:rPr lang="en-US" sz="2400" b="1" i="1" u="none" strike="noStrike" baseline="0" dirty="0">
                <a:latin typeface="TimesNewRomanMTStd-Italic"/>
              </a:rPr>
              <a:t>Cash reserves </a:t>
            </a:r>
            <a:r>
              <a:rPr lang="en-US" sz="2400" b="1" i="0" u="none" strike="noStrike" baseline="0" dirty="0">
                <a:latin typeface="TimesNewRomanMTStd"/>
              </a:rPr>
              <a:t>: </a:t>
            </a:r>
            <a:r>
              <a:rPr lang="en-US" sz="2400" b="0" i="0" u="none" strike="noStrike" baseline="0" dirty="0">
                <a:latin typeface="TimesNewRomanMTStd"/>
              </a:rPr>
              <a:t>The flexible financing strategy implies surplus cash and little short-term borrowing. This strategy reduces the probability that a firm will experience financial distress. Firms may not need to worry as much about meeting recurring short-term obligations. However, investments in cash and marketable securities are zero net present value investments at best.</a:t>
            </a:r>
          </a:p>
          <a:p>
            <a:pPr algn="just"/>
            <a:r>
              <a:rPr lang="en-US" sz="2400" b="1" i="1" u="none" strike="noStrike" baseline="0" dirty="0">
                <a:latin typeface="TimesNewRomanMTStd-Italic"/>
              </a:rPr>
              <a:t>Maturity hedging </a:t>
            </a:r>
            <a:r>
              <a:rPr lang="en-US" sz="2400" b="1" i="0" u="none" strike="noStrike" baseline="0" dirty="0">
                <a:latin typeface="TimesNewRomanMTStd"/>
              </a:rPr>
              <a:t>: </a:t>
            </a:r>
            <a:r>
              <a:rPr lang="en-US" sz="2400" b="0" i="0" u="none" strike="noStrike" baseline="0" dirty="0">
                <a:latin typeface="TimesNewRomanMTStd"/>
              </a:rPr>
              <a:t>Most firms finance inventories with short-term bank loans and fixed assets with long-term financing. Firms tend to avoid financing long lived</a:t>
            </a:r>
            <a:r>
              <a:rPr lang="en-US" sz="2400" dirty="0">
                <a:latin typeface="TimesNewRomanMTStd"/>
              </a:rPr>
              <a:t> </a:t>
            </a:r>
            <a:r>
              <a:rPr lang="en-US" sz="2400" b="0" i="0" u="none" strike="noStrike" baseline="0" dirty="0">
                <a:latin typeface="TimesNewRomanMTStd"/>
              </a:rPr>
              <a:t>assets with short-term borrowing. This type of maturity mismatching would necessitate frequent financing and is inherently risky because short-term interest rates are more volatile than longer rates.</a:t>
            </a:r>
          </a:p>
          <a:p>
            <a:pPr algn="just"/>
            <a:r>
              <a:rPr lang="en-US" sz="2400" b="1" i="1" u="none" strike="noStrike" baseline="0" dirty="0">
                <a:latin typeface="TimesNewRomanMTStd-Italic"/>
              </a:rPr>
              <a:t>Term structure </a:t>
            </a:r>
            <a:r>
              <a:rPr lang="en-US" sz="2400" b="1" i="0" u="none" strike="noStrike" baseline="0" dirty="0">
                <a:latin typeface="TimesNewRomanMTStd"/>
              </a:rPr>
              <a:t>: </a:t>
            </a:r>
            <a:r>
              <a:rPr lang="en-US" sz="2400" b="0" i="0" u="none" strike="noStrike" baseline="0" dirty="0">
                <a:latin typeface="TimesNewRomanMTStd"/>
              </a:rPr>
              <a:t>Short-term interest rates are normally lower than long-term interest rates. This implies that, on average, it is more costly to rely on long-ter</a:t>
            </a:r>
            <a:r>
              <a:rPr lang="en-US" sz="2400" dirty="0">
                <a:latin typeface="TimesNewRomanMTStd"/>
              </a:rPr>
              <a:t>m </a:t>
            </a:r>
            <a:r>
              <a:rPr lang="en-US" sz="2400" b="0" i="0" u="none" strike="noStrike" baseline="0" dirty="0">
                <a:latin typeface="TimesNewRomanMTStd"/>
              </a:rPr>
              <a:t>borrowing than on short-term borrowing.</a:t>
            </a:r>
            <a:endParaRPr lang="en-US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88588963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586C74A-775D-FEC8-A9F9-4C4284BA2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988" y="284443"/>
            <a:ext cx="10515600" cy="728569"/>
          </a:xfrm>
        </p:spPr>
        <p:txBody>
          <a:bodyPr/>
          <a:lstStyle/>
          <a:p>
            <a:pPr algn="just">
              <a:lnSpc>
                <a:spcPct val="85000"/>
              </a:lnSpc>
              <a:spcAft>
                <a:spcPts val="600"/>
              </a:spcAft>
            </a:pPr>
            <a:r>
              <a:rPr lang="en-US" altLang="en-US" sz="4000" dirty="0"/>
              <a:t>The Short-Term Financial Plan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07A06E2-0724-F673-0A11-75DF2D70F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71201"/>
            <a:ext cx="11582400" cy="4351338"/>
          </a:xfrm>
        </p:spPr>
        <p:txBody>
          <a:bodyPr/>
          <a:lstStyle/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dirty="0"/>
              <a:t>The most common way to finance a </a:t>
            </a:r>
            <a:r>
              <a:rPr lang="en-US" altLang="en-US" dirty="0">
                <a:solidFill>
                  <a:srgbClr val="FF0000"/>
                </a:solidFill>
              </a:rPr>
              <a:t>temporary cash deficit</a:t>
            </a:r>
            <a:r>
              <a:rPr lang="en-US" altLang="en-US" dirty="0"/>
              <a:t> is to arrange a short-term, </a:t>
            </a:r>
            <a:r>
              <a:rPr lang="en-US" altLang="en-US" b="1" dirty="0">
                <a:solidFill>
                  <a:srgbClr val="FF0000"/>
                </a:solidFill>
              </a:rPr>
              <a:t>operating loan</a:t>
            </a:r>
            <a:r>
              <a:rPr lang="en-US" altLang="en-US" dirty="0"/>
              <a:t>.</a:t>
            </a:r>
          </a:p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endParaRPr lang="en-US" altLang="en-US" dirty="0"/>
          </a:p>
          <a:p>
            <a:pPr algn="just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Operating loans </a:t>
            </a:r>
            <a:r>
              <a:rPr lang="en-US" altLang="en-US" dirty="0"/>
              <a:t>can be either 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unsecured</a:t>
            </a:r>
            <a:r>
              <a:rPr lang="en-US" altLang="en-US" dirty="0"/>
              <a:t> or </a:t>
            </a: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secured </a:t>
            </a:r>
            <a:r>
              <a:rPr lang="en-US" altLang="en-US" dirty="0"/>
              <a:t>by collateral.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endParaRPr lang="en-US" altLang="en-US" dirty="0"/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b="1" dirty="0"/>
              <a:t>Secured Loans (keeping collateral as security)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dirty="0"/>
              <a:t>Accounts receivable financing 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dirty="0"/>
              <a:t>Inventory loans.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endParaRPr lang="en-US" altLang="en-US" dirty="0"/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b="1" dirty="0"/>
              <a:t>Unsecured Loans (no collateral)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b="1" dirty="0"/>
              <a:t>Committed or Non-committed </a:t>
            </a:r>
            <a:r>
              <a:rPr lang="en-US" altLang="en-US" dirty="0"/>
              <a:t>line of credit from banks</a:t>
            </a:r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en-US" dirty="0"/>
              <a:t>Firms are required to maintain </a:t>
            </a:r>
            <a:r>
              <a:rPr lang="en-US" altLang="en-US" b="1" dirty="0"/>
              <a:t>Compensating Balance </a:t>
            </a:r>
            <a:r>
              <a:rPr lang="en-US" altLang="en-US" dirty="0"/>
              <a:t>with the bank (driving towards a higher Effective Interest Rate)</a:t>
            </a: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784B689-DFA8-001A-8A09-D4A71D0E9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953" y="193955"/>
            <a:ext cx="10515600" cy="863881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The Short-Term Financial Plan (continued)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D9D1906-B029-F07B-7EA1-922D23B3B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3602" y="1344705"/>
            <a:ext cx="11418422" cy="51054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Other Sources</a:t>
            </a: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Commercial paper:</a:t>
            </a:r>
          </a:p>
          <a:p>
            <a:pPr lvl="2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Commercial paper: consists of short-term notes issued by large and highly rated firms.</a:t>
            </a:r>
          </a:p>
          <a:p>
            <a:pPr lvl="2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Has short term maturity (ranging up to 270 days).</a:t>
            </a:r>
          </a:p>
          <a:p>
            <a:pPr lvl="2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  <a:p>
            <a:pPr lvl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 dirty="0"/>
              <a:t>Banker’s acceptances:</a:t>
            </a:r>
          </a:p>
          <a:p>
            <a:pPr lvl="2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Banker’s acceptances are a different of commercial paper.</a:t>
            </a:r>
          </a:p>
          <a:p>
            <a:pPr lvl="2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An agreement where a bank accepts to pay on behalf of the firm.</a:t>
            </a:r>
          </a:p>
          <a:p>
            <a:pPr lvl="2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dirty="0"/>
              <a:t>Taking the obligation to pay for the firm for a fee/charge.</a:t>
            </a:r>
          </a:p>
          <a:p>
            <a:pPr lvl="2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dirty="0"/>
          </a:p>
          <a:p>
            <a:pPr eaLnBrk="1" hangingPunct="1"/>
            <a:endParaRPr lang="en-US" altLang="en-US" sz="2400" dirty="0"/>
          </a:p>
        </p:txBody>
      </p:sp>
    </p:spTree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2F9D-C423-9311-9DF5-BF2D50CA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6" name="Content Placeholder 2">
            <a:extLst>
              <a:ext uri="{FF2B5EF4-FFF2-40B4-BE49-F238E27FC236}">
                <a16:creationId xmlns:a16="http://schemas.microsoft.com/office/drawing/2014/main" id="{AD9C67AA-4C96-48B8-DDEC-8960BA220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2" y="339090"/>
            <a:ext cx="11790997" cy="524510"/>
          </a:xfrm>
          <a:ln/>
        </p:spPr>
        <p:txBody>
          <a:bodyPr vert="horz" lIns="91440" tIns="45720" rIns="91440" bIns="45720" anchor="ctr" anchorCtr="0"/>
          <a:lstStyle/>
          <a:p>
            <a:pPr marL="0" indent="0">
              <a:buNone/>
            </a:pPr>
            <a:r>
              <a:rPr lang="en-US" altLang="zh-CN" sz="3600" b="1" dirty="0">
                <a:solidFill>
                  <a:srgbClr val="000000"/>
                </a:solidFill>
              </a:rPr>
              <a:t>Problems(ascertain cash and current asset value)?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AEBA6-819B-D58F-9AD6-284574835AFD}"/>
              </a:ext>
            </a:extLst>
          </p:cNvPr>
          <p:cNvSpPr txBox="1"/>
          <p:nvPr/>
        </p:nvSpPr>
        <p:spPr>
          <a:xfrm>
            <a:off x="346710" y="1092538"/>
            <a:ext cx="114985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0" i="0" u="none" strike="noStrike" baseline="0" dirty="0">
                <a:latin typeface="TimesNewRomanMTStd"/>
              </a:rPr>
              <a:t>McConnell Corp. has a book value of equity of $14,735. </a:t>
            </a:r>
            <a:r>
              <a:rPr lang="en-US" sz="2800" b="0" i="0" u="none" strike="noStrike" baseline="0" dirty="0" err="1">
                <a:latin typeface="TimesNewRomanMTStd"/>
              </a:rPr>
              <a:t>Longterm</a:t>
            </a:r>
            <a:r>
              <a:rPr lang="en-US" sz="2800" dirty="0">
                <a:latin typeface="TimesNewRomanMTStd"/>
              </a:rPr>
              <a:t> </a:t>
            </a:r>
            <a:r>
              <a:rPr lang="en-US" sz="2800" b="0" i="0" u="none" strike="noStrike" baseline="0" dirty="0">
                <a:latin typeface="TimesNewRomanMTStd"/>
              </a:rPr>
              <a:t>debt is $8,300. Net working capital, other than cash, is $2,850. Fixed assets are $18,440. How much cash does the company have? If current liabilities are $2,3</a:t>
            </a:r>
            <a:r>
              <a:rPr lang="en-US" sz="2800" dirty="0">
                <a:latin typeface="TimesNewRomanMTStd"/>
              </a:rPr>
              <a:t>25</a:t>
            </a:r>
            <a:r>
              <a:rPr lang="en-US" sz="2800" b="0" i="0" u="none" strike="noStrike" baseline="0" dirty="0">
                <a:latin typeface="TimesNewRomanMTStd"/>
              </a:rPr>
              <a:t>, what are current assets?</a:t>
            </a:r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8C7860-4547-3130-4D22-98979FB41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293789"/>
              </p:ext>
            </p:extLst>
          </p:nvPr>
        </p:nvGraphicFramePr>
        <p:xfrm>
          <a:off x="3674110" y="3231038"/>
          <a:ext cx="5398770" cy="2800350"/>
        </p:xfrm>
        <a:graphic>
          <a:graphicData uri="http://schemas.openxmlformats.org/drawingml/2006/table">
            <a:tbl>
              <a:tblPr/>
              <a:tblGrid>
                <a:gridCol w="2392270">
                  <a:extLst>
                    <a:ext uri="{9D8B030D-6E8A-4147-A177-3AD203B41FA5}">
                      <a16:colId xmlns:a16="http://schemas.microsoft.com/office/drawing/2014/main" val="2904963038"/>
                    </a:ext>
                  </a:extLst>
                </a:gridCol>
                <a:gridCol w="1454758">
                  <a:extLst>
                    <a:ext uri="{9D8B030D-6E8A-4147-A177-3AD203B41FA5}">
                      <a16:colId xmlns:a16="http://schemas.microsoft.com/office/drawing/2014/main" val="2737990316"/>
                    </a:ext>
                  </a:extLst>
                </a:gridCol>
                <a:gridCol w="1551742">
                  <a:extLst>
                    <a:ext uri="{9D8B030D-6E8A-4147-A177-3AD203B41FA5}">
                      <a16:colId xmlns:a16="http://schemas.microsoft.com/office/drawing/2014/main" val="2506259886"/>
                    </a:ext>
                  </a:extLst>
                </a:gridCol>
              </a:tblGrid>
              <a:tr h="30919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Equity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$14,735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375931"/>
                  </a:ext>
                </a:extLst>
              </a:tr>
              <a:tr h="30919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Long-term debt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$8,300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652620"/>
                  </a:ext>
                </a:extLst>
              </a:tr>
              <a:tr h="30919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NWC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$2,850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486428"/>
                  </a:ext>
                </a:extLst>
              </a:tr>
              <a:tr h="30919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Fixed assets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$18,440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3275"/>
                  </a:ext>
                </a:extLst>
              </a:tr>
              <a:tr h="20579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$2,325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222202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$5,175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Without Cash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862545"/>
                  </a:ext>
                </a:extLst>
              </a:tr>
              <a:tr h="30919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Total Assets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$25,360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3866"/>
                  </a:ext>
                </a:extLst>
              </a:tr>
              <a:tr h="30919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Cash Balance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$1,745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969817"/>
                  </a:ext>
                </a:extLst>
              </a:tr>
              <a:tr h="309191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$6,920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With Cash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32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39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2BA4A-F36E-D821-8292-439BC149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0228EE-9B84-FB8A-ABA2-A6F6AC5BABE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3175"/>
            <a:ext cx="5614988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94000">
                <a:schemeClr val="accent5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  <p:pic>
        <p:nvPicPr>
          <p:cNvPr id="46083" name="Picture 11">
            <a:extLst>
              <a:ext uri="{FF2B5EF4-FFF2-40B4-BE49-F238E27FC236}">
                <a16:creationId xmlns:a16="http://schemas.microsoft.com/office/drawing/2014/main" id="{D2937EBF-FDBA-D799-19FA-5CC088D3ACF8}"/>
              </a:ext>
            </a:extLst>
          </p:cNvPr>
          <p:cNvPicPr>
            <a:picLocks noGrp="1" noRot="1" noChangeAspect="1" noEditPoint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Freeform 62">
            <a:extLst>
              <a:ext uri="{FF2B5EF4-FFF2-40B4-BE49-F238E27FC236}">
                <a16:creationId xmlns:a16="http://schemas.microsoft.com/office/drawing/2014/main" id="{2B1D4A22-6D1D-8865-F78F-881B8D5BB43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738616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/>
                </a:gs>
                <a:gs pos="23000">
                  <a:schemeClr val="accent1"/>
                </a:gs>
                <a:gs pos="83000">
                  <a:schemeClr val="accent5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en-US" strike="noStrike" noProof="1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303C24B3-4B1C-F1A7-B433-B810C2EFF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46086" name="Content Placeholder 2">
            <a:extLst>
              <a:ext uri="{FF2B5EF4-FFF2-40B4-BE49-F238E27FC236}">
                <a16:creationId xmlns:a16="http://schemas.microsoft.com/office/drawing/2014/main" id="{D47FCDF3-328F-DF26-0774-4518A7707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368" y="1608931"/>
            <a:ext cx="4976812" cy="3640138"/>
          </a:xfrm>
          <a:ln/>
        </p:spPr>
        <p:txBody>
          <a:bodyPr vert="horz" lIns="91440" tIns="45720" rIns="91440" bIns="45720" anchor="ctr" anchorCtr="0"/>
          <a:lstStyle/>
          <a:p>
            <a:pPr marL="0" indent="0">
              <a:buNone/>
            </a:pPr>
            <a:r>
              <a:rPr lang="en-US" altLang="zh-CN" sz="3600" dirty="0">
                <a:solidFill>
                  <a:srgbClr val="000000"/>
                </a:solidFill>
              </a:rPr>
              <a:t>Thank you</a:t>
            </a:r>
          </a:p>
          <a:p>
            <a:pPr marL="0" indent="0">
              <a:buNone/>
            </a:pPr>
            <a:endParaRPr lang="en-US" altLang="zh-CN" sz="36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altLang="zh-CN" sz="36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00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6847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Roboto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4A963E807F6468FE8FCB95E62DB60" ma:contentTypeVersion="10" ma:contentTypeDescription="Create a new document." ma:contentTypeScope="" ma:versionID="7f99937d541da3ed60a1cf5074b6cbc7">
  <xsd:schema xmlns:xsd="http://www.w3.org/2001/XMLSchema" xmlns:xs="http://www.w3.org/2001/XMLSchema" xmlns:p="http://schemas.microsoft.com/office/2006/metadata/properties" xmlns:ns3="314f1124-7d55-4dd1-9513-e4620bb40495" targetNamespace="http://schemas.microsoft.com/office/2006/metadata/properties" ma:root="true" ma:fieldsID="d13c54bcae853b7526210036ae8d87bb" ns3:_="">
    <xsd:import namespace="314f1124-7d55-4dd1-9513-e4620bb404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4f1124-7d55-4dd1-9513-e4620bb404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356520-8A3C-4FA9-BD27-E34293B9D4C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C72F58-CC3D-409F-BCCE-9CA4C407FE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4f1124-7d55-4dd1-9513-e4620bb404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387195-25A5-46C0-963E-0F544595F194}">
  <ds:schemaRefs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314f1124-7d55-4dd1-9513-e4620bb40495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4776</TotalTime>
  <Words>895</Words>
  <Application>Microsoft Office PowerPoint</Application>
  <PresentationFormat>Widescreen</PresentationFormat>
  <Paragraphs>128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 Narrow</vt:lpstr>
      <vt:lpstr>Arial Nova Cond</vt:lpstr>
      <vt:lpstr>Calibri</vt:lpstr>
      <vt:lpstr>Roboto</vt:lpstr>
      <vt:lpstr>Symbol</vt:lpstr>
      <vt:lpstr>Times New Roman</vt:lpstr>
      <vt:lpstr>TimesNewRomanMTStd</vt:lpstr>
      <vt:lpstr>TimesNewRomanMTStd-Italic</vt:lpstr>
      <vt:lpstr>Office Theme</vt:lpstr>
      <vt:lpstr>PowerPoint Presentation</vt:lpstr>
      <vt:lpstr>PowerPoint Presentation</vt:lpstr>
      <vt:lpstr>The Balance-Sheet Model of the Firm</vt:lpstr>
      <vt:lpstr>Tracing Cash and Net Working Capital</vt:lpstr>
      <vt:lpstr>Defining Cash in Terms of Other Elements</vt:lpstr>
      <vt:lpstr> Some Aspects of Short-Term Financial Policy</vt:lpstr>
      <vt:lpstr> Some Aspects of Short-Term Financial Policy</vt:lpstr>
      <vt:lpstr>The Size of the Investment in Current Assets</vt:lpstr>
      <vt:lpstr>Alternative Financing Policies for Current Assets</vt:lpstr>
      <vt:lpstr>Which policy is the best?</vt:lpstr>
      <vt:lpstr>The Short-Term Financial Plan </vt:lpstr>
      <vt:lpstr>The Short-Term Financial Plan (continued)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Rahat Bin Kamal</dc:creator>
  <cp:lastModifiedBy>Khaled Kamal</cp:lastModifiedBy>
  <cp:revision>322</cp:revision>
  <dcterms:created xsi:type="dcterms:W3CDTF">2021-03-09T13:29:00Z</dcterms:created>
  <dcterms:modified xsi:type="dcterms:W3CDTF">2026-05-06T09:35:45Z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4DF4EDFF97094A4FAD9185DF4759555E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0x0101004834A963E807F6468FE8FCB95E62DB60</vt:lpwstr>
  </property>
</Properties>
</file>